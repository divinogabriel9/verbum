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Lst>
  <p:sldSz cx="18288000" cy="10287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490472"/>
            <a:ext cx="16459200" cy="7790688"/>
          </a:xfrm>
          <a:prstGeom prst="rect">
            <a:avLst/>
          </a:prstGeom>
          <a:noFill/>
        </p:spPr>
        <p:txBody>
          <a:bodyPr wrap="square" lIns="109728" rIns="109728" tIns="73152" bIns="73152">
            <a:noAutofit/>
          </a:bodyPr>
          <a:lstStyle/>
          <a:p>
            <a:pPr algn="ctr">
              <a:spcAft>
                <a:spcPts val="500"/>
              </a:spcAft>
              <a:defRPr sz="1900" b="1" i="0">
                <a:solidFill>
                  <a:srgbClr val="FFFFFF"/>
                </a:solidFill>
                <a:latin typeface="Georgia"/>
              </a:defRPr>
            </a:pPr>
            <a:r>
              <a:t>PUT YOUR CELLPHONE ON SILENT MODE DURING THE MASS.</a:t>
            </a:r>
          </a:p>
          <a:p>
            <a:pPr algn="ctr">
              <a:spcAft>
                <a:spcPts val="500"/>
              </a:spcAft>
              <a:defRPr sz="1500" b="0" i="1">
                <a:solidFill>
                  <a:srgbClr val="D8B4FE"/>
                </a:solidFill>
                <a:latin typeface="Georgia"/>
              </a:defRPr>
            </a:pPr>
            <a:r>
              <a:t>Thank you.</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F8C66A"/>
                </a:solidFill>
                <a:latin typeface="Georgia"/>
              </a:defRPr>
            </a:pPr>
            <a:r>
              <a:t>Gwangju Filipino Catholic Community</a:t>
            </a:r>
          </a:p>
          <a:p>
            <a:pPr>
              <a:spcBef>
                <a:spcPts val="200"/>
              </a:spcBef>
              <a:defRPr sz="1200" b="0" i="0">
                <a:solidFill>
                  <a:srgbClr val="D8B4FE"/>
                </a:solidFill>
                <a:latin typeface="Georgia"/>
              </a:defRPr>
            </a:pPr>
            <a:r>
              <a:t>Pre-Mass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627632"/>
            <a:ext cx="16459200" cy="960120"/>
          </a:xfrm>
          <a:prstGeom prst="rect">
            <a:avLst/>
          </a:prstGeom>
          <a:noFill/>
        </p:spPr>
        <p:txBody>
          <a:bodyPr wrap="square" lIns="109728" rIns="109728" tIns="73152" bIns="73152">
            <a:noAutofit/>
          </a:bodyPr>
          <a:lstStyle/>
          <a:p>
            <a:pPr algn="ctr">
              <a:defRPr sz="3800" b="1" i="0">
                <a:solidFill>
                  <a:srgbClr val="D8B4FE"/>
                </a:solidFill>
                <a:latin typeface="Georgia"/>
              </a:defRPr>
            </a:pPr>
            <a:r>
              <a:t>Eastertide Celebration</a:t>
            </a:r>
          </a:p>
        </p:txBody>
      </p:sp>
      <p:sp>
        <p:nvSpPr>
          <p:cNvPr id="5" name="TextBox 4"/>
          <p:cNvSpPr txBox="1"/>
          <p:nvPr/>
        </p:nvSpPr>
        <p:spPr>
          <a:xfrm>
            <a:off x="914400" y="2679192"/>
            <a:ext cx="16459200" cy="3108960"/>
          </a:xfrm>
          <a:prstGeom prst="rect">
            <a:avLst/>
          </a:prstGeom>
          <a:noFill/>
        </p:spPr>
        <p:txBody>
          <a:bodyPr wrap="square" lIns="109728" rIns="109728" tIns="73152" bIns="73152">
            <a:noAutofit/>
          </a:bodyPr>
          <a:lstStyle/>
          <a:p>
            <a:pPr>
              <a:spcAft>
                <a:spcPts val="500"/>
              </a:spcAft>
              <a:defRPr sz="2100" b="0" i="0">
                <a:solidFill>
                  <a:srgbClr val="FFFFFF"/>
                </a:solidFill>
                <a:latin typeface="Georgia"/>
              </a:defRPr>
            </a:pPr>
            <a:r>
              <a:t>2026-05-17</a:t>
            </a:r>
          </a:p>
          <a:p>
            <a:pPr>
              <a:spcAft>
                <a:spcPts val="500"/>
              </a:spcAft>
              <a:defRPr sz="2100" b="0" i="0">
                <a:solidFill>
                  <a:srgbClr val="FFFFFF"/>
                </a:solidFill>
                <a:latin typeface="Georgia"/>
              </a:defRPr>
            </a:pPr>
            <a:r>
              <a:t>Celebrant: Rev. Fr. Jonrey Lauron, RCJ</a:t>
            </a:r>
          </a:p>
          <a:p>
            <a:pPr>
              <a:spcAft>
                <a:spcPts val="500"/>
              </a:spcAft>
              <a:defRPr sz="2100" b="0" i="0">
                <a:solidFill>
                  <a:srgbClr val="FFFFFF"/>
                </a:solidFill>
                <a:latin typeface="Georgia"/>
              </a:defRPr>
            </a:pPr>
            <a:r>
              <a:t>Gospel: Matthew 28:16-20</a:t>
            </a:r>
            <a:br/>
            <a:r>
              <a:t>Season: Eastertide · Sunday Lectionary Year A</a:t>
            </a:r>
          </a:p>
          <a:p>
            <a:pPr>
              <a:spcAft>
                <a:spcPts val="500"/>
              </a:spcAft>
              <a:defRPr sz="2100" b="0" i="0">
                <a:solidFill>
                  <a:srgbClr val="FFFFFF"/>
                </a:solidFill>
                <a:latin typeface="Georgia"/>
              </a:defRPr>
            </a:pPr>
            <a:r>
              <a:t>Excerpt:</a:t>
            </a:r>
            <a:br/>
            <a:r>
              <a:t>“All authority has been given to me in heaven and on earth.”</a:t>
            </a:r>
          </a:p>
          <a:p>
            <a:pPr>
              <a:spcAft>
                <a:spcPts val="500"/>
              </a:spcAft>
              <a:defRPr sz="2100" b="0" i="0">
                <a:solidFill>
                  <a:srgbClr val="FFFFFF"/>
                </a:solidFill>
                <a:latin typeface="Georgia"/>
              </a:defRPr>
            </a:pPr>
            <a:r>
              <a:t>Liturgical color: White (easter)</a:t>
            </a:r>
          </a:p>
        </p:txBody>
      </p:sp>
      <p:sp>
        <p:nvSpPr>
          <p:cNvPr id="6" name="TextBox 5"/>
          <p:cNvSpPr txBox="1"/>
          <p:nvPr/>
        </p:nvSpPr>
        <p:spPr>
          <a:xfrm>
            <a:off x="914400" y="9189720"/>
            <a:ext cx="16459200" cy="685800"/>
          </a:xfrm>
          <a:prstGeom prst="rect">
            <a:avLst/>
          </a:prstGeom>
          <a:noFill/>
        </p:spPr>
        <p:txBody>
          <a:bodyPr wrap="square" lIns="109728" rIns="109728" tIns="73152" bIns="73152">
            <a:noAutofit/>
          </a:bodyPr>
          <a:lstStyle/>
          <a:p>
            <a:pPr>
              <a:spcAft>
                <a:spcPts val="500"/>
              </a:spcAft>
              <a:defRPr sz="1400" b="0" i="0">
                <a:solidFill>
                  <a:srgbClr val="F8C66A"/>
                </a:solidFill>
                <a:latin typeface="Georgia"/>
              </a:defRPr>
            </a:pPr>
            <a:r>
              <a:t>Below: World English Bible (WEB) fallback — verify NABRE on bible.usccb.org.</a:t>
            </a:r>
          </a:p>
        </p:txBody>
      </p:sp>
      <p:sp>
        <p:nvSpPr>
          <p:cNvPr id="7" name="TextBox 6"/>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F8C66A"/>
                </a:solidFill>
                <a:latin typeface="Georgia"/>
              </a:defRPr>
            </a:pPr>
            <a:r>
              <a:t>Gwangju Filipino Catholic Community</a:t>
            </a:r>
          </a:p>
          <a:p>
            <a:pPr>
              <a:spcBef>
                <a:spcPts val="200"/>
              </a:spcBef>
              <a:defRPr sz="1200" b="0" i="0">
                <a:solidFill>
                  <a:srgbClr val="D8B4FE"/>
                </a:solidFill>
                <a:latin typeface="Georgia"/>
              </a:defRPr>
            </a:pPr>
            <a:r>
              <a:t>Title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490472"/>
            <a:ext cx="16459200" cy="7790688"/>
          </a:xfrm>
          <a:prstGeom prst="rect">
            <a:avLst/>
          </a:prstGeom>
          <a:noFill/>
        </p:spPr>
        <p:txBody>
          <a:bodyPr wrap="square" lIns="109728" rIns="109728" tIns="73152" bIns="73152">
            <a:noAutofit/>
          </a:bodyPr>
          <a:lstStyle/>
          <a:p>
            <a:pPr algn="ctr">
              <a:spcAft>
                <a:spcPts val="500"/>
              </a:spcAft>
              <a:defRPr sz="1500" b="0" i="1">
                <a:solidFill>
                  <a:srgbClr val="D8B4FE"/>
                </a:solidFill>
                <a:latin typeface="Georgia"/>
              </a:defRPr>
            </a:pPr>
            <a:r>
              <a:t>Welcome to the celebration of the Holy Eucharist.</a:t>
            </a:r>
          </a:p>
          <a:p>
            <a:pPr algn="ctr">
              <a:spcAft>
                <a:spcPts val="500"/>
              </a:spcAft>
              <a:defRPr sz="1500" b="0" i="1">
                <a:solidFill>
                  <a:srgbClr val="D8B4FE"/>
                </a:solidFill>
                <a:latin typeface="Georgia"/>
              </a:defRPr>
            </a:pPr>
            <a:r>
              <a:t>Please stand and join in singing the Entrance hymn.</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F8C66A"/>
                </a:solidFill>
                <a:latin typeface="Georgia"/>
              </a:defRPr>
            </a:pPr>
            <a:r>
              <a:t>Gwangju Filipino Catholic Community</a:t>
            </a:r>
          </a:p>
          <a:p>
            <a:pPr>
              <a:spcBef>
                <a:spcPts val="200"/>
              </a:spcBef>
              <a:defRPr sz="1200" b="0" i="0">
                <a:solidFill>
                  <a:srgbClr val="D8B4FE"/>
                </a:solidFill>
                <a:latin typeface="Georgia"/>
              </a:defRPr>
            </a:pPr>
            <a:r>
              <a:t>Intro</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490472"/>
            <a:ext cx="16459200" cy="868680"/>
          </a:xfrm>
          <a:prstGeom prst="rect">
            <a:avLst/>
          </a:prstGeom>
          <a:noFill/>
        </p:spPr>
        <p:txBody>
          <a:bodyPr wrap="square" lIns="109728" rIns="109728" tIns="73152" bIns="73152">
            <a:noAutofit/>
          </a:bodyPr>
          <a:lstStyle/>
          <a:p>
            <a:pPr algn="ctr">
              <a:defRPr sz="3800" b="1" i="0">
                <a:solidFill>
                  <a:srgbClr val="FFCC4D"/>
                </a:solidFill>
                <a:latin typeface="Georgia"/>
              </a:defRPr>
            </a:pPr>
            <a:r>
              <a:t>Sing a New Song</a:t>
            </a:r>
          </a:p>
        </p:txBody>
      </p:sp>
      <p:sp>
        <p:nvSpPr>
          <p:cNvPr id="5" name="TextBox 4"/>
          <p:cNvSpPr txBox="1"/>
          <p:nvPr/>
        </p:nvSpPr>
        <p:spPr>
          <a:xfrm>
            <a:off x="914400" y="2587752"/>
            <a:ext cx="16459200" cy="6830568"/>
          </a:xfrm>
          <a:prstGeom prst="rect">
            <a:avLst/>
          </a:prstGeom>
          <a:noFill/>
        </p:spPr>
        <p:txBody>
          <a:bodyPr wrap="square" lIns="109728" rIns="109728" tIns="73152" bIns="73152" anchor="ctr">
            <a:noAutofit/>
          </a:bodyPr>
          <a:lstStyle/>
          <a:p>
            <a:pPr algn="ctr">
              <a:lnSpc>
                <a:spcPct val="105000"/>
              </a:lnSpc>
              <a:spcAft>
                <a:spcPts val="1000"/>
              </a:spcAft>
              <a:defRPr sz="5000" b="1" i="0">
                <a:solidFill>
                  <a:srgbClr val="FFFFFF"/>
                </a:solidFill>
                <a:latin typeface="Arial Black"/>
              </a:defRPr>
            </a:pPr>
            <a:r>
              <a:t>SING A NEW SONG UNTO THE LORD,</a:t>
            </a:r>
          </a:p>
          <a:p>
            <a:pPr algn="ctr">
              <a:lnSpc>
                <a:spcPct val="105000"/>
              </a:lnSpc>
              <a:spcAft>
                <a:spcPts val="1000"/>
              </a:spcAft>
              <a:defRPr sz="5000" b="1" i="0">
                <a:solidFill>
                  <a:srgbClr val="FFFFFF"/>
                </a:solidFill>
                <a:latin typeface="Arial Black"/>
              </a:defRPr>
            </a:pPr>
            <a:r>
              <a:t>LET YOUR SONG BE SUNG FROM MOUNTAINS HIGH.</a:t>
            </a:r>
          </a:p>
          <a:p>
            <a:pPr algn="ctr">
              <a:lnSpc>
                <a:spcPct val="105000"/>
              </a:lnSpc>
              <a:spcAft>
                <a:spcPts val="1000"/>
              </a:spcAft>
              <a:defRPr sz="5000" b="1" i="0">
                <a:solidFill>
                  <a:srgbClr val="FFFFFF"/>
                </a:solidFill>
                <a:latin typeface="Arial Black"/>
              </a:defRPr>
            </a:pPr>
            <a:r>
              <a:t>SING A NEW SONG UNTO THE LORD,</a:t>
            </a:r>
          </a:p>
          <a:p>
            <a:pPr algn="ctr">
              <a:lnSpc>
                <a:spcPct val="105000"/>
              </a:lnSpc>
              <a:spcAft>
                <a:spcPts val="1000"/>
              </a:spcAft>
              <a:defRPr sz="5000" b="1" i="0">
                <a:solidFill>
                  <a:srgbClr val="FFFFFF"/>
                </a:solidFill>
                <a:latin typeface="Arial Black"/>
              </a:defRPr>
            </a:pPr>
            <a:r>
              <a:t>SINGING ALLELUIA.</a:t>
            </a:r>
          </a:p>
        </p:txBody>
      </p:sp>
      <p:sp>
        <p:nvSpPr>
          <p:cNvPr id="6" name="TextBox 5"/>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8C8C91"/>
                </a:solidFill>
                <a:latin typeface="Georgia"/>
              </a:defRPr>
            </a:pPr>
            <a:r>
              <a:t>Gwangju Filipino Catholic Community</a:t>
            </a:r>
          </a:p>
          <a:p>
            <a:pPr>
              <a:spcBef>
                <a:spcPts val="200"/>
              </a:spcBef>
              <a:defRPr sz="1200" b="0" i="0">
                <a:solidFill>
                  <a:srgbClr val="FFCC4D"/>
                </a:solidFill>
                <a:latin typeface="Georgia"/>
              </a:defRPr>
            </a:pPr>
            <a:r>
              <a:t>Entrance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490472"/>
            <a:ext cx="16459200" cy="7927848"/>
          </a:xfrm>
          <a:prstGeom prst="rect">
            <a:avLst/>
          </a:prstGeom>
          <a:noFill/>
        </p:spPr>
        <p:txBody>
          <a:bodyPr wrap="square" lIns="109728" rIns="109728" tIns="73152" bIns="73152" anchor="ctr">
            <a:noAutofit/>
          </a:bodyPr>
          <a:lstStyle/>
          <a:p>
            <a:pPr algn="ctr">
              <a:lnSpc>
                <a:spcPct val="105000"/>
              </a:lnSpc>
              <a:spcAft>
                <a:spcPts val="1000"/>
              </a:spcAft>
              <a:defRPr sz="5500" b="1" i="0">
                <a:solidFill>
                  <a:srgbClr val="FFFFFF"/>
                </a:solidFill>
                <a:latin typeface="Arial Black"/>
              </a:defRPr>
            </a:pPr>
            <a:r>
              <a:t>YAHWEH'S PEOPLE DANCE FOR JOY.</a:t>
            </a:r>
          </a:p>
          <a:p>
            <a:pPr algn="ctr">
              <a:lnSpc>
                <a:spcPct val="105000"/>
              </a:lnSpc>
              <a:spcAft>
                <a:spcPts val="1000"/>
              </a:spcAft>
              <a:defRPr sz="5500" b="1" i="0">
                <a:solidFill>
                  <a:srgbClr val="FFFFFF"/>
                </a:solidFill>
                <a:latin typeface="Arial Black"/>
              </a:defRPr>
            </a:pPr>
            <a:r>
              <a:t>O COME BEFORE THE LORD,</a:t>
            </a:r>
          </a:p>
          <a:p>
            <a:pPr algn="ctr">
              <a:lnSpc>
                <a:spcPct val="105000"/>
              </a:lnSpc>
              <a:spcAft>
                <a:spcPts val="1000"/>
              </a:spcAft>
              <a:defRPr sz="5500" b="1" i="0">
                <a:solidFill>
                  <a:srgbClr val="FFFFFF"/>
                </a:solidFill>
                <a:latin typeface="Arial Black"/>
              </a:defRPr>
            </a:pPr>
            <a:r>
              <a:t>AND PLAY FOR HIM ON GLAD TAMBOURINES</a:t>
            </a:r>
          </a:p>
          <a:p>
            <a:pPr algn="ctr">
              <a:lnSpc>
                <a:spcPct val="105000"/>
              </a:lnSpc>
              <a:spcAft>
                <a:spcPts val="1000"/>
              </a:spcAft>
              <a:defRPr sz="5500" b="1" i="0">
                <a:solidFill>
                  <a:srgbClr val="FFFFFF"/>
                </a:solidFill>
                <a:latin typeface="Arial Black"/>
              </a:defRPr>
            </a:pPr>
            <a:r>
              <a:t>AND LET YOUR TRUMPET SOUND.</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8C8C91"/>
                </a:solidFill>
                <a:latin typeface="Georgia"/>
              </a:defRPr>
            </a:pPr>
            <a:r>
              <a:t>Gwangju Filipino Catholic Community</a:t>
            </a:r>
          </a:p>
          <a:p>
            <a:pPr>
              <a:spcBef>
                <a:spcPts val="200"/>
              </a:spcBef>
              <a:defRPr sz="1200" b="0" i="0">
                <a:solidFill>
                  <a:srgbClr val="FFCC4D"/>
                </a:solidFill>
                <a:latin typeface="Georgia"/>
              </a:defRPr>
            </a:pPr>
            <a:r>
              <a:t>Entrance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490472"/>
            <a:ext cx="16459200" cy="7927848"/>
          </a:xfrm>
          <a:prstGeom prst="rect">
            <a:avLst/>
          </a:prstGeom>
          <a:noFill/>
        </p:spPr>
        <p:txBody>
          <a:bodyPr wrap="square" lIns="109728" rIns="109728" tIns="73152" bIns="73152" anchor="ctr">
            <a:noAutofit/>
          </a:bodyPr>
          <a:lstStyle/>
          <a:p>
            <a:pPr algn="ctr">
              <a:lnSpc>
                <a:spcPct val="105000"/>
              </a:lnSpc>
              <a:spcAft>
                <a:spcPts val="1000"/>
              </a:spcAft>
              <a:defRPr sz="5500" b="1" i="0">
                <a:solidFill>
                  <a:srgbClr val="FFFFFF"/>
                </a:solidFill>
                <a:latin typeface="Arial Black"/>
              </a:defRPr>
            </a:pPr>
            <a:r>
              <a:t>RISE, O RISE, IN SPLENDOR:</a:t>
            </a:r>
          </a:p>
          <a:p>
            <a:pPr algn="ctr">
              <a:lnSpc>
                <a:spcPct val="105000"/>
              </a:lnSpc>
              <a:spcAft>
                <a:spcPts val="1000"/>
              </a:spcAft>
              <a:defRPr sz="5500" b="1" i="0">
                <a:solidFill>
                  <a:srgbClr val="FFFFFF"/>
                </a:solidFill>
                <a:latin typeface="Arial Black"/>
              </a:defRPr>
            </a:pPr>
            <a:r>
              <a:t>DARKNESS NOW DISSOLVES AWAY,</a:t>
            </a:r>
          </a:p>
          <a:p>
            <a:pPr algn="ctr">
              <a:lnSpc>
                <a:spcPct val="105000"/>
              </a:lnSpc>
              <a:spcAft>
                <a:spcPts val="1000"/>
              </a:spcAft>
              <a:defRPr sz="5500" b="1" i="0">
                <a:solidFill>
                  <a:srgbClr val="FFFFFF"/>
                </a:solidFill>
                <a:latin typeface="Arial Black"/>
              </a:defRPr>
            </a:pPr>
            <a:r>
              <a:t>AS ALL CREATION JOINS TO SAY,</a:t>
            </a:r>
          </a:p>
          <a:p>
            <a:pPr algn="ctr">
              <a:lnSpc>
                <a:spcPct val="105000"/>
              </a:lnSpc>
              <a:spcAft>
                <a:spcPts val="1000"/>
              </a:spcAft>
              <a:defRPr sz="5500" b="1" i="0">
                <a:solidFill>
                  <a:srgbClr val="FFFFFF"/>
                </a:solidFill>
                <a:latin typeface="Arial Black"/>
              </a:defRPr>
            </a:pPr>
            <a:r>
              <a:t>"ALLELUIA!"</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8C8C91"/>
                </a:solidFill>
                <a:latin typeface="Georgia"/>
              </a:defRPr>
            </a:pPr>
            <a:r>
              <a:t>Gwangju Filipino Catholic Community</a:t>
            </a:r>
          </a:p>
          <a:p>
            <a:pPr>
              <a:spcBef>
                <a:spcPts val="200"/>
              </a:spcBef>
              <a:defRPr sz="1200" b="0" i="0">
                <a:solidFill>
                  <a:srgbClr val="FFCC4D"/>
                </a:solidFill>
                <a:latin typeface="Georgia"/>
              </a:defRPr>
            </a:pPr>
            <a:r>
              <a:t>Entrance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490472"/>
            <a:ext cx="16459200" cy="7927848"/>
          </a:xfrm>
          <a:prstGeom prst="rect">
            <a:avLst/>
          </a:prstGeom>
          <a:noFill/>
        </p:spPr>
        <p:txBody>
          <a:bodyPr wrap="square" lIns="109728" rIns="109728" tIns="73152" bIns="73152" anchor="ctr">
            <a:noAutofit/>
          </a:bodyPr>
          <a:lstStyle/>
          <a:p>
            <a:pPr algn="ctr">
              <a:lnSpc>
                <a:spcPct val="105000"/>
              </a:lnSpc>
              <a:spcAft>
                <a:spcPts val="1000"/>
              </a:spcAft>
              <a:defRPr sz="5500" b="1" i="0">
                <a:solidFill>
                  <a:srgbClr val="FFFFFF"/>
                </a:solidFill>
                <a:latin typeface="Arial Black"/>
              </a:defRPr>
            </a:pPr>
            <a:r>
              <a:t>PRAISE TO YAHWEH, LIGHT OF DAWN,</a:t>
            </a:r>
          </a:p>
          <a:p>
            <a:pPr algn="ctr">
              <a:lnSpc>
                <a:spcPct val="105000"/>
              </a:lnSpc>
              <a:spcAft>
                <a:spcPts val="1000"/>
              </a:spcAft>
              <a:defRPr sz="5500" b="1" i="0">
                <a:solidFill>
                  <a:srgbClr val="FFFFFF"/>
                </a:solidFill>
                <a:latin typeface="Arial Black"/>
              </a:defRPr>
            </a:pPr>
            <a:r>
              <a:t>ROCK AND FORTRESS, SAVING SON,</a:t>
            </a:r>
          </a:p>
          <a:p>
            <a:pPr algn="ctr">
              <a:lnSpc>
                <a:spcPct val="105000"/>
              </a:lnSpc>
              <a:spcAft>
                <a:spcPts val="1000"/>
              </a:spcAft>
              <a:defRPr sz="5500" b="1" i="0">
                <a:solidFill>
                  <a:srgbClr val="FFFFFF"/>
                </a:solidFill>
                <a:latin typeface="Arial Black"/>
              </a:defRPr>
            </a:pPr>
            <a:r>
              <a:t>FROM THE SLAVE LAND LET US RUN,</a:t>
            </a:r>
          </a:p>
          <a:p>
            <a:pPr algn="ctr">
              <a:lnSpc>
                <a:spcPct val="105000"/>
              </a:lnSpc>
              <a:spcAft>
                <a:spcPts val="1000"/>
              </a:spcAft>
              <a:defRPr sz="5500" b="1" i="0">
                <a:solidFill>
                  <a:srgbClr val="FFFFFF"/>
                </a:solidFill>
                <a:latin typeface="Arial Black"/>
              </a:defRPr>
            </a:pPr>
            <a:r>
              <a:t>SINGING ALLELUIA.</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8C8C91"/>
                </a:solidFill>
                <a:latin typeface="Georgia"/>
              </a:defRPr>
            </a:pPr>
            <a:r>
              <a:t>Gwangju Filipino Catholic Community</a:t>
            </a:r>
          </a:p>
          <a:p>
            <a:pPr>
              <a:spcBef>
                <a:spcPts val="200"/>
              </a:spcBef>
              <a:defRPr sz="1200" b="0" i="0">
                <a:solidFill>
                  <a:srgbClr val="FFCC4D"/>
                </a:solidFill>
                <a:latin typeface="Georgia"/>
              </a:defRPr>
            </a:pPr>
            <a:r>
              <a:t>Entrance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GFCC17May2026_Eastertide_16x9.png"/>
          <p:cNvPicPr>
            <a:picLocks noChangeAspect="1"/>
          </p:cNvPicPr>
          <p:nvPr/>
        </p:nvPicPr>
        <p:blipFill>
          <a:blip r:embed="rId2"/>
          <a:stretch>
            <a:fillRect/>
          </a:stretch>
        </p:blipFill>
        <p:spPr>
          <a:xfrm>
            <a:off x="0" y="0"/>
            <a:ext cx="18288000" cy="10287000"/>
          </a:xfrm>
          <a:prstGeom prst="rect">
            <a:avLst/>
          </a:prstGeom>
        </p:spPr>
      </p:pic>
      <p:pic>
        <p:nvPicPr>
          <p:cNvPr id="3" name="Picture 2" descr="community_logo.png"/>
          <p:cNvPicPr>
            <a:picLocks noChangeAspect="1"/>
          </p:cNvPicPr>
          <p:nvPr/>
        </p:nvPicPr>
        <p:blipFill>
          <a:blip r:embed="rId3"/>
          <a:stretch>
            <a:fillRect/>
          </a:stretch>
        </p:blipFill>
        <p:spPr>
          <a:xfrm>
            <a:off x="914400" y="256032"/>
            <a:ext cx="387682" cy="384048"/>
          </a:xfrm>
          <a:prstGeom prst="rect">
            <a:avLst/>
          </a:prstGeom>
        </p:spPr>
      </p:pic>
      <p:sp>
        <p:nvSpPr>
          <p:cNvPr id="4" name="TextBox 3"/>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5" name="TextBox 4"/>
          <p:cNvSpPr txBox="1"/>
          <p:nvPr/>
        </p:nvSpPr>
        <p:spPr>
          <a:xfrm>
            <a:off x="914400" y="1810512"/>
            <a:ext cx="16459200" cy="5943600"/>
          </a:xfrm>
          <a:prstGeom prst="rect">
            <a:avLst/>
          </a:prstGeom>
          <a:noFill/>
        </p:spPr>
        <p:txBody>
          <a:bodyPr wrap="square" lIns="109728" rIns="109728" tIns="73152" bIns="73152">
            <a:noAutofit/>
          </a:bodyPr>
          <a:lstStyle/>
          <a:p>
            <a:pPr>
              <a:spcAft>
                <a:spcPts val="300"/>
              </a:spcAft>
              <a:defRPr sz="2100" b="1" i="0">
                <a:solidFill>
                  <a:srgbClr val="D8B4FE"/>
                </a:solidFill>
                <a:latin typeface="Georgia"/>
              </a:defRPr>
            </a:pPr>
            <a:r>
              <a:t>MASS CELEBRANT:</a:t>
            </a:r>
          </a:p>
          <a:p>
            <a:pPr>
              <a:spcAft>
                <a:spcPts val="300"/>
              </a:spcAft>
              <a:defRPr sz="2100" b="0" i="0">
                <a:solidFill>
                  <a:srgbClr val="FFFFFF"/>
                </a:solidFill>
                <a:latin typeface="Georgia"/>
              </a:defRPr>
            </a:pPr>
            <a:r>
              <a:t>Rev. Fr. Jonrey Lauron, RCJ</a:t>
            </a:r>
          </a:p>
          <a:p>
            <a:pPr>
              <a:spcAft>
                <a:spcPts val="300"/>
              </a:spcAft>
              <a:defRPr sz="2100" b="0" i="0">
                <a:solidFill>
                  <a:srgbClr val="FFFFFF"/>
                </a:solidFill>
                <a:latin typeface="Georgia"/>
              </a:defRPr>
            </a:pPr>
          </a:p>
          <a:p>
            <a:pPr>
              <a:spcAft>
                <a:spcPts val="300"/>
              </a:spcAft>
              <a:defRPr sz="2100" b="0" i="0">
                <a:solidFill>
                  <a:srgbClr val="FFFFFF"/>
                </a:solidFill>
                <a:latin typeface="Georgia"/>
              </a:defRPr>
            </a:pPr>
            <a:r>
              <a:t>Gwangju</a:t>
            </a:r>
            <a:br/>
            <a:r>
              <a:t>Filipino</a:t>
            </a:r>
            <a:br/>
            <a:r>
              <a:t>Catholic</a:t>
            </a:r>
            <a:br/>
            <a:r>
              <a:t>Community</a:t>
            </a:r>
          </a:p>
          <a:p>
            <a:pPr>
              <a:spcAft>
                <a:spcPts val="300"/>
              </a:spcAft>
              <a:defRPr sz="2100" b="0" i="0">
                <a:solidFill>
                  <a:srgbClr val="FFFFFF"/>
                </a:solidFill>
                <a:latin typeface="Georgia"/>
              </a:defRPr>
            </a:pPr>
          </a:p>
          <a:p>
            <a:pPr>
              <a:spcAft>
                <a:spcPts val="300"/>
              </a:spcAft>
              <a:defRPr sz="2100" b="0" i="0">
                <a:solidFill>
                  <a:srgbClr val="FFFFFF"/>
                </a:solidFill>
                <a:latin typeface="Georgia"/>
              </a:defRPr>
            </a:pPr>
            <a:r>
              <a:t>Gospel (Matthew 28:16-20)</a:t>
            </a:r>
          </a:p>
          <a:p>
            <a:pPr>
              <a:spcAft>
                <a:spcPts val="300"/>
              </a:spcAft>
              <a:defRPr sz="2100" b="0" i="0">
                <a:solidFill>
                  <a:srgbClr val="FFFFFF"/>
                </a:solidFill>
                <a:latin typeface="Georgia"/>
              </a:defRPr>
            </a:pPr>
            <a:r>
              <a:t>“All authority has been given to me in heaven and on earth.”</a:t>
            </a:r>
          </a:p>
          <a:p>
            <a:pPr>
              <a:spcAft>
                <a:spcPts val="300"/>
              </a:spcAft>
              <a:defRPr sz="2100" b="0" i="0">
                <a:solidFill>
                  <a:srgbClr val="FFFFFF"/>
                </a:solidFill>
                <a:latin typeface="Georgia"/>
              </a:defRPr>
            </a:pPr>
          </a:p>
          <a:p>
            <a:pPr>
              <a:spcAft>
                <a:spcPts val="300"/>
              </a:spcAft>
              <a:defRPr sz="2100" b="0" i="0">
                <a:solidFill>
                  <a:srgbClr val="FFFFFF"/>
                </a:solidFill>
                <a:latin typeface="Georgia"/>
              </a:defRPr>
            </a:pPr>
            <a:r>
              <a:t>YEAR A</a:t>
            </a:r>
          </a:p>
          <a:p>
            <a:pPr>
              <a:spcAft>
                <a:spcPts val="300"/>
              </a:spcAft>
              <a:defRPr sz="2100" b="0" i="0">
                <a:solidFill>
                  <a:srgbClr val="FFFFFF"/>
                </a:solidFill>
                <a:latin typeface="Georgia"/>
              </a:defRPr>
            </a:pPr>
            <a:r>
              <a:t>2026-05-17 · Eastertide</a:t>
            </a:r>
          </a:p>
        </p:txBody>
      </p:sp>
      <p:sp>
        <p:nvSpPr>
          <p:cNvPr id="6" name="TextBox 5"/>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F8C66A"/>
                </a:solidFill>
                <a:latin typeface="Georgia"/>
              </a:defRPr>
            </a:pPr>
            <a:r>
              <a:t>Gwangju Filipino Catholic Community</a:t>
            </a:r>
          </a:p>
          <a:p>
            <a:pPr>
              <a:spcBef>
                <a:spcPts val="200"/>
              </a:spcBef>
              <a:defRPr sz="1200" b="0" i="0">
                <a:solidFill>
                  <a:srgbClr val="D8B4FE"/>
                </a:solidFill>
                <a:latin typeface="Georgia"/>
              </a:defRPr>
            </a:pPr>
            <a:r>
              <a:t>Mass poster / divider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490472"/>
            <a:ext cx="16459200" cy="7790688"/>
          </a:xfrm>
          <a:prstGeom prst="rect">
            <a:avLst/>
          </a:prstGeom>
          <a:noFill/>
        </p:spPr>
        <p:txBody>
          <a:bodyPr wrap="square" lIns="109728" rIns="109728" tIns="73152" bIns="73152">
            <a:noAutofit/>
          </a:bodyPr>
          <a:lstStyle/>
          <a:p>
            <a:pPr algn="ctr">
              <a:spcBef>
                <a:spcPts val="400"/>
              </a:spcBef>
              <a:spcAft>
                <a:spcPts val="500"/>
              </a:spcAft>
              <a:defRPr sz="2000" b="1" i="0">
                <a:solidFill>
                  <a:srgbClr val="D8B4FE"/>
                </a:solidFill>
                <a:latin typeface="Georgia"/>
              </a:defRPr>
            </a:pPr>
            <a:r>
              <a:t>Priest: In the Name of the Father, and of the Son, and of the Holy Spirit.</a:t>
            </a:r>
          </a:p>
          <a:p>
            <a:pPr algn="ctr">
              <a:spcBef>
                <a:spcPts val="400"/>
              </a:spcBef>
              <a:spcAft>
                <a:spcPts val="500"/>
              </a:spcAft>
              <a:defRPr sz="2000" b="1" i="0">
                <a:solidFill>
                  <a:srgbClr val="FFFFFF"/>
                </a:solidFill>
                <a:latin typeface="Georgia"/>
              </a:defRPr>
            </a:pPr>
            <a:r>
              <a:t>All: Amen.</a:t>
            </a:r>
          </a:p>
          <a:p>
            <a:pPr algn="ctr">
              <a:spcBef>
                <a:spcPts val="400"/>
              </a:spcBef>
              <a:spcAft>
                <a:spcPts val="500"/>
              </a:spcAft>
              <a:defRPr sz="2000" b="1" i="0">
                <a:solidFill>
                  <a:srgbClr val="D8B4FE"/>
                </a:solidFill>
                <a:latin typeface="Georgia"/>
              </a:defRPr>
            </a:pPr>
            <a:r>
              <a:t>Priest: The Lord be with you.</a:t>
            </a:r>
          </a:p>
          <a:p>
            <a:pPr algn="ctr">
              <a:spcBef>
                <a:spcPts val="400"/>
              </a:spcBef>
              <a:spcAft>
                <a:spcPts val="500"/>
              </a:spcAft>
              <a:defRPr sz="2000" b="1" i="0">
                <a:solidFill>
                  <a:srgbClr val="FFFFFF"/>
                </a:solidFill>
                <a:latin typeface="Georgia"/>
              </a:defRPr>
            </a:pPr>
            <a:r>
              <a:t>All: And with your spirit.</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F8C66A"/>
                </a:solidFill>
                <a:latin typeface="Georgia"/>
              </a:defRPr>
            </a:pPr>
            <a:r>
              <a:t>Gwangju Filipino Catholic Community</a:t>
            </a:r>
          </a:p>
          <a:p>
            <a:pPr>
              <a:spcBef>
                <a:spcPts val="200"/>
              </a:spcBef>
              <a:defRPr sz="1200" b="0" i="0">
                <a:solidFill>
                  <a:srgbClr val="D8B4FE"/>
                </a:solidFill>
                <a:latin typeface="Georgia"/>
              </a:defRPr>
            </a:pPr>
            <a:r>
              <a:t>Introductory Rites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490472"/>
            <a:ext cx="16459200" cy="7790688"/>
          </a:xfrm>
          <a:prstGeom prst="rect">
            <a:avLst/>
          </a:prstGeom>
          <a:noFill/>
        </p:spPr>
        <p:txBody>
          <a:bodyPr wrap="square" lIns="109728" rIns="109728" tIns="73152" bIns="73152">
            <a:noAutofit/>
          </a:bodyPr>
          <a:lstStyle/>
          <a:p>
            <a:pPr algn="ctr">
              <a:spcBef>
                <a:spcPts val="400"/>
              </a:spcBef>
              <a:spcAft>
                <a:spcPts val="500"/>
              </a:spcAft>
              <a:defRPr sz="2000" b="1" i="0">
                <a:solidFill>
                  <a:srgbClr val="D8B4FE"/>
                </a:solidFill>
                <a:latin typeface="Georgia"/>
              </a:defRPr>
            </a:pPr>
            <a:r>
              <a:t>Priest: Brethren (brothers and sisters), let us acknowledge our sins, and so prepare ourselves to celebrate the sacred mysteries.</a:t>
            </a:r>
          </a:p>
          <a:p>
            <a:pPr algn="ctr">
              <a:spcBef>
                <a:spcPts val="400"/>
              </a:spcBef>
              <a:spcAft>
                <a:spcPts val="500"/>
              </a:spcAft>
              <a:defRPr sz="2000" b="1" i="0">
                <a:solidFill>
                  <a:srgbClr val="FFFFFF"/>
                </a:solidFill>
                <a:latin typeface="Georgia"/>
              </a:defRPr>
            </a:pPr>
            <a:r>
              <a:t>All: I confess to almighty God</a:t>
            </a:r>
          </a:p>
          <a:p>
            <a:pPr algn="ctr">
              <a:spcAft>
                <a:spcPts val="500"/>
              </a:spcAft>
              <a:defRPr sz="1900" b="0" i="0">
                <a:solidFill>
                  <a:srgbClr val="FFFFFF"/>
                </a:solidFill>
                <a:latin typeface="Georgia"/>
              </a:defRPr>
            </a:pPr>
            <a:r>
              <a:t>and to you, my brothers and sisters,</a:t>
            </a:r>
          </a:p>
          <a:p>
            <a:pPr algn="ctr">
              <a:spcAft>
                <a:spcPts val="500"/>
              </a:spcAft>
              <a:defRPr sz="1900" b="0" i="0">
                <a:solidFill>
                  <a:srgbClr val="FFFFFF"/>
                </a:solidFill>
                <a:latin typeface="Georgia"/>
              </a:defRPr>
            </a:pPr>
            <a:r>
              <a:t>that I have greatly sinned,</a:t>
            </a:r>
          </a:p>
          <a:p>
            <a:pPr algn="ctr">
              <a:spcAft>
                <a:spcPts val="500"/>
              </a:spcAft>
              <a:defRPr sz="1900" b="0" i="0">
                <a:solidFill>
                  <a:srgbClr val="FFFFFF"/>
                </a:solidFill>
                <a:latin typeface="Georgia"/>
              </a:defRPr>
            </a:pPr>
            <a:r>
              <a:t>in my thoughts and in my words,</a:t>
            </a:r>
          </a:p>
          <a:p>
            <a:pPr algn="ctr">
              <a:spcAft>
                <a:spcPts val="500"/>
              </a:spcAft>
              <a:defRPr sz="1900" b="0" i="0">
                <a:solidFill>
                  <a:srgbClr val="FFFFFF"/>
                </a:solidFill>
                <a:latin typeface="Georgia"/>
              </a:defRPr>
            </a:pPr>
            <a:r>
              <a:t>in what I have done and in what I have failed to do,</a:t>
            </a:r>
          </a:p>
          <a:p>
            <a:pPr algn="ctr">
              <a:spcAft>
                <a:spcPts val="500"/>
              </a:spcAft>
              <a:defRPr sz="1900" b="0" i="0">
                <a:solidFill>
                  <a:srgbClr val="FFFFFF"/>
                </a:solidFill>
                <a:latin typeface="Georgia"/>
              </a:defRPr>
            </a:pPr>
            <a:r>
              <a:t>through my fault, through my fault,</a:t>
            </a:r>
          </a:p>
          <a:p>
            <a:pPr algn="ctr">
              <a:spcAft>
                <a:spcPts val="500"/>
              </a:spcAft>
              <a:defRPr sz="1900" b="0" i="0">
                <a:solidFill>
                  <a:srgbClr val="FFFFFF"/>
                </a:solidFill>
                <a:latin typeface="Georgia"/>
              </a:defRPr>
            </a:pPr>
            <a:r>
              <a:t>through my most grievous fault;</a:t>
            </a:r>
          </a:p>
          <a:p>
            <a:pPr algn="ctr">
              <a:spcAft>
                <a:spcPts val="500"/>
              </a:spcAft>
              <a:defRPr sz="1900" b="0" i="0">
                <a:solidFill>
                  <a:srgbClr val="FFFFFF"/>
                </a:solidFill>
                <a:latin typeface="Georgia"/>
              </a:defRPr>
            </a:pPr>
            <a:r>
              <a:t>therefore I ask blessed Mary ever-Virgin,</a:t>
            </a:r>
          </a:p>
          <a:p>
            <a:pPr algn="ctr">
              <a:spcAft>
                <a:spcPts val="500"/>
              </a:spcAft>
              <a:defRPr sz="1900" b="0" i="0">
                <a:solidFill>
                  <a:srgbClr val="FFFFFF"/>
                </a:solidFill>
                <a:latin typeface="Georgia"/>
              </a:defRPr>
            </a:pPr>
            <a:r>
              <a:t>all the Angels and Saints,</a:t>
            </a:r>
          </a:p>
          <a:p>
            <a:pPr algn="ctr">
              <a:spcAft>
                <a:spcPts val="500"/>
              </a:spcAft>
              <a:defRPr sz="1900" b="0" i="0">
                <a:solidFill>
                  <a:srgbClr val="FFFFFF"/>
                </a:solidFill>
                <a:latin typeface="Georgia"/>
              </a:defRPr>
            </a:pPr>
            <a:r>
              <a:t>and you, my brothers and sisters,</a:t>
            </a:r>
          </a:p>
          <a:p>
            <a:pPr algn="ctr">
              <a:spcAft>
                <a:spcPts val="500"/>
              </a:spcAft>
              <a:defRPr sz="1900" b="0" i="0">
                <a:solidFill>
                  <a:srgbClr val="FFFFFF"/>
                </a:solidFill>
                <a:latin typeface="Georgia"/>
              </a:defRPr>
            </a:pPr>
            <a:r>
              <a:t>to pray for me to the Lord our God.</a:t>
            </a:r>
          </a:p>
          <a:p>
            <a:pPr algn="ctr">
              <a:spcBef>
                <a:spcPts val="400"/>
              </a:spcBef>
              <a:spcAft>
                <a:spcPts val="500"/>
              </a:spcAft>
              <a:defRPr sz="2000" b="1" i="0">
                <a:solidFill>
                  <a:srgbClr val="D8B4FE"/>
                </a:solidFill>
                <a:latin typeface="Georgia"/>
              </a:defRPr>
            </a:pPr>
            <a:r>
              <a:t>Priest: May almighty God have mercy on us, forgive us our sins, and bring us to everlasting life.</a:t>
            </a:r>
          </a:p>
          <a:p>
            <a:pPr algn="ctr">
              <a:spcBef>
                <a:spcPts val="400"/>
              </a:spcBef>
              <a:spcAft>
                <a:spcPts val="500"/>
              </a:spcAft>
              <a:defRPr sz="2000" b="1" i="0">
                <a:solidFill>
                  <a:srgbClr val="FFFFFF"/>
                </a:solidFill>
                <a:latin typeface="Georgia"/>
              </a:defRPr>
            </a:pPr>
            <a:r>
              <a:t>All: Amen.</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F8C66A"/>
                </a:solidFill>
                <a:latin typeface="Georgia"/>
              </a:defRPr>
            </a:pPr>
            <a:r>
              <a:t>Gwangju Filipino Catholic Community</a:t>
            </a:r>
          </a:p>
          <a:p>
            <a:pPr>
              <a:spcBef>
                <a:spcPts val="200"/>
              </a:spcBef>
              <a:defRPr sz="1200" b="0" i="0">
                <a:solidFill>
                  <a:srgbClr val="D8B4FE"/>
                </a:solidFill>
                <a:latin typeface="Georgia"/>
              </a:defRPr>
            </a:pPr>
            <a:r>
              <a:t>Penitential Act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490472"/>
            <a:ext cx="16459200" cy="7790688"/>
          </a:xfrm>
          <a:prstGeom prst="rect">
            <a:avLst/>
          </a:prstGeom>
          <a:noFill/>
        </p:spPr>
        <p:txBody>
          <a:bodyPr wrap="square" lIns="109728" rIns="109728" tIns="73152" bIns="73152">
            <a:noAutofit/>
          </a:bodyPr>
          <a:lstStyle/>
          <a:p>
            <a:pPr algn="ctr">
              <a:spcBef>
                <a:spcPts val="400"/>
              </a:spcBef>
              <a:spcAft>
                <a:spcPts val="500"/>
              </a:spcAft>
              <a:defRPr sz="2000" b="1" i="0">
                <a:solidFill>
                  <a:srgbClr val="FFFFFF"/>
                </a:solidFill>
                <a:latin typeface="Georgia"/>
              </a:defRPr>
            </a:pPr>
            <a:r>
              <a:t>Lord, have mercy.</a:t>
            </a:r>
          </a:p>
          <a:p>
            <a:pPr algn="ctr">
              <a:spcBef>
                <a:spcPts val="400"/>
              </a:spcBef>
              <a:spcAft>
                <a:spcPts val="500"/>
              </a:spcAft>
              <a:defRPr sz="2000" b="1" i="0">
                <a:solidFill>
                  <a:srgbClr val="FFFFFF"/>
                </a:solidFill>
                <a:latin typeface="Georgia"/>
              </a:defRPr>
            </a:pPr>
            <a:r>
              <a:t>Lord, have mercy.</a:t>
            </a:r>
          </a:p>
          <a:p>
            <a:pPr algn="ctr">
              <a:spcBef>
                <a:spcPts val="400"/>
              </a:spcBef>
              <a:spcAft>
                <a:spcPts val="500"/>
              </a:spcAft>
              <a:defRPr sz="2000" b="1" i="0">
                <a:solidFill>
                  <a:srgbClr val="FFFFFF"/>
                </a:solidFill>
                <a:latin typeface="Georgia"/>
              </a:defRPr>
            </a:pPr>
            <a:r>
              <a:t>Christ, have mercy.</a:t>
            </a:r>
          </a:p>
          <a:p>
            <a:pPr algn="ctr">
              <a:spcBef>
                <a:spcPts val="400"/>
              </a:spcBef>
              <a:spcAft>
                <a:spcPts val="500"/>
              </a:spcAft>
              <a:defRPr sz="2000" b="1" i="0">
                <a:solidFill>
                  <a:srgbClr val="FFFFFF"/>
                </a:solidFill>
                <a:latin typeface="Georgia"/>
              </a:defRPr>
            </a:pPr>
            <a:r>
              <a:t>Christ, have mercy.</a:t>
            </a:r>
          </a:p>
          <a:p>
            <a:pPr algn="ctr">
              <a:spcBef>
                <a:spcPts val="400"/>
              </a:spcBef>
              <a:spcAft>
                <a:spcPts val="500"/>
              </a:spcAft>
              <a:defRPr sz="2000" b="1" i="0">
                <a:solidFill>
                  <a:srgbClr val="FFFFFF"/>
                </a:solidFill>
                <a:latin typeface="Georgia"/>
              </a:defRPr>
            </a:pPr>
            <a:r>
              <a:t>Lord, have mercy.</a:t>
            </a:r>
          </a:p>
          <a:p>
            <a:pPr algn="ctr">
              <a:spcBef>
                <a:spcPts val="400"/>
              </a:spcBef>
              <a:spcAft>
                <a:spcPts val="500"/>
              </a:spcAft>
              <a:defRPr sz="2000" b="1" i="0">
                <a:solidFill>
                  <a:srgbClr val="FFFFFF"/>
                </a:solidFill>
                <a:latin typeface="Georgia"/>
              </a:defRPr>
            </a:pPr>
            <a:r>
              <a:t>Lord, have mercy.</a:t>
            </a:r>
          </a:p>
          <a:p>
            <a:pPr algn="ctr">
              <a:spcAft>
                <a:spcPts val="500"/>
              </a:spcAft>
              <a:defRPr sz="1500" b="0" i="1">
                <a:solidFill>
                  <a:srgbClr val="D8B4FE"/>
                </a:solidFill>
                <a:latin typeface="Georgia"/>
              </a:defRPr>
            </a:pPr>
            <a:r>
              <a:t>This acclamation may also be sung, or the invocations from the Missal or approved pastoral practice may be used in full.</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F8C66A"/>
                </a:solidFill>
                <a:latin typeface="Georgia"/>
              </a:defRPr>
            </a:pPr>
            <a:r>
              <a:t>Gwangju Filipino Catholic Community</a:t>
            </a:r>
          </a:p>
          <a:p>
            <a:pPr>
              <a:spcBef>
                <a:spcPts val="200"/>
              </a:spcBef>
              <a:defRPr sz="1200" b="0" i="0">
                <a:solidFill>
                  <a:srgbClr val="D8B4FE"/>
                </a:solidFill>
                <a:latin typeface="Georgia"/>
              </a:defRPr>
            </a:pPr>
            <a:r>
              <a:t>Kyrie Eleison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490472"/>
            <a:ext cx="16459200" cy="7790688"/>
          </a:xfrm>
          <a:prstGeom prst="rect">
            <a:avLst/>
          </a:prstGeom>
          <a:noFill/>
        </p:spPr>
        <p:txBody>
          <a:bodyPr wrap="square" lIns="109728" rIns="109728" tIns="73152" bIns="73152">
            <a:noAutofit/>
          </a:bodyPr>
          <a:lstStyle/>
          <a:p>
            <a:pPr algn="ctr">
              <a:spcBef>
                <a:spcPts val="400"/>
              </a:spcBef>
              <a:spcAft>
                <a:spcPts val="500"/>
              </a:spcAft>
              <a:defRPr sz="2000" b="1" i="0">
                <a:solidFill>
                  <a:srgbClr val="FFFFFF"/>
                </a:solidFill>
                <a:latin typeface="Georgia"/>
              </a:defRPr>
            </a:pPr>
            <a:r>
              <a:t>Glory to God in the highest,</a:t>
            </a:r>
          </a:p>
          <a:p>
            <a:pPr algn="ctr">
              <a:spcAft>
                <a:spcPts val="500"/>
              </a:spcAft>
              <a:defRPr sz="1900" b="0" i="0">
                <a:solidFill>
                  <a:srgbClr val="FFFFFF"/>
                </a:solidFill>
                <a:latin typeface="Georgia"/>
              </a:defRPr>
            </a:pPr>
            <a:r>
              <a:t>and on earth peace to people of good will.</a:t>
            </a:r>
          </a:p>
          <a:p>
            <a:pPr algn="ctr">
              <a:spcAft>
                <a:spcPts val="500"/>
              </a:spcAft>
              <a:defRPr sz="1900" b="0" i="0">
                <a:solidFill>
                  <a:srgbClr val="FFFFFF"/>
                </a:solidFill>
                <a:latin typeface="Georgia"/>
              </a:defRPr>
            </a:pPr>
            <a:r>
              <a:t>We praise you, we bless you, we adore you,</a:t>
            </a:r>
          </a:p>
          <a:p>
            <a:pPr algn="ctr">
              <a:spcAft>
                <a:spcPts val="500"/>
              </a:spcAft>
              <a:defRPr sz="1900" b="0" i="0">
                <a:solidFill>
                  <a:srgbClr val="FFFFFF"/>
                </a:solidFill>
                <a:latin typeface="Georgia"/>
              </a:defRPr>
            </a:pPr>
            <a:r>
              <a:t>we glorify you, we give you thanks</a:t>
            </a:r>
          </a:p>
          <a:p>
            <a:pPr algn="ctr">
              <a:spcAft>
                <a:spcPts val="500"/>
              </a:spcAft>
              <a:defRPr sz="1900" b="0" i="0">
                <a:solidFill>
                  <a:srgbClr val="FFFFFF"/>
                </a:solidFill>
                <a:latin typeface="Georgia"/>
              </a:defRPr>
            </a:pPr>
            <a:r>
              <a:t>for your great glory,</a:t>
            </a:r>
          </a:p>
          <a:p>
            <a:pPr algn="ctr">
              <a:spcAft>
                <a:spcPts val="500"/>
              </a:spcAft>
              <a:defRPr sz="1900" b="0" i="0">
                <a:solidFill>
                  <a:srgbClr val="FFFFFF"/>
                </a:solidFill>
                <a:latin typeface="Georgia"/>
              </a:defRPr>
            </a:pPr>
            <a:r>
              <a:t>Lord God, heavenly King, O God, almighty Father.</a:t>
            </a:r>
          </a:p>
          <a:p>
            <a:pPr algn="ctr">
              <a:spcAft>
                <a:spcPts val="500"/>
              </a:spcAft>
              <a:defRPr sz="1900" b="0" i="0">
                <a:solidFill>
                  <a:srgbClr val="FFFFFF"/>
                </a:solidFill>
                <a:latin typeface="Georgia"/>
              </a:defRPr>
            </a:pPr>
            <a:r>
              <a:t>Lord Jesus Christ, Only Begotten Son,</a:t>
            </a:r>
          </a:p>
          <a:p>
            <a:pPr algn="ctr">
              <a:spcAft>
                <a:spcPts val="500"/>
              </a:spcAft>
              <a:defRPr sz="1900" b="0" i="0">
                <a:solidFill>
                  <a:srgbClr val="FFFFFF"/>
                </a:solidFill>
                <a:latin typeface="Georgia"/>
              </a:defRPr>
            </a:pPr>
            <a:r>
              <a:t>Lord God, Lamb of God, Son of the Father,</a:t>
            </a:r>
          </a:p>
          <a:p>
            <a:pPr algn="ctr">
              <a:spcAft>
                <a:spcPts val="500"/>
              </a:spcAft>
              <a:defRPr sz="1900" b="0" i="0">
                <a:solidFill>
                  <a:srgbClr val="FFFFFF"/>
                </a:solidFill>
                <a:latin typeface="Georgia"/>
              </a:defRPr>
            </a:pPr>
            <a:r>
              <a:t>you take away the sins of the world, have mercy on us;</a:t>
            </a:r>
          </a:p>
          <a:p>
            <a:pPr algn="ctr">
              <a:spcAft>
                <a:spcPts val="500"/>
              </a:spcAft>
              <a:defRPr sz="1900" b="0" i="0">
                <a:solidFill>
                  <a:srgbClr val="FFFFFF"/>
                </a:solidFill>
                <a:latin typeface="Georgia"/>
              </a:defRPr>
            </a:pPr>
            <a:r>
              <a:t>you take away the sins of the world, receive our prayer;</a:t>
            </a:r>
          </a:p>
          <a:p>
            <a:pPr algn="ctr">
              <a:spcAft>
                <a:spcPts val="500"/>
              </a:spcAft>
              <a:defRPr sz="1900" b="0" i="0">
                <a:solidFill>
                  <a:srgbClr val="FFFFFF"/>
                </a:solidFill>
                <a:latin typeface="Georgia"/>
              </a:defRPr>
            </a:pPr>
            <a:r>
              <a:t>you are seated at the right hand of the Father, have mercy on us.</a:t>
            </a:r>
          </a:p>
          <a:p>
            <a:pPr algn="ctr">
              <a:spcAft>
                <a:spcPts val="500"/>
              </a:spcAft>
              <a:defRPr sz="1900" b="0" i="0">
                <a:solidFill>
                  <a:srgbClr val="FFFFFF"/>
                </a:solidFill>
                <a:latin typeface="Georgia"/>
              </a:defRPr>
            </a:pPr>
            <a:r>
              <a:t>For you alone are the Holy One,</a:t>
            </a:r>
          </a:p>
          <a:p>
            <a:pPr algn="ctr">
              <a:spcAft>
                <a:spcPts val="500"/>
              </a:spcAft>
              <a:defRPr sz="1900" b="0" i="0">
                <a:solidFill>
                  <a:srgbClr val="FFFFFF"/>
                </a:solidFill>
                <a:latin typeface="Georgia"/>
              </a:defRPr>
            </a:pPr>
            <a:r>
              <a:t>you alone are the Lord,</a:t>
            </a:r>
          </a:p>
          <a:p>
            <a:pPr algn="ctr">
              <a:spcAft>
                <a:spcPts val="500"/>
              </a:spcAft>
              <a:defRPr sz="1900" b="0" i="0">
                <a:solidFill>
                  <a:srgbClr val="FFFFFF"/>
                </a:solidFill>
                <a:latin typeface="Georgia"/>
              </a:defRPr>
            </a:pPr>
            <a:r>
              <a:t>you alone are the Most High,</a:t>
            </a:r>
          </a:p>
          <a:p>
            <a:pPr algn="ctr">
              <a:spcAft>
                <a:spcPts val="500"/>
              </a:spcAft>
              <a:defRPr sz="1900" b="0" i="0">
                <a:solidFill>
                  <a:srgbClr val="FFFFFF"/>
                </a:solidFill>
                <a:latin typeface="Georgia"/>
              </a:defRPr>
            </a:pPr>
            <a:r>
              <a:t>Jesus Christ,</a:t>
            </a:r>
          </a:p>
          <a:p>
            <a:pPr algn="ctr">
              <a:spcAft>
                <a:spcPts val="500"/>
              </a:spcAft>
              <a:defRPr sz="1900" b="0" i="0">
                <a:solidFill>
                  <a:srgbClr val="FFFFFF"/>
                </a:solidFill>
                <a:latin typeface="Georgia"/>
              </a:defRPr>
            </a:pPr>
            <a:r>
              <a:t>with the Holy Spirit,</a:t>
            </a:r>
          </a:p>
          <a:p>
            <a:pPr algn="ctr">
              <a:spcAft>
                <a:spcPts val="500"/>
              </a:spcAft>
              <a:defRPr sz="1900" b="0" i="0">
                <a:solidFill>
                  <a:srgbClr val="FFFFFF"/>
                </a:solidFill>
                <a:latin typeface="Georgia"/>
              </a:defRPr>
            </a:pPr>
            <a:r>
              <a:t>in the glory of God the Father.</a:t>
            </a:r>
          </a:p>
          <a:p>
            <a:pPr algn="ctr">
              <a:spcAft>
                <a:spcPts val="500"/>
              </a:spcAft>
              <a:defRPr sz="1900" b="0" i="0">
                <a:solidFill>
                  <a:srgbClr val="FFFFFF"/>
                </a:solidFill>
                <a:latin typeface="Georgia"/>
              </a:defRPr>
            </a:pPr>
            <a:r>
              <a:t>Amen.</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F8C66A"/>
                </a:solidFill>
                <a:latin typeface="Georgia"/>
              </a:defRPr>
            </a:pPr>
            <a:r>
              <a:t>Gwangju Filipino Catholic Community</a:t>
            </a:r>
          </a:p>
          <a:p>
            <a:pPr>
              <a:spcBef>
                <a:spcPts val="200"/>
              </a:spcBef>
              <a:defRPr sz="1200" b="0" i="0">
                <a:solidFill>
                  <a:srgbClr val="D8B4FE"/>
                </a:solidFill>
                <a:latin typeface="Georgia"/>
              </a:defRPr>
            </a:pPr>
            <a:r>
              <a:t>Gloria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490472"/>
            <a:ext cx="16459200" cy="7790688"/>
          </a:xfrm>
          <a:prstGeom prst="rect">
            <a:avLst/>
          </a:prstGeom>
          <a:noFill/>
        </p:spPr>
        <p:txBody>
          <a:bodyPr wrap="square" lIns="109728" rIns="109728" tIns="73152" bIns="73152">
            <a:noAutofit/>
          </a:bodyPr>
          <a:lstStyle/>
          <a:p>
            <a:pPr algn="ctr">
              <a:spcBef>
                <a:spcPts val="400"/>
              </a:spcBef>
              <a:spcAft>
                <a:spcPts val="500"/>
              </a:spcAft>
              <a:defRPr sz="2000" b="1" i="0">
                <a:solidFill>
                  <a:srgbClr val="D8B4FE"/>
                </a:solidFill>
                <a:latin typeface="Georgia"/>
              </a:defRPr>
            </a:pPr>
            <a:r>
              <a:t>Priest: Let us pray.</a:t>
            </a:r>
          </a:p>
          <a:p>
            <a:pPr algn="ctr">
              <a:spcAft>
                <a:spcPts val="500"/>
              </a:spcAft>
              <a:defRPr sz="1500" b="0" i="1">
                <a:solidFill>
                  <a:srgbClr val="D8B4FE"/>
                </a:solidFill>
                <a:latin typeface="Georgia"/>
              </a:defRPr>
            </a:pPr>
            <a:r>
              <a:t>All pray silently with the Priest for a moment. Then the Priest says the Collect for the day, that is, the Opening Prayer, in full from the Roman Missal for this celebration—nothing abbreviated. The people respond at the end.</a:t>
            </a:r>
          </a:p>
          <a:p>
            <a:pPr algn="ctr">
              <a:spcBef>
                <a:spcPts val="400"/>
              </a:spcBef>
              <a:spcAft>
                <a:spcPts val="500"/>
              </a:spcAft>
              <a:defRPr sz="2000" b="1" i="0">
                <a:solidFill>
                  <a:srgbClr val="FFFFFF"/>
                </a:solidFill>
                <a:latin typeface="Georgia"/>
              </a:defRPr>
            </a:pPr>
            <a:r>
              <a:t>All: Amen.</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F8C66A"/>
                </a:solidFill>
                <a:latin typeface="Georgia"/>
              </a:defRPr>
            </a:pPr>
            <a:r>
              <a:t>Gwangju Filipino Catholic Community</a:t>
            </a:r>
          </a:p>
          <a:p>
            <a:pPr>
              <a:spcBef>
                <a:spcPts val="200"/>
              </a:spcBef>
              <a:defRPr sz="1200" b="0" i="0">
                <a:solidFill>
                  <a:srgbClr val="D8B4FE"/>
                </a:solidFill>
                <a:latin typeface="Georgia"/>
              </a:defRPr>
            </a:pPr>
            <a:r>
              <a:t>Liturgy of the Word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719072"/>
            <a:ext cx="16459200" cy="4114800"/>
          </a:xfrm>
          <a:prstGeom prst="rect">
            <a:avLst/>
          </a:prstGeom>
          <a:noFill/>
        </p:spPr>
        <p:txBody>
          <a:bodyPr wrap="square" lIns="109728" rIns="109728" tIns="73152" bIns="73152">
            <a:noAutofit/>
          </a:bodyPr>
          <a:lstStyle/>
          <a:p>
            <a:pPr algn="ctr">
              <a:defRPr sz="4400" b="1" i="0">
                <a:solidFill>
                  <a:srgbClr val="D8B4FE"/>
                </a:solidFill>
                <a:latin typeface="Georgia"/>
              </a:defRPr>
            </a:pPr>
            <a:r>
              <a:t>LITURGY OF</a:t>
            </a:r>
            <a:br/>
            <a:r>
              <a:t>THE WORD</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F8C66A"/>
                </a:solidFill>
                <a:latin typeface="Georgia"/>
              </a:defRPr>
            </a:pPr>
            <a:r>
              <a:t>Gwangju Filipino Catholic Community</a:t>
            </a:r>
          </a:p>
          <a:p>
            <a:pPr>
              <a:spcBef>
                <a:spcPts val="200"/>
              </a:spcBef>
              <a:defRPr sz="1200" b="0" i="0">
                <a:solidFill>
                  <a:srgbClr val="D8B4FE"/>
                </a:solidFill>
                <a:latin typeface="Georgia"/>
              </a:defRPr>
            </a:pPr>
            <a:r>
              <a:t>Liturgy of the Word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490472"/>
            <a:ext cx="16459200" cy="1024128"/>
          </a:xfrm>
          <a:prstGeom prst="rect">
            <a:avLst/>
          </a:prstGeom>
          <a:noFill/>
        </p:spPr>
        <p:txBody>
          <a:bodyPr wrap="square" lIns="109728" rIns="109728" tIns="73152" bIns="73152">
            <a:noAutofit/>
          </a:bodyPr>
          <a:lstStyle/>
          <a:p>
            <a:pPr>
              <a:defRPr sz="2800" b="1" i="0">
                <a:solidFill>
                  <a:srgbClr val="D8B4FE"/>
                </a:solidFill>
                <a:latin typeface="Georgia"/>
              </a:defRPr>
            </a:pPr>
            <a:r>
              <a:t>Liturgy of the Word</a:t>
            </a:r>
          </a:p>
          <a:p>
            <a:pPr>
              <a:defRPr sz="1600" b="0" i="0">
                <a:solidFill>
                  <a:srgbClr val="F8C66A"/>
                </a:solidFill>
                <a:latin typeface="Georgia"/>
              </a:defRPr>
            </a:pPr>
            <a:r>
              <a:t>First Reading (Acts 1:1-11)</a:t>
            </a:r>
          </a:p>
        </p:txBody>
      </p:sp>
      <p:sp>
        <p:nvSpPr>
          <p:cNvPr id="5" name="TextBox 4"/>
          <p:cNvSpPr txBox="1"/>
          <p:nvPr/>
        </p:nvSpPr>
        <p:spPr>
          <a:xfrm>
            <a:off x="914400" y="2569464"/>
            <a:ext cx="16459200" cy="438912"/>
          </a:xfrm>
          <a:prstGeom prst="rect">
            <a:avLst/>
          </a:prstGeom>
          <a:noFill/>
        </p:spPr>
        <p:txBody>
          <a:bodyPr wrap="square" lIns="109728" rIns="109728" tIns="73152" bIns="73152">
            <a:noAutofit/>
          </a:bodyPr>
          <a:lstStyle/>
          <a:p>
            <a:pPr>
              <a:defRPr sz="1400" b="0" i="0">
                <a:solidFill>
                  <a:srgbClr val="F8C66A"/>
                </a:solidFill>
                <a:latin typeface="Georgia"/>
              </a:defRPr>
            </a:pPr>
            <a:r>
              <a:t>Acts 1:1-11</a:t>
            </a:r>
          </a:p>
        </p:txBody>
      </p:sp>
      <p:sp>
        <p:nvSpPr>
          <p:cNvPr id="6" name="TextBox 5"/>
          <p:cNvSpPr txBox="1"/>
          <p:nvPr/>
        </p:nvSpPr>
        <p:spPr>
          <a:xfrm>
            <a:off x="914400" y="3118104"/>
            <a:ext cx="16459200" cy="6254496"/>
          </a:xfrm>
          <a:prstGeom prst="rect">
            <a:avLst/>
          </a:prstGeom>
          <a:noFill/>
        </p:spPr>
        <p:txBody>
          <a:bodyPr wrap="square" lIns="109728" rIns="109728" tIns="73152" bIns="73152">
            <a:noAutofit/>
          </a:bodyPr>
          <a:lstStyle/>
          <a:p>
            <a:pPr>
              <a:spcAft>
                <a:spcPts val="500"/>
              </a:spcAft>
              <a:defRPr sz="1900" b="0" i="0">
                <a:solidFill>
                  <a:srgbClr val="FFFFFF"/>
                </a:solidFill>
                <a:latin typeface="Georgia"/>
              </a:defRPr>
            </a:pPr>
            <a:r>
              <a:t>Full text was not loaded from bible.usccb.org. Open today’s readings for this date and paste if needed.</a:t>
            </a:r>
          </a:p>
        </p:txBody>
      </p:sp>
      <p:sp>
        <p:nvSpPr>
          <p:cNvPr id="7" name="TextBox 6"/>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F8C66A"/>
                </a:solidFill>
                <a:latin typeface="Georgia"/>
              </a:defRPr>
            </a:pPr>
            <a:r>
              <a:t>Gwangju Filipino Catholic Community</a:t>
            </a:r>
          </a:p>
          <a:p>
            <a:pPr>
              <a:spcBef>
                <a:spcPts val="200"/>
              </a:spcBef>
              <a:defRPr sz="1200" b="0" i="0">
                <a:solidFill>
                  <a:srgbClr val="D8B4FE"/>
                </a:solidFill>
                <a:latin typeface="Georgia"/>
              </a:defRPr>
            </a:pPr>
            <a:r>
              <a:t>Liturgy of the Word</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490472"/>
            <a:ext cx="16459200" cy="1024128"/>
          </a:xfrm>
          <a:prstGeom prst="rect">
            <a:avLst/>
          </a:prstGeom>
          <a:noFill/>
        </p:spPr>
        <p:txBody>
          <a:bodyPr wrap="square" lIns="109728" rIns="109728" tIns="73152" bIns="73152">
            <a:noAutofit/>
          </a:bodyPr>
          <a:lstStyle/>
          <a:p>
            <a:pPr>
              <a:defRPr sz="2800" b="1" i="0">
                <a:solidFill>
                  <a:srgbClr val="D8B4FE"/>
                </a:solidFill>
                <a:latin typeface="Georgia"/>
              </a:defRPr>
            </a:pPr>
            <a:r>
              <a:t>Liturgy of the Word</a:t>
            </a:r>
          </a:p>
          <a:p>
            <a:pPr>
              <a:defRPr sz="1600" b="0" i="0">
                <a:solidFill>
                  <a:srgbClr val="F8C66A"/>
                </a:solidFill>
                <a:latin typeface="Georgia"/>
              </a:defRPr>
            </a:pPr>
            <a:r>
              <a:t>Responsorial Psalm (Psalm 47:2-3, 6-7, 8-9)</a:t>
            </a:r>
          </a:p>
        </p:txBody>
      </p:sp>
      <p:sp>
        <p:nvSpPr>
          <p:cNvPr id="5" name="TextBox 4"/>
          <p:cNvSpPr txBox="1"/>
          <p:nvPr/>
        </p:nvSpPr>
        <p:spPr>
          <a:xfrm>
            <a:off x="914400" y="2569464"/>
            <a:ext cx="16459200" cy="438912"/>
          </a:xfrm>
          <a:prstGeom prst="rect">
            <a:avLst/>
          </a:prstGeom>
          <a:noFill/>
        </p:spPr>
        <p:txBody>
          <a:bodyPr wrap="square" lIns="109728" rIns="109728" tIns="73152" bIns="73152">
            <a:noAutofit/>
          </a:bodyPr>
          <a:lstStyle/>
          <a:p>
            <a:pPr>
              <a:defRPr sz="1400" b="0" i="0">
                <a:solidFill>
                  <a:srgbClr val="F8C66A"/>
                </a:solidFill>
                <a:latin typeface="Georgia"/>
              </a:defRPr>
            </a:pPr>
            <a:r>
              <a:t>Psalm 47:2-3, 6-7, 8-9</a:t>
            </a:r>
          </a:p>
        </p:txBody>
      </p:sp>
      <p:sp>
        <p:nvSpPr>
          <p:cNvPr id="6" name="TextBox 5"/>
          <p:cNvSpPr txBox="1"/>
          <p:nvPr/>
        </p:nvSpPr>
        <p:spPr>
          <a:xfrm>
            <a:off x="914400" y="3118104"/>
            <a:ext cx="16459200" cy="6254496"/>
          </a:xfrm>
          <a:prstGeom prst="rect">
            <a:avLst/>
          </a:prstGeom>
          <a:noFill/>
        </p:spPr>
        <p:txBody>
          <a:bodyPr wrap="square" lIns="109728" rIns="109728" tIns="73152" bIns="73152">
            <a:noAutofit/>
          </a:bodyPr>
          <a:lstStyle/>
          <a:p>
            <a:pPr>
              <a:spcAft>
                <a:spcPts val="500"/>
              </a:spcAft>
              <a:defRPr sz="1900" b="0" i="0">
                <a:solidFill>
                  <a:srgbClr val="FFFFFF"/>
                </a:solidFill>
                <a:latin typeface="Georgia"/>
              </a:defRPr>
            </a:pPr>
            <a:r>
              <a:t>Full text was not loaded from bible.usccb.org. Open today’s readings for this date and paste if needed.</a:t>
            </a:r>
          </a:p>
        </p:txBody>
      </p:sp>
      <p:sp>
        <p:nvSpPr>
          <p:cNvPr id="7" name="TextBox 6"/>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F8C66A"/>
                </a:solidFill>
                <a:latin typeface="Georgia"/>
              </a:defRPr>
            </a:pPr>
            <a:r>
              <a:t>Gwangju Filipino Catholic Community</a:t>
            </a:r>
          </a:p>
          <a:p>
            <a:pPr>
              <a:spcBef>
                <a:spcPts val="200"/>
              </a:spcBef>
              <a:defRPr sz="1200" b="0" i="0">
                <a:solidFill>
                  <a:srgbClr val="D8B4FE"/>
                </a:solidFill>
                <a:latin typeface="Georgia"/>
              </a:defRPr>
            </a:pPr>
            <a:r>
              <a:t>Liturgy of the Word</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490472"/>
            <a:ext cx="16459200" cy="1024128"/>
          </a:xfrm>
          <a:prstGeom prst="rect">
            <a:avLst/>
          </a:prstGeom>
          <a:noFill/>
        </p:spPr>
        <p:txBody>
          <a:bodyPr wrap="square" lIns="109728" rIns="109728" tIns="73152" bIns="73152">
            <a:noAutofit/>
          </a:bodyPr>
          <a:lstStyle/>
          <a:p>
            <a:pPr>
              <a:defRPr sz="2800" b="1" i="0">
                <a:solidFill>
                  <a:srgbClr val="D8B4FE"/>
                </a:solidFill>
                <a:latin typeface="Georgia"/>
              </a:defRPr>
            </a:pPr>
            <a:r>
              <a:t>Liturgy of the Word</a:t>
            </a:r>
          </a:p>
          <a:p>
            <a:pPr>
              <a:defRPr sz="1600" b="0" i="0">
                <a:solidFill>
                  <a:srgbClr val="F8C66A"/>
                </a:solidFill>
                <a:latin typeface="Georgia"/>
              </a:defRPr>
            </a:pPr>
            <a:r>
              <a:t>Second Reading (Ephesians 1:17-23)</a:t>
            </a:r>
          </a:p>
        </p:txBody>
      </p:sp>
      <p:sp>
        <p:nvSpPr>
          <p:cNvPr id="5" name="TextBox 4"/>
          <p:cNvSpPr txBox="1"/>
          <p:nvPr/>
        </p:nvSpPr>
        <p:spPr>
          <a:xfrm>
            <a:off x="914400" y="2569464"/>
            <a:ext cx="16459200" cy="438912"/>
          </a:xfrm>
          <a:prstGeom prst="rect">
            <a:avLst/>
          </a:prstGeom>
          <a:noFill/>
        </p:spPr>
        <p:txBody>
          <a:bodyPr wrap="square" lIns="109728" rIns="109728" tIns="73152" bIns="73152">
            <a:noAutofit/>
          </a:bodyPr>
          <a:lstStyle/>
          <a:p>
            <a:pPr>
              <a:defRPr sz="1400" b="0" i="0">
                <a:solidFill>
                  <a:srgbClr val="F8C66A"/>
                </a:solidFill>
                <a:latin typeface="Georgia"/>
              </a:defRPr>
            </a:pPr>
            <a:r>
              <a:t>Ephesians 1:17-23</a:t>
            </a:r>
          </a:p>
        </p:txBody>
      </p:sp>
      <p:sp>
        <p:nvSpPr>
          <p:cNvPr id="6" name="TextBox 5"/>
          <p:cNvSpPr txBox="1"/>
          <p:nvPr/>
        </p:nvSpPr>
        <p:spPr>
          <a:xfrm>
            <a:off x="914400" y="3118104"/>
            <a:ext cx="16459200" cy="6254496"/>
          </a:xfrm>
          <a:prstGeom prst="rect">
            <a:avLst/>
          </a:prstGeom>
          <a:noFill/>
        </p:spPr>
        <p:txBody>
          <a:bodyPr wrap="square" lIns="109728" rIns="109728" tIns="73152" bIns="73152">
            <a:noAutofit/>
          </a:bodyPr>
          <a:lstStyle/>
          <a:p>
            <a:pPr>
              <a:spcAft>
                <a:spcPts val="500"/>
              </a:spcAft>
              <a:defRPr sz="1900" b="0" i="0">
                <a:solidFill>
                  <a:srgbClr val="FFFFFF"/>
                </a:solidFill>
                <a:latin typeface="Georgia"/>
              </a:defRPr>
            </a:pPr>
            <a:r>
              <a:t>Full text was not loaded from bible.usccb.org. Open today’s readings for this date and paste if needed.</a:t>
            </a:r>
          </a:p>
        </p:txBody>
      </p:sp>
      <p:sp>
        <p:nvSpPr>
          <p:cNvPr id="7" name="TextBox 6"/>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F8C66A"/>
                </a:solidFill>
                <a:latin typeface="Georgia"/>
              </a:defRPr>
            </a:pPr>
            <a:r>
              <a:t>Gwangju Filipino Catholic Community</a:t>
            </a:r>
          </a:p>
          <a:p>
            <a:pPr>
              <a:spcBef>
                <a:spcPts val="200"/>
              </a:spcBef>
              <a:defRPr sz="1200" b="0" i="0">
                <a:solidFill>
                  <a:srgbClr val="D8B4FE"/>
                </a:solidFill>
                <a:latin typeface="Georgia"/>
              </a:defRPr>
            </a:pPr>
            <a:r>
              <a:t>Liturgy of the Word</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490472"/>
            <a:ext cx="16459200" cy="7790688"/>
          </a:xfrm>
          <a:prstGeom prst="rect">
            <a:avLst/>
          </a:prstGeom>
          <a:noFill/>
        </p:spPr>
        <p:txBody>
          <a:bodyPr wrap="square" lIns="109728" rIns="109728" tIns="73152" bIns="73152">
            <a:noAutofit/>
          </a:bodyPr>
          <a:lstStyle/>
          <a:p>
            <a:pPr algn="ctr">
              <a:spcAft>
                <a:spcPts val="500"/>
              </a:spcAft>
              <a:defRPr sz="1900" b="1" i="0">
                <a:solidFill>
                  <a:srgbClr val="FFFFFF"/>
                </a:solidFill>
                <a:latin typeface="Georgia"/>
              </a:defRPr>
            </a:pPr>
            <a:r>
              <a:t>ALLELUIA! ALLELUIA! ALLELUIA! ALLELUIA!</a:t>
            </a:r>
          </a:p>
          <a:p>
            <a:pPr algn="ctr">
              <a:spcAft>
                <a:spcPts val="500"/>
              </a:spcAft>
              <a:defRPr sz="1500" b="0" i="1">
                <a:solidFill>
                  <a:srgbClr val="D8B4FE"/>
                </a:solidFill>
                <a:latin typeface="Georgia"/>
              </a:defRPr>
            </a:pPr>
            <a:r>
              <a:t>Sing the verse of the Gospel Acclamation given in the Lectionary for this Mass in full, not shortened.</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F8C66A"/>
                </a:solidFill>
                <a:latin typeface="Georgia"/>
              </a:defRPr>
            </a:pPr>
            <a:r>
              <a:t>Gwangju Filipino Catholic Community</a:t>
            </a:r>
          </a:p>
          <a:p>
            <a:pPr>
              <a:spcBef>
                <a:spcPts val="200"/>
              </a:spcBef>
              <a:defRPr sz="1200" b="0" i="0">
                <a:solidFill>
                  <a:srgbClr val="D8B4FE"/>
                </a:solidFill>
                <a:latin typeface="Georgia"/>
              </a:defRPr>
            </a:pPr>
            <a:r>
              <a:t>Gospel Acclamation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490472"/>
            <a:ext cx="16459200" cy="7790688"/>
          </a:xfrm>
          <a:prstGeom prst="rect">
            <a:avLst/>
          </a:prstGeom>
          <a:noFill/>
        </p:spPr>
        <p:txBody>
          <a:bodyPr wrap="square" lIns="109728" rIns="109728" tIns="73152" bIns="73152">
            <a:noAutofit/>
          </a:bodyPr>
          <a:lstStyle/>
          <a:p>
            <a:pPr algn="ctr">
              <a:spcAft>
                <a:spcPts val="500"/>
              </a:spcAft>
              <a:defRPr sz="1500" b="0" i="1">
                <a:solidFill>
                  <a:srgbClr val="D8B4FE"/>
                </a:solidFill>
                <a:latin typeface="Georgia"/>
              </a:defRPr>
            </a:pPr>
            <a:r>
              <a:t>If a commentator announces the verse before the Gospel Acclamation, the verse from the Lectionary is spoken in full, and then the assembly sings the Alleluia and response without abbreviation.</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F8C66A"/>
                </a:solidFill>
                <a:latin typeface="Georgia"/>
              </a:defRPr>
            </a:pPr>
            <a:r>
              <a:t>Gwangju Filipino Catholic Community</a:t>
            </a:r>
          </a:p>
          <a:p>
            <a:pPr>
              <a:spcBef>
                <a:spcPts val="200"/>
              </a:spcBef>
              <a:defRPr sz="1200" b="0" i="0">
                <a:solidFill>
                  <a:srgbClr val="D8B4FE"/>
                </a:solidFill>
                <a:latin typeface="Georgia"/>
              </a:defRPr>
            </a:pPr>
            <a:r>
              <a:t>Gospel Acclamation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490472"/>
            <a:ext cx="16459200" cy="7790688"/>
          </a:xfrm>
          <a:prstGeom prst="rect">
            <a:avLst/>
          </a:prstGeom>
          <a:noFill/>
        </p:spPr>
        <p:txBody>
          <a:bodyPr wrap="square" lIns="109728" rIns="109728" tIns="73152" bIns="73152">
            <a:noAutofit/>
          </a:bodyPr>
          <a:lstStyle/>
          <a:p>
            <a:pPr algn="ctr">
              <a:spcBef>
                <a:spcPts val="400"/>
              </a:spcBef>
              <a:spcAft>
                <a:spcPts val="500"/>
              </a:spcAft>
              <a:defRPr sz="2000" b="1" i="0">
                <a:solidFill>
                  <a:srgbClr val="D8B4FE"/>
                </a:solidFill>
                <a:latin typeface="Georgia"/>
              </a:defRPr>
            </a:pPr>
            <a:r>
              <a:t>Priest: The Lord be with you.</a:t>
            </a:r>
          </a:p>
          <a:p>
            <a:pPr algn="ctr">
              <a:spcBef>
                <a:spcPts val="400"/>
              </a:spcBef>
              <a:spcAft>
                <a:spcPts val="500"/>
              </a:spcAft>
              <a:defRPr sz="2000" b="1" i="0">
                <a:solidFill>
                  <a:srgbClr val="FFFFFF"/>
                </a:solidFill>
                <a:latin typeface="Georgia"/>
              </a:defRPr>
            </a:pPr>
            <a:r>
              <a:t>All: And with your spirit.</a:t>
            </a:r>
          </a:p>
          <a:p>
            <a:pPr algn="ctr">
              <a:spcAft>
                <a:spcPts val="500"/>
              </a:spcAft>
              <a:defRPr sz="1500" b="0" i="1">
                <a:solidFill>
                  <a:srgbClr val="D8B4FE"/>
                </a:solidFill>
                <a:latin typeface="Georgia"/>
              </a:defRPr>
            </a:pPr>
            <a:r>
              <a:t>The Priest says the full introductory dialogue from the Roman Missal, using the complete sentence from the Lectionary for this Mass, beginning “A reading from the holy Gospel according to [name the evangelist or book in full, as printed in the Lectionary—never abbreviated].”</a:t>
            </a:r>
          </a:p>
          <a:p>
            <a:pPr algn="ctr">
              <a:spcBef>
                <a:spcPts val="400"/>
              </a:spcBef>
              <a:spcAft>
                <a:spcPts val="500"/>
              </a:spcAft>
              <a:defRPr sz="2000" b="1" i="0">
                <a:solidFill>
                  <a:srgbClr val="FFFFFF"/>
                </a:solidFill>
                <a:latin typeface="Georgia"/>
              </a:defRPr>
            </a:pPr>
            <a:r>
              <a:t>All: Glory to you, O Lord.</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F8C66A"/>
                </a:solidFill>
                <a:latin typeface="Georgia"/>
              </a:defRPr>
            </a:pPr>
            <a:r>
              <a:t>Gwangju Filipino Catholic Community</a:t>
            </a:r>
          </a:p>
          <a:p>
            <a:pPr>
              <a:spcBef>
                <a:spcPts val="200"/>
              </a:spcBef>
              <a:defRPr sz="1200" b="0" i="0">
                <a:solidFill>
                  <a:srgbClr val="D8B4FE"/>
                </a:solidFill>
                <a:latin typeface="Georgia"/>
              </a:defRPr>
            </a:pPr>
            <a:r>
              <a:t>Gospel Acclamation</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490472"/>
            <a:ext cx="16459200" cy="7790688"/>
          </a:xfrm>
          <a:prstGeom prst="rect">
            <a:avLst/>
          </a:prstGeom>
          <a:noFill/>
        </p:spPr>
        <p:txBody>
          <a:bodyPr wrap="square" lIns="109728" rIns="109728" tIns="73152" bIns="73152">
            <a:noAutofit/>
          </a:bodyPr>
          <a:lstStyle/>
          <a:p>
            <a:pPr algn="ctr">
              <a:spcAft>
                <a:spcPts val="500"/>
              </a:spcAft>
              <a:defRPr sz="1500" b="0" i="1">
                <a:solidFill>
                  <a:srgbClr val="D8B4FE"/>
                </a:solidFill>
                <a:latin typeface="Georgia"/>
              </a:defRPr>
            </a:pPr>
            <a:r>
              <a:t>Matthew 28:16-20</a:t>
            </a:r>
          </a:p>
          <a:p>
            <a:pPr algn="ctr">
              <a:spcAft>
                <a:spcPts val="500"/>
              </a:spcAft>
              <a:defRPr sz="1500" b="0" i="1">
                <a:solidFill>
                  <a:srgbClr val="D8B4FE"/>
                </a:solidFill>
                <a:latin typeface="Georgia"/>
              </a:defRPr>
            </a:pPr>
          </a:p>
          <a:p>
            <a:pPr algn="ctr">
              <a:spcBef>
                <a:spcPts val="400"/>
              </a:spcBef>
              <a:spcAft>
                <a:spcPts val="500"/>
              </a:spcAft>
              <a:defRPr sz="2000" b="1" i="0">
                <a:solidFill>
                  <a:srgbClr val="FFFFFF"/>
                </a:solidFill>
                <a:latin typeface="Georgia"/>
              </a:defRPr>
            </a:pPr>
            <a:r>
              <a:t>All: “All authority has been given to me in heaven and on earth.”</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F8C66A"/>
                </a:solidFill>
                <a:latin typeface="Georgia"/>
              </a:defRPr>
            </a:pPr>
            <a:r>
              <a:t>Gwangju Filipino Catholic Community</a:t>
            </a:r>
          </a:p>
          <a:p>
            <a:pPr>
              <a:spcBef>
                <a:spcPts val="200"/>
              </a:spcBef>
              <a:defRPr sz="1200" b="0" i="0">
                <a:solidFill>
                  <a:srgbClr val="D8B4FE"/>
                </a:solidFill>
                <a:latin typeface="Georgia"/>
              </a:defRPr>
            </a:pPr>
            <a:r>
              <a:t>Gospel</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490472"/>
            <a:ext cx="16459200" cy="841248"/>
          </a:xfrm>
          <a:prstGeom prst="rect">
            <a:avLst/>
          </a:prstGeom>
          <a:noFill/>
        </p:spPr>
        <p:txBody>
          <a:bodyPr wrap="square" lIns="109728" rIns="109728" tIns="73152" bIns="73152">
            <a:noAutofit/>
          </a:bodyPr>
          <a:lstStyle/>
          <a:p>
            <a:pPr>
              <a:defRPr sz="3000" b="1" i="0">
                <a:solidFill>
                  <a:srgbClr val="D8B4FE"/>
                </a:solidFill>
                <a:latin typeface="Georgia"/>
              </a:defRPr>
            </a:pPr>
            <a:r>
              <a:t>Gospel</a:t>
            </a:r>
          </a:p>
        </p:txBody>
      </p:sp>
      <p:sp>
        <p:nvSpPr>
          <p:cNvPr id="5" name="TextBox 4"/>
          <p:cNvSpPr txBox="1"/>
          <p:nvPr/>
        </p:nvSpPr>
        <p:spPr>
          <a:xfrm>
            <a:off x="914400" y="2386584"/>
            <a:ext cx="16459200" cy="438912"/>
          </a:xfrm>
          <a:prstGeom prst="rect">
            <a:avLst/>
          </a:prstGeom>
          <a:noFill/>
        </p:spPr>
        <p:txBody>
          <a:bodyPr wrap="square" lIns="109728" rIns="109728" tIns="73152" bIns="73152">
            <a:noAutofit/>
          </a:bodyPr>
          <a:lstStyle/>
          <a:p>
            <a:pPr>
              <a:defRPr sz="1400" b="0" i="0">
                <a:solidFill>
                  <a:srgbClr val="F8C66A"/>
                </a:solidFill>
                <a:latin typeface="Georgia"/>
              </a:defRPr>
            </a:pPr>
            <a:r>
              <a:t>Matthew 28:16-20</a:t>
            </a:r>
          </a:p>
        </p:txBody>
      </p:sp>
      <p:sp>
        <p:nvSpPr>
          <p:cNvPr id="6" name="TextBox 5"/>
          <p:cNvSpPr txBox="1"/>
          <p:nvPr/>
        </p:nvSpPr>
        <p:spPr>
          <a:xfrm>
            <a:off x="914400" y="2935224"/>
            <a:ext cx="16459200" cy="6437376"/>
          </a:xfrm>
          <a:prstGeom prst="rect">
            <a:avLst/>
          </a:prstGeom>
          <a:noFill/>
        </p:spPr>
        <p:txBody>
          <a:bodyPr wrap="square" lIns="109728" rIns="109728" tIns="73152" bIns="73152">
            <a:noAutofit/>
          </a:bodyPr>
          <a:lstStyle/>
          <a:p>
            <a:pPr>
              <a:spcAft>
                <a:spcPts val="500"/>
              </a:spcAft>
              <a:defRPr sz="1900" b="0" i="0">
                <a:solidFill>
                  <a:srgbClr val="FFFFFF"/>
                </a:solidFill>
                <a:latin typeface="Georgia"/>
              </a:defRPr>
            </a:pPr>
            <a:r>
              <a:t>But the eleven disciples went into Galilee, to the mountain where Jesus had sent them. When they saw him, they bowed down to him, but some doubted. Jesus came to them and spoke to them, saying, “All authority has been given to me in heaven and on earth. Go and make disciples of all nations, baptizing them in the name of the Father and of the Son and of the Holy Spirit, teaching them to observe all things that I commanded you. Behold, I am with you always, even to the end of the age.” Amen.</a:t>
            </a:r>
          </a:p>
        </p:txBody>
      </p:sp>
      <p:sp>
        <p:nvSpPr>
          <p:cNvPr id="7" name="TextBox 6"/>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F8C66A"/>
                </a:solidFill>
                <a:latin typeface="Georgia"/>
              </a:defRPr>
            </a:pPr>
            <a:r>
              <a:t>Gwangju Filipino Catholic Community</a:t>
            </a:r>
          </a:p>
          <a:p>
            <a:pPr>
              <a:spcBef>
                <a:spcPts val="200"/>
              </a:spcBef>
              <a:defRPr sz="1200" b="0" i="0">
                <a:solidFill>
                  <a:srgbClr val="D8B4FE"/>
                </a:solidFill>
                <a:latin typeface="Georgia"/>
              </a:defRPr>
            </a:pPr>
            <a:r>
              <a:t>Gospel</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490472"/>
            <a:ext cx="16459200" cy="7790688"/>
          </a:xfrm>
          <a:prstGeom prst="rect">
            <a:avLst/>
          </a:prstGeom>
          <a:noFill/>
        </p:spPr>
        <p:txBody>
          <a:bodyPr wrap="square" lIns="109728" rIns="109728" tIns="73152" bIns="73152">
            <a:noAutofit/>
          </a:bodyPr>
          <a:lstStyle/>
          <a:p>
            <a:pPr algn="ctr">
              <a:spcBef>
                <a:spcPts val="400"/>
              </a:spcBef>
              <a:spcAft>
                <a:spcPts val="500"/>
              </a:spcAft>
              <a:defRPr sz="2000" b="1" i="0">
                <a:solidFill>
                  <a:srgbClr val="D8B4FE"/>
                </a:solidFill>
                <a:latin typeface="Georgia"/>
              </a:defRPr>
            </a:pPr>
            <a:r>
              <a:t>Priest: The Gospel of the Lord.</a:t>
            </a:r>
          </a:p>
          <a:p>
            <a:pPr algn="ctr">
              <a:spcBef>
                <a:spcPts val="400"/>
              </a:spcBef>
              <a:spcAft>
                <a:spcPts val="500"/>
              </a:spcAft>
              <a:defRPr sz="2000" b="1" i="0">
                <a:solidFill>
                  <a:srgbClr val="FFFFFF"/>
                </a:solidFill>
                <a:latin typeface="Georgia"/>
              </a:defRPr>
            </a:pPr>
            <a:r>
              <a:t>All: Praise to you, Lord Jesus Christ.</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F8C66A"/>
                </a:solidFill>
                <a:latin typeface="Georgia"/>
              </a:defRPr>
            </a:pPr>
            <a:r>
              <a:t>Gwangju Filipino Catholic Community</a:t>
            </a:r>
          </a:p>
          <a:p>
            <a:pPr>
              <a:spcBef>
                <a:spcPts val="200"/>
              </a:spcBef>
              <a:defRPr sz="1200" b="0" i="0">
                <a:solidFill>
                  <a:srgbClr val="D8B4FE"/>
                </a:solidFill>
                <a:latin typeface="Georgia"/>
              </a:defRPr>
            </a:pPr>
            <a:r>
              <a:t>Gospel Acclamation</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490472"/>
            <a:ext cx="16459200" cy="7790688"/>
          </a:xfrm>
          <a:prstGeom prst="rect">
            <a:avLst/>
          </a:prstGeom>
          <a:noFill/>
        </p:spPr>
        <p:txBody>
          <a:bodyPr wrap="square" lIns="109728" rIns="109728" tIns="73152" bIns="73152">
            <a:noAutofit/>
          </a:bodyPr>
          <a:lstStyle/>
          <a:p>
            <a:pPr algn="ctr">
              <a:spcAft>
                <a:spcPts val="500"/>
              </a:spcAft>
              <a:defRPr sz="1500" b="0" i="1">
                <a:solidFill>
                  <a:srgbClr val="D8B4FE"/>
                </a:solidFill>
                <a:latin typeface="Georgia"/>
              </a:defRPr>
            </a:pPr>
            <a:r>
              <a:t>Time for the homily — Father will now preach.</a:t>
            </a:r>
          </a:p>
          <a:p>
            <a:pPr algn="ctr">
              <a:spcAft>
                <a:spcPts val="500"/>
              </a:spcAft>
              <a:defRPr sz="1500" b="0" i="1">
                <a:solidFill>
                  <a:srgbClr val="D8B4FE"/>
                </a:solidFill>
                <a:latin typeface="Georgia"/>
              </a:defRPr>
            </a:pPr>
            <a:r>
              <a:t>Commentator may introduce the theme.</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F8C66A"/>
                </a:solidFill>
                <a:latin typeface="Georgia"/>
              </a:defRPr>
            </a:pPr>
            <a:r>
              <a:t>Gwangju Filipino Catholic Community</a:t>
            </a:r>
          </a:p>
          <a:p>
            <a:pPr>
              <a:spcBef>
                <a:spcPts val="200"/>
              </a:spcBef>
              <a:defRPr sz="1200" b="0" i="0">
                <a:solidFill>
                  <a:srgbClr val="D8B4FE"/>
                </a:solidFill>
                <a:latin typeface="Georgia"/>
              </a:defRPr>
            </a:pPr>
            <a:r>
              <a:t>Homily</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GFCC17May2026_Eastertide_16x9.png"/>
          <p:cNvPicPr>
            <a:picLocks noChangeAspect="1"/>
          </p:cNvPicPr>
          <p:nvPr/>
        </p:nvPicPr>
        <p:blipFill>
          <a:blip r:embed="rId2"/>
          <a:stretch>
            <a:fillRect/>
          </a:stretch>
        </p:blipFill>
        <p:spPr>
          <a:xfrm>
            <a:off x="0" y="0"/>
            <a:ext cx="18288000" cy="10287000"/>
          </a:xfrm>
          <a:prstGeom prst="rect">
            <a:avLst/>
          </a:prstGeom>
        </p:spPr>
      </p:pic>
      <p:pic>
        <p:nvPicPr>
          <p:cNvPr id="3" name="Picture 2" descr="community_logo.png"/>
          <p:cNvPicPr>
            <a:picLocks noChangeAspect="1"/>
          </p:cNvPicPr>
          <p:nvPr/>
        </p:nvPicPr>
        <p:blipFill>
          <a:blip r:embed="rId3"/>
          <a:stretch>
            <a:fillRect/>
          </a:stretch>
        </p:blipFill>
        <p:spPr>
          <a:xfrm>
            <a:off x="914400" y="256032"/>
            <a:ext cx="387682" cy="384048"/>
          </a:xfrm>
          <a:prstGeom prst="rect">
            <a:avLst/>
          </a:prstGeom>
        </p:spPr>
      </p:pic>
      <p:sp>
        <p:nvSpPr>
          <p:cNvPr id="4" name="TextBox 3"/>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5" name="TextBox 4"/>
          <p:cNvSpPr txBox="1"/>
          <p:nvPr/>
        </p:nvSpPr>
        <p:spPr>
          <a:xfrm>
            <a:off x="914400" y="1810512"/>
            <a:ext cx="16459200" cy="5943600"/>
          </a:xfrm>
          <a:prstGeom prst="rect">
            <a:avLst/>
          </a:prstGeom>
          <a:noFill/>
        </p:spPr>
        <p:txBody>
          <a:bodyPr wrap="square" lIns="109728" rIns="109728" tIns="73152" bIns="73152">
            <a:noAutofit/>
          </a:bodyPr>
          <a:lstStyle/>
          <a:p>
            <a:pPr>
              <a:spcAft>
                <a:spcPts val="300"/>
              </a:spcAft>
              <a:defRPr sz="2100" b="1" i="0">
                <a:solidFill>
                  <a:srgbClr val="D8B4FE"/>
                </a:solidFill>
                <a:latin typeface="Georgia"/>
              </a:defRPr>
            </a:pPr>
            <a:r>
              <a:t>MASS CELEBRANT:</a:t>
            </a:r>
          </a:p>
          <a:p>
            <a:pPr>
              <a:spcAft>
                <a:spcPts val="300"/>
              </a:spcAft>
              <a:defRPr sz="2100" b="0" i="0">
                <a:solidFill>
                  <a:srgbClr val="FFFFFF"/>
                </a:solidFill>
                <a:latin typeface="Georgia"/>
              </a:defRPr>
            </a:pPr>
            <a:r>
              <a:t>Rev. Fr. Jonrey Lauron, RCJ</a:t>
            </a:r>
          </a:p>
          <a:p>
            <a:pPr>
              <a:spcAft>
                <a:spcPts val="300"/>
              </a:spcAft>
              <a:defRPr sz="2100" b="0" i="0">
                <a:solidFill>
                  <a:srgbClr val="FFFFFF"/>
                </a:solidFill>
                <a:latin typeface="Georgia"/>
              </a:defRPr>
            </a:pPr>
          </a:p>
          <a:p>
            <a:pPr>
              <a:spcAft>
                <a:spcPts val="300"/>
              </a:spcAft>
              <a:defRPr sz="2100" b="0" i="0">
                <a:solidFill>
                  <a:srgbClr val="FFFFFF"/>
                </a:solidFill>
                <a:latin typeface="Georgia"/>
              </a:defRPr>
            </a:pPr>
            <a:r>
              <a:t>Gwangju</a:t>
            </a:r>
            <a:br/>
            <a:r>
              <a:t>Filipino</a:t>
            </a:r>
            <a:br/>
            <a:r>
              <a:t>Catholic</a:t>
            </a:r>
            <a:br/>
            <a:r>
              <a:t>Community</a:t>
            </a:r>
          </a:p>
          <a:p>
            <a:pPr>
              <a:spcAft>
                <a:spcPts val="300"/>
              </a:spcAft>
              <a:defRPr sz="2100" b="0" i="0">
                <a:solidFill>
                  <a:srgbClr val="FFFFFF"/>
                </a:solidFill>
                <a:latin typeface="Georgia"/>
              </a:defRPr>
            </a:pPr>
          </a:p>
          <a:p>
            <a:pPr>
              <a:spcAft>
                <a:spcPts val="300"/>
              </a:spcAft>
              <a:defRPr sz="2100" b="0" i="0">
                <a:solidFill>
                  <a:srgbClr val="FFFFFF"/>
                </a:solidFill>
                <a:latin typeface="Georgia"/>
              </a:defRPr>
            </a:pPr>
            <a:r>
              <a:t>Gospel (Matthew 28:16-20)</a:t>
            </a:r>
          </a:p>
          <a:p>
            <a:pPr>
              <a:spcAft>
                <a:spcPts val="300"/>
              </a:spcAft>
              <a:defRPr sz="2100" b="0" i="0">
                <a:solidFill>
                  <a:srgbClr val="FFFFFF"/>
                </a:solidFill>
                <a:latin typeface="Georgia"/>
              </a:defRPr>
            </a:pPr>
            <a:r>
              <a:t>“All authority has been given to me in heaven and on earth.”</a:t>
            </a:r>
          </a:p>
          <a:p>
            <a:pPr>
              <a:spcAft>
                <a:spcPts val="300"/>
              </a:spcAft>
              <a:defRPr sz="2100" b="0" i="0">
                <a:solidFill>
                  <a:srgbClr val="FFFFFF"/>
                </a:solidFill>
                <a:latin typeface="Georgia"/>
              </a:defRPr>
            </a:pPr>
          </a:p>
          <a:p>
            <a:pPr>
              <a:spcAft>
                <a:spcPts val="300"/>
              </a:spcAft>
              <a:defRPr sz="2100" b="0" i="0">
                <a:solidFill>
                  <a:srgbClr val="FFFFFF"/>
                </a:solidFill>
                <a:latin typeface="Georgia"/>
              </a:defRPr>
            </a:pPr>
            <a:r>
              <a:t>YEAR A</a:t>
            </a:r>
          </a:p>
          <a:p>
            <a:pPr>
              <a:spcAft>
                <a:spcPts val="300"/>
              </a:spcAft>
              <a:defRPr sz="2100" b="0" i="0">
                <a:solidFill>
                  <a:srgbClr val="FFFFFF"/>
                </a:solidFill>
                <a:latin typeface="Georgia"/>
              </a:defRPr>
            </a:pPr>
            <a:r>
              <a:t>2026-05-17 · Eastertide</a:t>
            </a:r>
          </a:p>
        </p:txBody>
      </p:sp>
      <p:sp>
        <p:nvSpPr>
          <p:cNvPr id="6" name="TextBox 5"/>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F8C66A"/>
                </a:solidFill>
                <a:latin typeface="Georgia"/>
              </a:defRPr>
            </a:pPr>
            <a:r>
              <a:t>Gwangju Filipino Catholic Community</a:t>
            </a:r>
          </a:p>
          <a:p>
            <a:pPr>
              <a:spcBef>
                <a:spcPts val="200"/>
              </a:spcBef>
              <a:defRPr sz="1200" b="0" i="0">
                <a:solidFill>
                  <a:srgbClr val="D8B4FE"/>
                </a:solidFill>
                <a:latin typeface="Georgia"/>
              </a:defRPr>
            </a:pPr>
            <a:r>
              <a:t>Mass poster / divider</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490472"/>
            <a:ext cx="16459200" cy="7790688"/>
          </a:xfrm>
          <a:prstGeom prst="rect">
            <a:avLst/>
          </a:prstGeom>
          <a:noFill/>
        </p:spPr>
        <p:txBody>
          <a:bodyPr wrap="square" lIns="109728" rIns="109728" tIns="73152" bIns="73152">
            <a:noAutofit/>
          </a:bodyPr>
          <a:lstStyle/>
          <a:p>
            <a:pPr algn="ctr">
              <a:spcBef>
                <a:spcPts val="400"/>
              </a:spcBef>
              <a:spcAft>
                <a:spcPts val="500"/>
              </a:spcAft>
              <a:defRPr sz="2000" b="1" i="0">
                <a:solidFill>
                  <a:srgbClr val="FFFFFF"/>
                </a:solidFill>
                <a:latin typeface="Georgia"/>
              </a:defRPr>
            </a:pPr>
            <a:r>
              <a:t>All: I believe in one God,</a:t>
            </a:r>
          </a:p>
          <a:p>
            <a:pPr algn="ctr">
              <a:spcAft>
                <a:spcPts val="500"/>
              </a:spcAft>
              <a:defRPr sz="1900" b="0" i="0">
                <a:solidFill>
                  <a:srgbClr val="FFFFFF"/>
                </a:solidFill>
                <a:latin typeface="Georgia"/>
              </a:defRPr>
            </a:pPr>
            <a:r>
              <a:t>the Father almighty,</a:t>
            </a:r>
          </a:p>
          <a:p>
            <a:pPr algn="ctr">
              <a:spcAft>
                <a:spcPts val="500"/>
              </a:spcAft>
              <a:defRPr sz="1900" b="0" i="0">
                <a:solidFill>
                  <a:srgbClr val="FFFFFF"/>
                </a:solidFill>
                <a:latin typeface="Georgia"/>
              </a:defRPr>
            </a:pPr>
            <a:r>
              <a:t>maker of heaven and earth,</a:t>
            </a:r>
          </a:p>
          <a:p>
            <a:pPr algn="ctr">
              <a:spcAft>
                <a:spcPts val="500"/>
              </a:spcAft>
              <a:defRPr sz="1900" b="0" i="0">
                <a:solidFill>
                  <a:srgbClr val="FFFFFF"/>
                </a:solidFill>
                <a:latin typeface="Georgia"/>
              </a:defRPr>
            </a:pPr>
            <a:r>
              <a:t>of all things visible and invisible.</a:t>
            </a:r>
          </a:p>
          <a:p>
            <a:pPr algn="ctr">
              <a:spcAft>
                <a:spcPts val="500"/>
              </a:spcAft>
              <a:defRPr sz="1900" b="0" i="0">
                <a:solidFill>
                  <a:srgbClr val="FFFFFF"/>
                </a:solidFill>
                <a:latin typeface="Georgia"/>
              </a:defRPr>
            </a:pPr>
            <a:r>
              <a:t>I believe in one Lord Jesus Christ,</a:t>
            </a:r>
          </a:p>
          <a:p>
            <a:pPr algn="ctr">
              <a:spcAft>
                <a:spcPts val="500"/>
              </a:spcAft>
              <a:defRPr sz="1900" b="0" i="0">
                <a:solidFill>
                  <a:srgbClr val="FFFFFF"/>
                </a:solidFill>
                <a:latin typeface="Georgia"/>
              </a:defRPr>
            </a:pPr>
            <a:r>
              <a:t>the Only Begotten Son of God,</a:t>
            </a:r>
          </a:p>
          <a:p>
            <a:pPr algn="ctr">
              <a:spcAft>
                <a:spcPts val="500"/>
              </a:spcAft>
              <a:defRPr sz="1900" b="0" i="0">
                <a:solidFill>
                  <a:srgbClr val="FFFFFF"/>
                </a:solidFill>
                <a:latin typeface="Georgia"/>
              </a:defRPr>
            </a:pPr>
            <a:r>
              <a:t>born of the Father before all ages.</a:t>
            </a:r>
          </a:p>
          <a:p>
            <a:pPr algn="ctr">
              <a:spcAft>
                <a:spcPts val="500"/>
              </a:spcAft>
              <a:defRPr sz="1900" b="0" i="0">
                <a:solidFill>
                  <a:srgbClr val="FFFFFF"/>
                </a:solidFill>
                <a:latin typeface="Georgia"/>
              </a:defRPr>
            </a:pPr>
            <a:r>
              <a:t>God from God, Light from Light,</a:t>
            </a:r>
          </a:p>
          <a:p>
            <a:pPr algn="ctr">
              <a:spcAft>
                <a:spcPts val="500"/>
              </a:spcAft>
              <a:defRPr sz="1900" b="0" i="0">
                <a:solidFill>
                  <a:srgbClr val="FFFFFF"/>
                </a:solidFill>
                <a:latin typeface="Georgia"/>
              </a:defRPr>
            </a:pPr>
            <a:r>
              <a:t>true God from true God,</a:t>
            </a:r>
          </a:p>
          <a:p>
            <a:pPr algn="ctr">
              <a:spcAft>
                <a:spcPts val="500"/>
              </a:spcAft>
              <a:defRPr sz="1900" b="0" i="0">
                <a:solidFill>
                  <a:srgbClr val="FFFFFF"/>
                </a:solidFill>
                <a:latin typeface="Georgia"/>
              </a:defRPr>
            </a:pPr>
            <a:r>
              <a:t>begotten, not made, consubstantial with the Father;</a:t>
            </a:r>
          </a:p>
          <a:p>
            <a:pPr algn="ctr">
              <a:spcAft>
                <a:spcPts val="500"/>
              </a:spcAft>
              <a:defRPr sz="1900" b="0" i="0">
                <a:solidFill>
                  <a:srgbClr val="FFFFFF"/>
                </a:solidFill>
                <a:latin typeface="Georgia"/>
              </a:defRPr>
            </a:pPr>
            <a:r>
              <a:t>through him all things were made.</a:t>
            </a:r>
          </a:p>
          <a:p>
            <a:pPr algn="ctr">
              <a:spcAft>
                <a:spcPts val="500"/>
              </a:spcAft>
              <a:defRPr sz="1900" b="0" i="0">
                <a:solidFill>
                  <a:srgbClr val="FFFFFF"/>
                </a:solidFill>
                <a:latin typeface="Georgia"/>
              </a:defRPr>
            </a:pPr>
            <a:r>
              <a:t>For us men and for our salvation</a:t>
            </a:r>
          </a:p>
          <a:p>
            <a:pPr algn="ctr">
              <a:spcAft>
                <a:spcPts val="500"/>
              </a:spcAft>
              <a:defRPr sz="1900" b="0" i="0">
                <a:solidFill>
                  <a:srgbClr val="FFFFFF"/>
                </a:solidFill>
                <a:latin typeface="Georgia"/>
              </a:defRPr>
            </a:pPr>
            <a:r>
              <a:t>he came down from heaven,</a:t>
            </a:r>
          </a:p>
          <a:p>
            <a:pPr algn="ctr">
              <a:spcAft>
                <a:spcPts val="500"/>
              </a:spcAft>
              <a:defRPr sz="1900" b="0" i="0">
                <a:solidFill>
                  <a:srgbClr val="FFFFFF"/>
                </a:solidFill>
                <a:latin typeface="Georgia"/>
              </a:defRPr>
            </a:pPr>
            <a:r>
              <a:t>and by the Holy Spirit was incarnate of the Virgin Mary,</a:t>
            </a:r>
          </a:p>
          <a:p>
            <a:pPr algn="ctr">
              <a:spcAft>
                <a:spcPts val="500"/>
              </a:spcAft>
              <a:defRPr sz="1900" b="0" i="0">
                <a:solidFill>
                  <a:srgbClr val="FFFFFF"/>
                </a:solidFill>
                <a:latin typeface="Georgia"/>
              </a:defRPr>
            </a:pPr>
            <a:r>
              <a:t>and became man.</a:t>
            </a:r>
          </a:p>
          <a:p>
            <a:pPr algn="ctr">
              <a:spcAft>
                <a:spcPts val="500"/>
              </a:spcAft>
              <a:defRPr sz="1900" b="0" i="0">
                <a:solidFill>
                  <a:srgbClr val="FFFFFF"/>
                </a:solidFill>
                <a:latin typeface="Georgia"/>
              </a:defRPr>
            </a:pPr>
            <a:r>
              <a:t>For our sake he was crucified under Pontius Pilate,</a:t>
            </a:r>
          </a:p>
          <a:p>
            <a:pPr algn="ctr">
              <a:spcAft>
                <a:spcPts val="500"/>
              </a:spcAft>
              <a:defRPr sz="1900" b="0" i="0">
                <a:solidFill>
                  <a:srgbClr val="FFFFFF"/>
                </a:solidFill>
                <a:latin typeface="Georgia"/>
              </a:defRPr>
            </a:pPr>
            <a:r>
              <a:t>he suffered death and was buried,</a:t>
            </a:r>
          </a:p>
          <a:p>
            <a:pPr algn="ctr">
              <a:spcAft>
                <a:spcPts val="500"/>
              </a:spcAft>
              <a:defRPr sz="1900" b="0" i="0">
                <a:solidFill>
                  <a:srgbClr val="FFFFFF"/>
                </a:solidFill>
                <a:latin typeface="Georgia"/>
              </a:defRPr>
            </a:pPr>
            <a:r>
              <a:t>and rose again on the third day</a:t>
            </a:r>
          </a:p>
          <a:p>
            <a:pPr algn="ctr">
              <a:spcAft>
                <a:spcPts val="500"/>
              </a:spcAft>
              <a:defRPr sz="1900" b="0" i="0">
                <a:solidFill>
                  <a:srgbClr val="FFFFFF"/>
                </a:solidFill>
                <a:latin typeface="Georgia"/>
              </a:defRPr>
            </a:pPr>
            <a:r>
              <a:t>in accordance with the Scriptures.</a:t>
            </a:r>
          </a:p>
          <a:p>
            <a:pPr algn="ctr">
              <a:spcAft>
                <a:spcPts val="500"/>
              </a:spcAft>
              <a:defRPr sz="1900" b="0" i="0">
                <a:solidFill>
                  <a:srgbClr val="FFFFFF"/>
                </a:solidFill>
                <a:latin typeface="Georgia"/>
              </a:defRPr>
            </a:pPr>
            <a:r>
              <a:t>He ascended into heaven</a:t>
            </a:r>
          </a:p>
          <a:p>
            <a:pPr algn="ctr">
              <a:spcAft>
                <a:spcPts val="500"/>
              </a:spcAft>
              <a:defRPr sz="1900" b="0" i="0">
                <a:solidFill>
                  <a:srgbClr val="FFFFFF"/>
                </a:solidFill>
                <a:latin typeface="Georgia"/>
              </a:defRPr>
            </a:pPr>
            <a:r>
              <a:t>and is seated at the right hand of the Father.</a:t>
            </a:r>
          </a:p>
          <a:p>
            <a:pPr algn="ctr">
              <a:spcAft>
                <a:spcPts val="500"/>
              </a:spcAft>
              <a:defRPr sz="1900" b="0" i="0">
                <a:solidFill>
                  <a:srgbClr val="FFFFFF"/>
                </a:solidFill>
                <a:latin typeface="Georgia"/>
              </a:defRPr>
            </a:pPr>
            <a:r>
              <a:t>He will come again in glory</a:t>
            </a:r>
          </a:p>
          <a:p>
            <a:pPr algn="ctr">
              <a:spcAft>
                <a:spcPts val="500"/>
              </a:spcAft>
              <a:defRPr sz="1900" b="0" i="0">
                <a:solidFill>
                  <a:srgbClr val="FFFFFF"/>
                </a:solidFill>
                <a:latin typeface="Georgia"/>
              </a:defRPr>
            </a:pPr>
            <a:r>
              <a:t>to judge the living and the dead</a:t>
            </a:r>
          </a:p>
          <a:p>
            <a:pPr algn="ctr">
              <a:spcAft>
                <a:spcPts val="500"/>
              </a:spcAft>
              <a:defRPr sz="1900" b="0" i="0">
                <a:solidFill>
                  <a:srgbClr val="FFFFFF"/>
                </a:solidFill>
                <a:latin typeface="Georgia"/>
              </a:defRPr>
            </a:pPr>
            <a:r>
              <a:t>and his kingdom will have no end.</a:t>
            </a:r>
          </a:p>
          <a:p>
            <a:pPr algn="ctr">
              <a:spcAft>
                <a:spcPts val="500"/>
              </a:spcAft>
              <a:defRPr sz="1900" b="0" i="0">
                <a:solidFill>
                  <a:srgbClr val="FFFFFF"/>
                </a:solidFill>
                <a:latin typeface="Georgia"/>
              </a:defRPr>
            </a:pPr>
            <a:r>
              <a:t>I believe in the Holy Spirit, the Lord, the giver of life,</a:t>
            </a:r>
          </a:p>
          <a:p>
            <a:pPr algn="ctr">
              <a:spcAft>
                <a:spcPts val="500"/>
              </a:spcAft>
              <a:defRPr sz="1900" b="0" i="0">
                <a:solidFill>
                  <a:srgbClr val="FFFFFF"/>
                </a:solidFill>
                <a:latin typeface="Georgia"/>
              </a:defRPr>
            </a:pPr>
            <a:r>
              <a:t>who proceeds from the Father and the Son,</a:t>
            </a:r>
          </a:p>
          <a:p>
            <a:pPr algn="ctr">
              <a:spcAft>
                <a:spcPts val="500"/>
              </a:spcAft>
              <a:defRPr sz="1900" b="0" i="0">
                <a:solidFill>
                  <a:srgbClr val="FFFFFF"/>
                </a:solidFill>
                <a:latin typeface="Georgia"/>
              </a:defRPr>
            </a:pPr>
            <a:r>
              <a:t>who with the Father and the Son is adored and glorified,</a:t>
            </a:r>
          </a:p>
          <a:p>
            <a:pPr algn="ctr">
              <a:spcAft>
                <a:spcPts val="500"/>
              </a:spcAft>
              <a:defRPr sz="1900" b="0" i="0">
                <a:solidFill>
                  <a:srgbClr val="FFFFFF"/>
                </a:solidFill>
                <a:latin typeface="Georgia"/>
              </a:defRPr>
            </a:pPr>
            <a:r>
              <a:t>who has spoken through the prophets.</a:t>
            </a:r>
          </a:p>
          <a:p>
            <a:pPr algn="ctr">
              <a:spcAft>
                <a:spcPts val="500"/>
              </a:spcAft>
              <a:defRPr sz="1900" b="0" i="0">
                <a:solidFill>
                  <a:srgbClr val="FFFFFF"/>
                </a:solidFill>
                <a:latin typeface="Georgia"/>
              </a:defRPr>
            </a:pPr>
            <a:r>
              <a:t>I believe in one, holy, catholic and apostolic Church.</a:t>
            </a:r>
          </a:p>
          <a:p>
            <a:pPr algn="ctr">
              <a:spcAft>
                <a:spcPts val="500"/>
              </a:spcAft>
              <a:defRPr sz="1900" b="0" i="0">
                <a:solidFill>
                  <a:srgbClr val="FFFFFF"/>
                </a:solidFill>
                <a:latin typeface="Georgia"/>
              </a:defRPr>
            </a:pPr>
            <a:r>
              <a:t>I confess one Baptism for the forgiveness of sins</a:t>
            </a:r>
          </a:p>
          <a:p>
            <a:pPr algn="ctr">
              <a:spcAft>
                <a:spcPts val="500"/>
              </a:spcAft>
              <a:defRPr sz="1900" b="0" i="0">
                <a:solidFill>
                  <a:srgbClr val="FFFFFF"/>
                </a:solidFill>
                <a:latin typeface="Georgia"/>
              </a:defRPr>
            </a:pPr>
            <a:r>
              <a:t>and I look forward to the resurrection of the dead</a:t>
            </a:r>
          </a:p>
          <a:p>
            <a:pPr algn="ctr">
              <a:spcAft>
                <a:spcPts val="500"/>
              </a:spcAft>
              <a:defRPr sz="1900" b="0" i="0">
                <a:solidFill>
                  <a:srgbClr val="FFFFFF"/>
                </a:solidFill>
                <a:latin typeface="Georgia"/>
              </a:defRPr>
            </a:pPr>
            <a:r>
              <a:t>and the life of the world to come. Amen.</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F8C66A"/>
                </a:solidFill>
                <a:latin typeface="Georgia"/>
              </a:defRPr>
            </a:pPr>
            <a:r>
              <a:t>Gwangju Filipino Catholic Community</a:t>
            </a:r>
          </a:p>
          <a:p>
            <a:pPr>
              <a:spcBef>
                <a:spcPts val="200"/>
              </a:spcBef>
              <a:defRPr sz="1200" b="0" i="0">
                <a:solidFill>
                  <a:srgbClr val="D8B4FE"/>
                </a:solidFill>
                <a:latin typeface="Georgia"/>
              </a:defRPr>
            </a:pPr>
            <a:r>
              <a:t>Nicene Creed</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GFCC17May2026_Eastertide_16x9.png"/>
          <p:cNvPicPr>
            <a:picLocks noChangeAspect="1"/>
          </p:cNvPicPr>
          <p:nvPr/>
        </p:nvPicPr>
        <p:blipFill>
          <a:blip r:embed="rId2"/>
          <a:stretch>
            <a:fillRect/>
          </a:stretch>
        </p:blipFill>
        <p:spPr>
          <a:xfrm>
            <a:off x="0" y="0"/>
            <a:ext cx="18288000" cy="10287000"/>
          </a:xfrm>
          <a:prstGeom prst="rect">
            <a:avLst/>
          </a:prstGeom>
        </p:spPr>
      </p:pic>
      <p:pic>
        <p:nvPicPr>
          <p:cNvPr id="3" name="Picture 2" descr="community_logo.png"/>
          <p:cNvPicPr>
            <a:picLocks noChangeAspect="1"/>
          </p:cNvPicPr>
          <p:nvPr/>
        </p:nvPicPr>
        <p:blipFill>
          <a:blip r:embed="rId3"/>
          <a:stretch>
            <a:fillRect/>
          </a:stretch>
        </p:blipFill>
        <p:spPr>
          <a:xfrm>
            <a:off x="914400" y="256032"/>
            <a:ext cx="387682" cy="384048"/>
          </a:xfrm>
          <a:prstGeom prst="rect">
            <a:avLst/>
          </a:prstGeom>
        </p:spPr>
      </p:pic>
      <p:sp>
        <p:nvSpPr>
          <p:cNvPr id="4" name="TextBox 3"/>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5" name="TextBox 4"/>
          <p:cNvSpPr txBox="1"/>
          <p:nvPr/>
        </p:nvSpPr>
        <p:spPr>
          <a:xfrm>
            <a:off x="914400" y="1810512"/>
            <a:ext cx="16459200" cy="5943600"/>
          </a:xfrm>
          <a:prstGeom prst="rect">
            <a:avLst/>
          </a:prstGeom>
          <a:noFill/>
        </p:spPr>
        <p:txBody>
          <a:bodyPr wrap="square" lIns="109728" rIns="109728" tIns="73152" bIns="73152">
            <a:noAutofit/>
          </a:bodyPr>
          <a:lstStyle/>
          <a:p>
            <a:pPr>
              <a:spcAft>
                <a:spcPts val="300"/>
              </a:spcAft>
              <a:defRPr sz="2100" b="1" i="0">
                <a:solidFill>
                  <a:srgbClr val="D8B4FE"/>
                </a:solidFill>
                <a:latin typeface="Georgia"/>
              </a:defRPr>
            </a:pPr>
            <a:r>
              <a:t>MASS CELEBRANT:</a:t>
            </a:r>
          </a:p>
          <a:p>
            <a:pPr>
              <a:spcAft>
                <a:spcPts val="300"/>
              </a:spcAft>
              <a:defRPr sz="2100" b="0" i="0">
                <a:solidFill>
                  <a:srgbClr val="FFFFFF"/>
                </a:solidFill>
                <a:latin typeface="Georgia"/>
              </a:defRPr>
            </a:pPr>
            <a:r>
              <a:t>Rev. Fr. Jonrey Lauron, RCJ</a:t>
            </a:r>
          </a:p>
          <a:p>
            <a:pPr>
              <a:spcAft>
                <a:spcPts val="300"/>
              </a:spcAft>
              <a:defRPr sz="2100" b="0" i="0">
                <a:solidFill>
                  <a:srgbClr val="FFFFFF"/>
                </a:solidFill>
                <a:latin typeface="Georgia"/>
              </a:defRPr>
            </a:pPr>
          </a:p>
          <a:p>
            <a:pPr>
              <a:spcAft>
                <a:spcPts val="300"/>
              </a:spcAft>
              <a:defRPr sz="2100" b="0" i="0">
                <a:solidFill>
                  <a:srgbClr val="FFFFFF"/>
                </a:solidFill>
                <a:latin typeface="Georgia"/>
              </a:defRPr>
            </a:pPr>
            <a:r>
              <a:t>Gwangju</a:t>
            </a:r>
            <a:br/>
            <a:r>
              <a:t>Filipino</a:t>
            </a:r>
            <a:br/>
            <a:r>
              <a:t>Catholic</a:t>
            </a:r>
            <a:br/>
            <a:r>
              <a:t>Community</a:t>
            </a:r>
          </a:p>
          <a:p>
            <a:pPr>
              <a:spcAft>
                <a:spcPts val="300"/>
              </a:spcAft>
              <a:defRPr sz="2100" b="0" i="0">
                <a:solidFill>
                  <a:srgbClr val="FFFFFF"/>
                </a:solidFill>
                <a:latin typeface="Georgia"/>
              </a:defRPr>
            </a:pPr>
          </a:p>
          <a:p>
            <a:pPr>
              <a:spcAft>
                <a:spcPts val="300"/>
              </a:spcAft>
              <a:defRPr sz="2100" b="0" i="0">
                <a:solidFill>
                  <a:srgbClr val="FFFFFF"/>
                </a:solidFill>
                <a:latin typeface="Georgia"/>
              </a:defRPr>
            </a:pPr>
            <a:r>
              <a:t>Gospel (Matthew 28:16-20)</a:t>
            </a:r>
          </a:p>
          <a:p>
            <a:pPr>
              <a:spcAft>
                <a:spcPts val="300"/>
              </a:spcAft>
              <a:defRPr sz="2100" b="0" i="0">
                <a:solidFill>
                  <a:srgbClr val="FFFFFF"/>
                </a:solidFill>
                <a:latin typeface="Georgia"/>
              </a:defRPr>
            </a:pPr>
            <a:r>
              <a:t>“All authority has been given to me in heaven and on earth.”</a:t>
            </a:r>
          </a:p>
          <a:p>
            <a:pPr>
              <a:spcAft>
                <a:spcPts val="300"/>
              </a:spcAft>
              <a:defRPr sz="2100" b="0" i="0">
                <a:solidFill>
                  <a:srgbClr val="FFFFFF"/>
                </a:solidFill>
                <a:latin typeface="Georgia"/>
              </a:defRPr>
            </a:pPr>
          </a:p>
          <a:p>
            <a:pPr>
              <a:spcAft>
                <a:spcPts val="300"/>
              </a:spcAft>
              <a:defRPr sz="2100" b="0" i="0">
                <a:solidFill>
                  <a:srgbClr val="FFFFFF"/>
                </a:solidFill>
                <a:latin typeface="Georgia"/>
              </a:defRPr>
            </a:pPr>
            <a:r>
              <a:t>YEAR A</a:t>
            </a:r>
          </a:p>
          <a:p>
            <a:pPr>
              <a:spcAft>
                <a:spcPts val="300"/>
              </a:spcAft>
              <a:defRPr sz="2100" b="0" i="0">
                <a:solidFill>
                  <a:srgbClr val="FFFFFF"/>
                </a:solidFill>
                <a:latin typeface="Georgia"/>
              </a:defRPr>
            </a:pPr>
            <a:r>
              <a:t>2026-05-17 · Eastertide</a:t>
            </a:r>
          </a:p>
        </p:txBody>
      </p:sp>
      <p:sp>
        <p:nvSpPr>
          <p:cNvPr id="6" name="TextBox 5"/>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F8C66A"/>
                </a:solidFill>
                <a:latin typeface="Georgia"/>
              </a:defRPr>
            </a:pPr>
            <a:r>
              <a:t>Gwangju Filipino Catholic Community</a:t>
            </a:r>
          </a:p>
          <a:p>
            <a:pPr>
              <a:spcBef>
                <a:spcPts val="200"/>
              </a:spcBef>
              <a:defRPr sz="1200" b="0" i="0">
                <a:solidFill>
                  <a:srgbClr val="D8B4FE"/>
                </a:solidFill>
                <a:latin typeface="Georgia"/>
              </a:defRPr>
            </a:pPr>
            <a:r>
              <a:t>Mass poster / divider</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490472"/>
            <a:ext cx="16459200" cy="7790688"/>
          </a:xfrm>
          <a:prstGeom prst="rect">
            <a:avLst/>
          </a:prstGeom>
          <a:noFill/>
        </p:spPr>
        <p:txBody>
          <a:bodyPr wrap="square" lIns="109728" rIns="109728" tIns="73152" bIns="73152">
            <a:noAutofit/>
          </a:bodyPr>
          <a:lstStyle/>
          <a:p>
            <a:pPr algn="ctr">
              <a:spcAft>
                <a:spcPts val="500"/>
              </a:spcAft>
              <a:defRPr sz="1500" b="0" i="1">
                <a:solidFill>
                  <a:srgbClr val="D8B4FE"/>
                </a:solidFill>
                <a:latin typeface="Georgia"/>
              </a:defRPr>
            </a:pPr>
            <a:r>
              <a:t>The Universal Prayer is led so that each petition is spoken in full and each response by the people is sung or said in full (for example, “Lord, hear our prayer”), never abbreviated.</a:t>
            </a:r>
          </a:p>
          <a:p>
            <a:pPr algn="ctr">
              <a:spcBef>
                <a:spcPts val="400"/>
              </a:spcBef>
              <a:spcAft>
                <a:spcPts val="500"/>
              </a:spcAft>
              <a:defRPr sz="2000" b="1" i="0">
                <a:solidFill>
                  <a:srgbClr val="D8B4FE"/>
                </a:solidFill>
                <a:latin typeface="Georgia"/>
              </a:defRPr>
            </a:pPr>
            <a:r>
              <a:t>Priest: For the holy Church of God throughout the world, that the Lord may guard her and grant her peace and unity according to his will: let us pray to the Lord.</a:t>
            </a:r>
          </a:p>
          <a:p>
            <a:pPr algn="ctr">
              <a:spcBef>
                <a:spcPts val="400"/>
              </a:spcBef>
              <a:spcAft>
                <a:spcPts val="500"/>
              </a:spcAft>
              <a:defRPr sz="2000" b="1" i="0">
                <a:solidFill>
                  <a:srgbClr val="FFFFFF"/>
                </a:solidFill>
                <a:latin typeface="Georgia"/>
              </a:defRPr>
            </a:pPr>
            <a:r>
              <a:t>All: Lord, hear our prayer.</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F8C66A"/>
                </a:solidFill>
                <a:latin typeface="Georgia"/>
              </a:defRPr>
            </a:pPr>
            <a:r>
              <a:t>Gwangju Filipino Catholic Community</a:t>
            </a:r>
          </a:p>
          <a:p>
            <a:pPr>
              <a:spcBef>
                <a:spcPts val="200"/>
              </a:spcBef>
              <a:defRPr sz="1200" b="0" i="0">
                <a:solidFill>
                  <a:srgbClr val="D8B4FE"/>
                </a:solidFill>
                <a:latin typeface="Georgia"/>
              </a:defRPr>
            </a:pPr>
            <a:r>
              <a:t>Prayer of the Faithful</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490472"/>
            <a:ext cx="16459200" cy="7790688"/>
          </a:xfrm>
          <a:prstGeom prst="rect">
            <a:avLst/>
          </a:prstGeom>
          <a:noFill/>
        </p:spPr>
        <p:txBody>
          <a:bodyPr wrap="square" lIns="109728" rIns="109728" tIns="73152" bIns="73152">
            <a:noAutofit/>
          </a:bodyPr>
          <a:lstStyle/>
          <a:p>
            <a:pPr algn="ctr">
              <a:spcBef>
                <a:spcPts val="400"/>
              </a:spcBef>
              <a:spcAft>
                <a:spcPts val="500"/>
              </a:spcAft>
              <a:defRPr sz="2000" b="1" i="0">
                <a:solidFill>
                  <a:srgbClr val="D8B4FE"/>
                </a:solidFill>
                <a:latin typeface="Georgia"/>
              </a:defRPr>
            </a:pPr>
            <a:r>
              <a:t>Priest: The Priest concludes the Prayer of the Faithful with a prayer in full, for example:</a:t>
            </a:r>
          </a:p>
          <a:p>
            <a:pPr algn="ctr">
              <a:spcBef>
                <a:spcPts val="400"/>
              </a:spcBef>
              <a:spcAft>
                <a:spcPts val="500"/>
              </a:spcAft>
              <a:defRPr sz="2000" b="1" i="0">
                <a:solidFill>
                  <a:srgbClr val="D8B4FE"/>
                </a:solidFill>
                <a:latin typeface="Georgia"/>
              </a:defRPr>
            </a:pPr>
            <a:r>
              <a:t>Priest: Heavenly Father, hear the prayers of the Church, which we make through Christ our Lord.</a:t>
            </a:r>
          </a:p>
          <a:p>
            <a:pPr algn="ctr">
              <a:spcBef>
                <a:spcPts val="400"/>
              </a:spcBef>
              <a:spcAft>
                <a:spcPts val="500"/>
              </a:spcAft>
              <a:defRPr sz="2000" b="1" i="0">
                <a:solidFill>
                  <a:srgbClr val="FFFFFF"/>
                </a:solidFill>
                <a:latin typeface="Georgia"/>
              </a:defRPr>
            </a:pPr>
            <a:r>
              <a:t>All: Amen.</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F8C66A"/>
                </a:solidFill>
                <a:latin typeface="Georgia"/>
              </a:defRPr>
            </a:pPr>
            <a:r>
              <a:t>Gwangju Filipino Catholic Community</a:t>
            </a:r>
          </a:p>
          <a:p>
            <a:pPr>
              <a:spcBef>
                <a:spcPts val="200"/>
              </a:spcBef>
              <a:defRPr sz="1200" b="0" i="0">
                <a:solidFill>
                  <a:srgbClr val="D8B4FE"/>
                </a:solidFill>
                <a:latin typeface="Georgia"/>
              </a:defRPr>
            </a:pPr>
            <a:r>
              <a:t>Prayer of the Faithful</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GFCC17May2026_Eastertide_16x9.png"/>
          <p:cNvPicPr>
            <a:picLocks noChangeAspect="1"/>
          </p:cNvPicPr>
          <p:nvPr/>
        </p:nvPicPr>
        <p:blipFill>
          <a:blip r:embed="rId2"/>
          <a:stretch>
            <a:fillRect/>
          </a:stretch>
        </p:blipFill>
        <p:spPr>
          <a:xfrm>
            <a:off x="0" y="0"/>
            <a:ext cx="18288000" cy="10287000"/>
          </a:xfrm>
          <a:prstGeom prst="rect">
            <a:avLst/>
          </a:prstGeom>
        </p:spPr>
      </p:pic>
      <p:pic>
        <p:nvPicPr>
          <p:cNvPr id="3" name="Picture 2" descr="community_logo.png"/>
          <p:cNvPicPr>
            <a:picLocks noChangeAspect="1"/>
          </p:cNvPicPr>
          <p:nvPr/>
        </p:nvPicPr>
        <p:blipFill>
          <a:blip r:embed="rId3"/>
          <a:stretch>
            <a:fillRect/>
          </a:stretch>
        </p:blipFill>
        <p:spPr>
          <a:xfrm>
            <a:off x="914400" y="256032"/>
            <a:ext cx="387682" cy="384048"/>
          </a:xfrm>
          <a:prstGeom prst="rect">
            <a:avLst/>
          </a:prstGeom>
        </p:spPr>
      </p:pic>
      <p:sp>
        <p:nvSpPr>
          <p:cNvPr id="4" name="TextBox 3"/>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5" name="TextBox 4"/>
          <p:cNvSpPr txBox="1"/>
          <p:nvPr/>
        </p:nvSpPr>
        <p:spPr>
          <a:xfrm>
            <a:off x="914400" y="1810512"/>
            <a:ext cx="16459200" cy="5943600"/>
          </a:xfrm>
          <a:prstGeom prst="rect">
            <a:avLst/>
          </a:prstGeom>
          <a:noFill/>
        </p:spPr>
        <p:txBody>
          <a:bodyPr wrap="square" lIns="109728" rIns="109728" tIns="73152" bIns="73152">
            <a:noAutofit/>
          </a:bodyPr>
          <a:lstStyle/>
          <a:p>
            <a:pPr>
              <a:spcAft>
                <a:spcPts val="300"/>
              </a:spcAft>
              <a:defRPr sz="2100" b="1" i="0">
                <a:solidFill>
                  <a:srgbClr val="D8B4FE"/>
                </a:solidFill>
                <a:latin typeface="Georgia"/>
              </a:defRPr>
            </a:pPr>
            <a:r>
              <a:t>MASS CELEBRANT:</a:t>
            </a:r>
          </a:p>
          <a:p>
            <a:pPr>
              <a:spcAft>
                <a:spcPts val="300"/>
              </a:spcAft>
              <a:defRPr sz="2100" b="0" i="0">
                <a:solidFill>
                  <a:srgbClr val="FFFFFF"/>
                </a:solidFill>
                <a:latin typeface="Georgia"/>
              </a:defRPr>
            </a:pPr>
            <a:r>
              <a:t>Rev. Fr. Jonrey Lauron, RCJ</a:t>
            </a:r>
          </a:p>
          <a:p>
            <a:pPr>
              <a:spcAft>
                <a:spcPts val="300"/>
              </a:spcAft>
              <a:defRPr sz="2100" b="0" i="0">
                <a:solidFill>
                  <a:srgbClr val="FFFFFF"/>
                </a:solidFill>
                <a:latin typeface="Georgia"/>
              </a:defRPr>
            </a:pPr>
          </a:p>
          <a:p>
            <a:pPr>
              <a:spcAft>
                <a:spcPts val="300"/>
              </a:spcAft>
              <a:defRPr sz="2100" b="0" i="0">
                <a:solidFill>
                  <a:srgbClr val="FFFFFF"/>
                </a:solidFill>
                <a:latin typeface="Georgia"/>
              </a:defRPr>
            </a:pPr>
            <a:r>
              <a:t>Gwangju</a:t>
            </a:r>
            <a:br/>
            <a:r>
              <a:t>Filipino</a:t>
            </a:r>
            <a:br/>
            <a:r>
              <a:t>Catholic</a:t>
            </a:r>
            <a:br/>
            <a:r>
              <a:t>Community</a:t>
            </a:r>
          </a:p>
          <a:p>
            <a:pPr>
              <a:spcAft>
                <a:spcPts val="300"/>
              </a:spcAft>
              <a:defRPr sz="2100" b="0" i="0">
                <a:solidFill>
                  <a:srgbClr val="FFFFFF"/>
                </a:solidFill>
                <a:latin typeface="Georgia"/>
              </a:defRPr>
            </a:pPr>
          </a:p>
          <a:p>
            <a:pPr>
              <a:spcAft>
                <a:spcPts val="300"/>
              </a:spcAft>
              <a:defRPr sz="2100" b="0" i="0">
                <a:solidFill>
                  <a:srgbClr val="FFFFFF"/>
                </a:solidFill>
                <a:latin typeface="Georgia"/>
              </a:defRPr>
            </a:pPr>
            <a:r>
              <a:t>Gospel (Matthew 28:16-20)</a:t>
            </a:r>
          </a:p>
          <a:p>
            <a:pPr>
              <a:spcAft>
                <a:spcPts val="300"/>
              </a:spcAft>
              <a:defRPr sz="2100" b="0" i="0">
                <a:solidFill>
                  <a:srgbClr val="FFFFFF"/>
                </a:solidFill>
                <a:latin typeface="Georgia"/>
              </a:defRPr>
            </a:pPr>
            <a:r>
              <a:t>“All authority has been given to me in heaven and on earth.”</a:t>
            </a:r>
          </a:p>
          <a:p>
            <a:pPr>
              <a:spcAft>
                <a:spcPts val="300"/>
              </a:spcAft>
              <a:defRPr sz="2100" b="0" i="0">
                <a:solidFill>
                  <a:srgbClr val="FFFFFF"/>
                </a:solidFill>
                <a:latin typeface="Georgia"/>
              </a:defRPr>
            </a:pPr>
          </a:p>
          <a:p>
            <a:pPr>
              <a:spcAft>
                <a:spcPts val="300"/>
              </a:spcAft>
              <a:defRPr sz="2100" b="0" i="0">
                <a:solidFill>
                  <a:srgbClr val="FFFFFF"/>
                </a:solidFill>
                <a:latin typeface="Georgia"/>
              </a:defRPr>
            </a:pPr>
            <a:r>
              <a:t>YEAR A</a:t>
            </a:r>
          </a:p>
          <a:p>
            <a:pPr>
              <a:spcAft>
                <a:spcPts val="300"/>
              </a:spcAft>
              <a:defRPr sz="2100" b="0" i="0">
                <a:solidFill>
                  <a:srgbClr val="FFFFFF"/>
                </a:solidFill>
                <a:latin typeface="Georgia"/>
              </a:defRPr>
            </a:pPr>
            <a:r>
              <a:t>2026-05-17 · Eastertide</a:t>
            </a:r>
          </a:p>
        </p:txBody>
      </p:sp>
      <p:sp>
        <p:nvSpPr>
          <p:cNvPr id="6" name="TextBox 5"/>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F8C66A"/>
                </a:solidFill>
                <a:latin typeface="Georgia"/>
              </a:defRPr>
            </a:pPr>
            <a:r>
              <a:t>Gwangju Filipino Catholic Community</a:t>
            </a:r>
          </a:p>
          <a:p>
            <a:pPr>
              <a:spcBef>
                <a:spcPts val="200"/>
              </a:spcBef>
              <a:defRPr sz="1200" b="0" i="0">
                <a:solidFill>
                  <a:srgbClr val="D8B4FE"/>
                </a:solidFill>
                <a:latin typeface="Georgia"/>
              </a:defRPr>
            </a:pPr>
            <a:r>
              <a:t>Mass poster / divider</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490472"/>
            <a:ext cx="16459200" cy="868680"/>
          </a:xfrm>
          <a:prstGeom prst="rect">
            <a:avLst/>
          </a:prstGeom>
          <a:noFill/>
        </p:spPr>
        <p:txBody>
          <a:bodyPr wrap="square" lIns="109728" rIns="109728" tIns="73152" bIns="73152">
            <a:noAutofit/>
          </a:bodyPr>
          <a:lstStyle/>
          <a:p>
            <a:pPr algn="ctr">
              <a:defRPr sz="3800" b="1" i="0">
                <a:solidFill>
                  <a:srgbClr val="FFCC4D"/>
                </a:solidFill>
                <a:latin typeface="Georgia"/>
              </a:defRPr>
            </a:pPr>
            <a:r>
              <a:t>I Am the Bread of Life</a:t>
            </a:r>
          </a:p>
        </p:txBody>
      </p:sp>
      <p:sp>
        <p:nvSpPr>
          <p:cNvPr id="5" name="TextBox 4"/>
          <p:cNvSpPr txBox="1"/>
          <p:nvPr/>
        </p:nvSpPr>
        <p:spPr>
          <a:xfrm>
            <a:off x="914400" y="2587752"/>
            <a:ext cx="16459200" cy="6830568"/>
          </a:xfrm>
          <a:prstGeom prst="rect">
            <a:avLst/>
          </a:prstGeom>
          <a:noFill/>
        </p:spPr>
        <p:txBody>
          <a:bodyPr wrap="square" lIns="109728" rIns="109728" tIns="73152" bIns="73152" anchor="ctr">
            <a:noAutofit/>
          </a:bodyPr>
          <a:lstStyle/>
          <a:p>
            <a:pPr algn="ctr">
              <a:lnSpc>
                <a:spcPct val="105000"/>
              </a:lnSpc>
              <a:spcAft>
                <a:spcPts val="1000"/>
              </a:spcAft>
              <a:defRPr sz="5500" b="1" i="0">
                <a:solidFill>
                  <a:srgbClr val="FFFFFF"/>
                </a:solidFill>
                <a:latin typeface="Arial Black"/>
              </a:defRPr>
            </a:pPr>
            <a:r>
              <a:t>I AM THE BREAD OF LIFE;</a:t>
            </a:r>
          </a:p>
          <a:p>
            <a:pPr algn="ctr">
              <a:lnSpc>
                <a:spcPct val="105000"/>
              </a:lnSpc>
              <a:spcAft>
                <a:spcPts val="1000"/>
              </a:spcAft>
              <a:defRPr sz="5500" b="1" i="0">
                <a:solidFill>
                  <a:srgbClr val="FFFFFF"/>
                </a:solidFill>
                <a:latin typeface="Arial Black"/>
              </a:defRPr>
            </a:pPr>
            <a:r>
              <a:t>ALL WHO COME TO ME SHALL NOT HUNGER,</a:t>
            </a:r>
          </a:p>
          <a:p>
            <a:pPr algn="ctr">
              <a:lnSpc>
                <a:spcPct val="105000"/>
              </a:lnSpc>
              <a:spcAft>
                <a:spcPts val="1000"/>
              </a:spcAft>
              <a:defRPr sz="5500" b="1" i="0">
                <a:solidFill>
                  <a:srgbClr val="FFFFFF"/>
                </a:solidFill>
                <a:latin typeface="Arial Black"/>
              </a:defRPr>
            </a:pPr>
            <a:r>
              <a:t>AND WHO BELIEVE IN ME SHALL NOT THIRST.</a:t>
            </a:r>
          </a:p>
          <a:p>
            <a:pPr algn="ctr">
              <a:lnSpc>
                <a:spcPct val="105000"/>
              </a:lnSpc>
              <a:spcAft>
                <a:spcPts val="1000"/>
              </a:spcAft>
              <a:defRPr sz="5500" b="1" i="0">
                <a:solidFill>
                  <a:srgbClr val="FFFFFF"/>
                </a:solidFill>
                <a:latin typeface="Arial Black"/>
              </a:defRPr>
            </a:pPr>
            <a:r>
              <a:t>NO ONE CAN COME TO ME UNLESS</a:t>
            </a:r>
          </a:p>
          <a:p>
            <a:pPr algn="ctr">
              <a:lnSpc>
                <a:spcPct val="105000"/>
              </a:lnSpc>
              <a:spcAft>
                <a:spcPts val="1000"/>
              </a:spcAft>
              <a:defRPr sz="5500" b="1" i="0">
                <a:solidFill>
                  <a:srgbClr val="FFFFFF"/>
                </a:solidFill>
                <a:latin typeface="Arial Black"/>
              </a:defRPr>
            </a:pPr>
            <a:r>
              <a:t>MY FATHER BECKONS.</a:t>
            </a:r>
          </a:p>
        </p:txBody>
      </p:sp>
      <p:sp>
        <p:nvSpPr>
          <p:cNvPr id="6" name="TextBox 5"/>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8C8C91"/>
                </a:solidFill>
                <a:latin typeface="Georgia"/>
              </a:defRPr>
            </a:pPr>
            <a:r>
              <a:t>Gwangju Filipino Catholic Community</a:t>
            </a:r>
          </a:p>
          <a:p>
            <a:pPr>
              <a:spcBef>
                <a:spcPts val="200"/>
              </a:spcBef>
              <a:defRPr sz="1200" b="0" i="0">
                <a:solidFill>
                  <a:srgbClr val="FFCC4D"/>
                </a:solidFill>
                <a:latin typeface="Georgia"/>
              </a:defRPr>
            </a:pPr>
            <a:r>
              <a:t>Offertory</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490472"/>
            <a:ext cx="16459200" cy="7927848"/>
          </a:xfrm>
          <a:prstGeom prst="rect">
            <a:avLst/>
          </a:prstGeom>
          <a:noFill/>
        </p:spPr>
        <p:txBody>
          <a:bodyPr wrap="square" lIns="109728" rIns="109728" tIns="73152" bIns="73152" anchor="ctr">
            <a:noAutofit/>
          </a:bodyPr>
          <a:lstStyle/>
          <a:p>
            <a:pPr algn="ctr">
              <a:lnSpc>
                <a:spcPct val="105000"/>
              </a:lnSpc>
              <a:spcAft>
                <a:spcPts val="1000"/>
              </a:spcAft>
              <a:defRPr sz="5000" b="1" i="0">
                <a:solidFill>
                  <a:srgbClr val="FFFFFF"/>
                </a:solidFill>
                <a:latin typeface="Arial Black"/>
              </a:defRPr>
            </a:pPr>
            <a:r>
              <a:t>AND I WILL RAISE THEM UP,</a:t>
            </a:r>
          </a:p>
          <a:p>
            <a:pPr algn="ctr">
              <a:lnSpc>
                <a:spcPct val="105000"/>
              </a:lnSpc>
              <a:spcAft>
                <a:spcPts val="1000"/>
              </a:spcAft>
              <a:defRPr sz="5000" b="1" i="0">
                <a:solidFill>
                  <a:srgbClr val="FFFFFF"/>
                </a:solidFill>
                <a:latin typeface="Arial Black"/>
              </a:defRPr>
            </a:pPr>
            <a:r>
              <a:t>AND I WILL RAISE THEM UP,</a:t>
            </a:r>
          </a:p>
          <a:p>
            <a:pPr algn="ctr">
              <a:lnSpc>
                <a:spcPct val="105000"/>
              </a:lnSpc>
              <a:spcAft>
                <a:spcPts val="1000"/>
              </a:spcAft>
              <a:defRPr sz="5000" b="1" i="0">
                <a:solidFill>
                  <a:srgbClr val="FFFFFF"/>
                </a:solidFill>
                <a:latin typeface="Arial Black"/>
              </a:defRPr>
            </a:pPr>
            <a:r>
              <a:t>AND I WILL RAISE THEM UP ON THE LAST DAY.</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8C8C91"/>
                </a:solidFill>
                <a:latin typeface="Georgia"/>
              </a:defRPr>
            </a:pPr>
            <a:r>
              <a:t>Gwangju Filipino Catholic Community</a:t>
            </a:r>
          </a:p>
          <a:p>
            <a:pPr>
              <a:spcBef>
                <a:spcPts val="200"/>
              </a:spcBef>
              <a:defRPr sz="1200" b="0" i="0">
                <a:solidFill>
                  <a:srgbClr val="FFCC4D"/>
                </a:solidFill>
                <a:latin typeface="Georgia"/>
              </a:defRPr>
            </a:pPr>
            <a:r>
              <a:t>Offertory</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490472"/>
            <a:ext cx="16459200" cy="7927848"/>
          </a:xfrm>
          <a:prstGeom prst="rect">
            <a:avLst/>
          </a:prstGeom>
          <a:noFill/>
        </p:spPr>
        <p:txBody>
          <a:bodyPr wrap="square" lIns="109728" rIns="109728" tIns="73152" bIns="73152" anchor="ctr">
            <a:noAutofit/>
          </a:bodyPr>
          <a:lstStyle/>
          <a:p>
            <a:pPr algn="ctr">
              <a:lnSpc>
                <a:spcPct val="105000"/>
              </a:lnSpc>
              <a:spcAft>
                <a:spcPts val="1000"/>
              </a:spcAft>
              <a:defRPr sz="5500" b="1" i="0">
                <a:solidFill>
                  <a:srgbClr val="FFFFFF"/>
                </a:solidFill>
                <a:latin typeface="Arial Black"/>
              </a:defRPr>
            </a:pPr>
            <a:r>
              <a:t>THE BREAD THAT I WILL GIVE</a:t>
            </a:r>
          </a:p>
          <a:p>
            <a:pPr algn="ctr">
              <a:lnSpc>
                <a:spcPct val="105000"/>
              </a:lnSpc>
              <a:spcAft>
                <a:spcPts val="1000"/>
              </a:spcAft>
              <a:defRPr sz="5500" b="1" i="0">
                <a:solidFill>
                  <a:srgbClr val="FFFFFF"/>
                </a:solidFill>
                <a:latin typeface="Arial Black"/>
              </a:defRPr>
            </a:pPr>
            <a:r>
              <a:t>IS MY FLESH FOR THE LIFE OF THE WORLD</a:t>
            </a:r>
          </a:p>
          <a:p>
            <a:pPr algn="ctr">
              <a:lnSpc>
                <a:spcPct val="105000"/>
              </a:lnSpc>
              <a:spcAft>
                <a:spcPts val="1000"/>
              </a:spcAft>
              <a:defRPr sz="5500" b="1" i="0">
                <a:solidFill>
                  <a:srgbClr val="FFFFFF"/>
                </a:solidFill>
                <a:latin typeface="Arial Black"/>
              </a:defRPr>
            </a:pPr>
            <a:r>
              <a:t>AND IF YOU EAT OF THIS BREAD,</a:t>
            </a:r>
          </a:p>
          <a:p>
            <a:pPr algn="ctr">
              <a:lnSpc>
                <a:spcPct val="105000"/>
              </a:lnSpc>
              <a:spcAft>
                <a:spcPts val="1000"/>
              </a:spcAft>
              <a:defRPr sz="5500" b="1" i="0">
                <a:solidFill>
                  <a:srgbClr val="FFFFFF"/>
                </a:solidFill>
                <a:latin typeface="Arial Black"/>
              </a:defRPr>
            </a:pPr>
            <a:r>
              <a:t>YOU SHALL LIVE FOREVER,</a:t>
            </a:r>
          </a:p>
          <a:p>
            <a:pPr algn="ctr">
              <a:lnSpc>
                <a:spcPct val="105000"/>
              </a:lnSpc>
              <a:spcAft>
                <a:spcPts val="1000"/>
              </a:spcAft>
              <a:defRPr sz="5500" b="1" i="0">
                <a:solidFill>
                  <a:srgbClr val="FFFFFF"/>
                </a:solidFill>
                <a:latin typeface="Arial Black"/>
              </a:defRPr>
            </a:pPr>
            <a:r>
              <a:t>YES, LIVE FOREVER.</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8C8C91"/>
                </a:solidFill>
                <a:latin typeface="Georgia"/>
              </a:defRPr>
            </a:pPr>
            <a:r>
              <a:t>Gwangju Filipino Catholic Community</a:t>
            </a:r>
          </a:p>
          <a:p>
            <a:pPr>
              <a:spcBef>
                <a:spcPts val="200"/>
              </a:spcBef>
              <a:defRPr sz="1200" b="0" i="0">
                <a:solidFill>
                  <a:srgbClr val="FFCC4D"/>
                </a:solidFill>
                <a:latin typeface="Georgia"/>
              </a:defRPr>
            </a:pPr>
            <a:r>
              <a:t>Offertory</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490472"/>
            <a:ext cx="16459200" cy="7927848"/>
          </a:xfrm>
          <a:prstGeom prst="rect">
            <a:avLst/>
          </a:prstGeom>
          <a:noFill/>
        </p:spPr>
        <p:txBody>
          <a:bodyPr wrap="square" lIns="109728" rIns="109728" tIns="73152" bIns="73152" anchor="ctr">
            <a:noAutofit/>
          </a:bodyPr>
          <a:lstStyle/>
          <a:p>
            <a:pPr algn="ctr">
              <a:lnSpc>
                <a:spcPct val="105000"/>
              </a:lnSpc>
              <a:spcAft>
                <a:spcPts val="1000"/>
              </a:spcAft>
              <a:defRPr sz="5500" b="1" i="0">
                <a:solidFill>
                  <a:srgbClr val="FFFFFF"/>
                </a:solidFill>
                <a:latin typeface="Arial Black"/>
              </a:defRPr>
            </a:pPr>
            <a:r>
              <a:t>UNLESS YOU EAT</a:t>
            </a:r>
          </a:p>
          <a:p>
            <a:pPr algn="ctr">
              <a:lnSpc>
                <a:spcPct val="105000"/>
              </a:lnSpc>
              <a:spcAft>
                <a:spcPts val="1000"/>
              </a:spcAft>
              <a:defRPr sz="5500" b="1" i="0">
                <a:solidFill>
                  <a:srgbClr val="FFFFFF"/>
                </a:solidFill>
                <a:latin typeface="Arial Black"/>
              </a:defRPr>
            </a:pPr>
            <a:r>
              <a:t>OF THE FLESH OF THE SON OF MAN</a:t>
            </a:r>
          </a:p>
          <a:p>
            <a:pPr algn="ctr">
              <a:lnSpc>
                <a:spcPct val="105000"/>
              </a:lnSpc>
              <a:spcAft>
                <a:spcPts val="1000"/>
              </a:spcAft>
              <a:defRPr sz="5500" b="1" i="0">
                <a:solidFill>
                  <a:srgbClr val="FFFFFF"/>
                </a:solidFill>
                <a:latin typeface="Arial Black"/>
              </a:defRPr>
            </a:pPr>
            <a:r>
              <a:t>AND DRINK OF HIS BLOOD,</a:t>
            </a:r>
          </a:p>
          <a:p>
            <a:pPr algn="ctr">
              <a:lnSpc>
                <a:spcPct val="105000"/>
              </a:lnSpc>
              <a:spcAft>
                <a:spcPts val="1000"/>
              </a:spcAft>
              <a:defRPr sz="5500" b="1" i="0">
                <a:solidFill>
                  <a:srgbClr val="FFFFFF"/>
                </a:solidFill>
                <a:latin typeface="Arial Black"/>
              </a:defRPr>
            </a:pPr>
            <a:r>
              <a:t>AND DRINK OF HIS BLOOD,</a:t>
            </a:r>
          </a:p>
          <a:p>
            <a:pPr algn="ctr">
              <a:lnSpc>
                <a:spcPct val="105000"/>
              </a:lnSpc>
              <a:spcAft>
                <a:spcPts val="1000"/>
              </a:spcAft>
              <a:defRPr sz="5500" b="1" i="0">
                <a:solidFill>
                  <a:srgbClr val="FFFFFF"/>
                </a:solidFill>
                <a:latin typeface="Arial Black"/>
              </a:defRPr>
            </a:pPr>
            <a:r>
              <a:t>THERE IS NO LIFE IN YOU,</a:t>
            </a:r>
          </a:p>
          <a:p>
            <a:pPr algn="ctr">
              <a:lnSpc>
                <a:spcPct val="105000"/>
              </a:lnSpc>
              <a:spcAft>
                <a:spcPts val="1000"/>
              </a:spcAft>
              <a:defRPr sz="5500" b="1" i="0">
                <a:solidFill>
                  <a:srgbClr val="FFFFFF"/>
                </a:solidFill>
                <a:latin typeface="Arial Black"/>
              </a:defRPr>
            </a:pPr>
            <a:r>
              <a:t>THERE IS NO LIFE IN YOU.</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8C8C91"/>
                </a:solidFill>
                <a:latin typeface="Georgia"/>
              </a:defRPr>
            </a:pPr>
            <a:r>
              <a:t>Gwangju Filipino Catholic Community</a:t>
            </a:r>
          </a:p>
          <a:p>
            <a:pPr>
              <a:spcBef>
                <a:spcPts val="200"/>
              </a:spcBef>
              <a:defRPr sz="1200" b="0" i="0">
                <a:solidFill>
                  <a:srgbClr val="FFCC4D"/>
                </a:solidFill>
                <a:latin typeface="Georgia"/>
              </a:defRPr>
            </a:pPr>
            <a:r>
              <a:t>Offertory</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490472"/>
            <a:ext cx="16459200" cy="7927848"/>
          </a:xfrm>
          <a:prstGeom prst="rect">
            <a:avLst/>
          </a:prstGeom>
          <a:noFill/>
        </p:spPr>
        <p:txBody>
          <a:bodyPr wrap="square" lIns="109728" rIns="109728" tIns="73152" bIns="73152" anchor="ctr">
            <a:noAutofit/>
          </a:bodyPr>
          <a:lstStyle/>
          <a:p>
            <a:pPr algn="ctr">
              <a:lnSpc>
                <a:spcPct val="105000"/>
              </a:lnSpc>
              <a:spcAft>
                <a:spcPts val="1000"/>
              </a:spcAft>
              <a:defRPr sz="5000" b="1" i="0">
                <a:solidFill>
                  <a:srgbClr val="FFFFFF"/>
                </a:solidFill>
                <a:latin typeface="Arial Black"/>
              </a:defRPr>
            </a:pPr>
            <a:r>
              <a:t>AND I WILL RAISE THEM UP,</a:t>
            </a:r>
          </a:p>
          <a:p>
            <a:pPr algn="ctr">
              <a:lnSpc>
                <a:spcPct val="105000"/>
              </a:lnSpc>
              <a:spcAft>
                <a:spcPts val="1000"/>
              </a:spcAft>
              <a:defRPr sz="5000" b="1" i="0">
                <a:solidFill>
                  <a:srgbClr val="FFFFFF"/>
                </a:solidFill>
                <a:latin typeface="Arial Black"/>
              </a:defRPr>
            </a:pPr>
            <a:r>
              <a:t>AND I WILL RAISE THEM UP,</a:t>
            </a:r>
          </a:p>
          <a:p>
            <a:pPr algn="ctr">
              <a:lnSpc>
                <a:spcPct val="105000"/>
              </a:lnSpc>
              <a:spcAft>
                <a:spcPts val="1000"/>
              </a:spcAft>
              <a:defRPr sz="5000" b="1" i="0">
                <a:solidFill>
                  <a:srgbClr val="FFFFFF"/>
                </a:solidFill>
                <a:latin typeface="Arial Black"/>
              </a:defRPr>
            </a:pPr>
            <a:r>
              <a:t>AND I WILL RAISE THEM UP ON THE LAST DAY.</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8C8C91"/>
                </a:solidFill>
                <a:latin typeface="Georgia"/>
              </a:defRPr>
            </a:pPr>
            <a:r>
              <a:t>Gwangju Filipino Catholic Community</a:t>
            </a:r>
          </a:p>
          <a:p>
            <a:pPr>
              <a:spcBef>
                <a:spcPts val="200"/>
              </a:spcBef>
              <a:defRPr sz="1200" b="0" i="0">
                <a:solidFill>
                  <a:srgbClr val="FFCC4D"/>
                </a:solidFill>
                <a:latin typeface="Georgia"/>
              </a:defRPr>
            </a:pPr>
            <a:r>
              <a:t>Offertory</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719072"/>
            <a:ext cx="16459200" cy="4114800"/>
          </a:xfrm>
          <a:prstGeom prst="rect">
            <a:avLst/>
          </a:prstGeom>
          <a:noFill/>
        </p:spPr>
        <p:txBody>
          <a:bodyPr wrap="square" lIns="109728" rIns="109728" tIns="73152" bIns="73152">
            <a:noAutofit/>
          </a:bodyPr>
          <a:lstStyle/>
          <a:p>
            <a:pPr algn="ctr">
              <a:defRPr sz="4400" b="1" i="0">
                <a:solidFill>
                  <a:srgbClr val="D8B4FE"/>
                </a:solidFill>
                <a:latin typeface="Georgia"/>
              </a:defRPr>
            </a:pPr>
            <a:r>
              <a:t>LITURGY OF</a:t>
            </a:r>
            <a:br/>
            <a:r>
              <a:t>THE EUCHARIST</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F8C66A"/>
                </a:solidFill>
                <a:latin typeface="Georgia"/>
              </a:defRPr>
            </a:pPr>
            <a:r>
              <a:t>Gwangju Filipino Catholic Community</a:t>
            </a:r>
          </a:p>
          <a:p>
            <a:pPr>
              <a:spcBef>
                <a:spcPts val="200"/>
              </a:spcBef>
              <a:defRPr sz="1200" b="0" i="0">
                <a:solidFill>
                  <a:srgbClr val="D8B4FE"/>
                </a:solidFill>
                <a:latin typeface="Georgia"/>
              </a:defRPr>
            </a:pPr>
            <a:r>
              <a:t>Liturgy of the Eucharist</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490472"/>
            <a:ext cx="16459200" cy="7790688"/>
          </a:xfrm>
          <a:prstGeom prst="rect">
            <a:avLst/>
          </a:prstGeom>
          <a:noFill/>
        </p:spPr>
        <p:txBody>
          <a:bodyPr wrap="square" lIns="109728" rIns="109728" tIns="73152" bIns="73152">
            <a:noAutofit/>
          </a:bodyPr>
          <a:lstStyle/>
          <a:p>
            <a:pPr algn="ctr">
              <a:spcBef>
                <a:spcPts val="400"/>
              </a:spcBef>
              <a:spcAft>
                <a:spcPts val="500"/>
              </a:spcAft>
              <a:defRPr sz="2000" b="1" i="0">
                <a:solidFill>
                  <a:srgbClr val="D8B4FE"/>
                </a:solidFill>
                <a:latin typeface="Georgia"/>
              </a:defRPr>
            </a:pPr>
            <a:r>
              <a:t>Priest: Pray, brethren, that my sacrifice and yours may be acceptable to God, the almighty Father.</a:t>
            </a:r>
          </a:p>
          <a:p>
            <a:pPr algn="ctr">
              <a:spcBef>
                <a:spcPts val="400"/>
              </a:spcBef>
              <a:spcAft>
                <a:spcPts val="500"/>
              </a:spcAft>
              <a:defRPr sz="2000" b="1" i="0">
                <a:solidFill>
                  <a:srgbClr val="FFFFFF"/>
                </a:solidFill>
                <a:latin typeface="Georgia"/>
              </a:defRPr>
            </a:pPr>
            <a:r>
              <a:t>All: May the Lord accept the sacrifice at your hands, for the praise and glory of his name, for our good and the good of all his holy Church.</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F8C66A"/>
                </a:solidFill>
                <a:latin typeface="Georgia"/>
              </a:defRPr>
            </a:pPr>
            <a:r>
              <a:t>Gwangju Filipino Catholic Community</a:t>
            </a:r>
          </a:p>
          <a:p>
            <a:pPr>
              <a:spcBef>
                <a:spcPts val="200"/>
              </a:spcBef>
              <a:defRPr sz="1200" b="0" i="0">
                <a:solidFill>
                  <a:srgbClr val="D8B4FE"/>
                </a:solidFill>
                <a:latin typeface="Georgia"/>
              </a:defRPr>
            </a:pPr>
            <a:r>
              <a:t>Liturgy of the Eucharist</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719072"/>
            <a:ext cx="16459200" cy="4114800"/>
          </a:xfrm>
          <a:prstGeom prst="rect">
            <a:avLst/>
          </a:prstGeom>
          <a:noFill/>
        </p:spPr>
        <p:txBody>
          <a:bodyPr wrap="square" lIns="109728" rIns="109728" tIns="73152" bIns="73152">
            <a:noAutofit/>
          </a:bodyPr>
          <a:lstStyle/>
          <a:p>
            <a:pPr algn="ctr">
              <a:defRPr sz="4400" b="1" i="0">
                <a:solidFill>
                  <a:srgbClr val="D8B4FE"/>
                </a:solidFill>
                <a:latin typeface="Georgia"/>
              </a:defRPr>
            </a:pPr>
            <a:r>
              <a:t>LITURGY OF</a:t>
            </a:r>
            <a:br/>
            <a:r>
              <a:t>THE EUCHARIST</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F8C66A"/>
                </a:solidFill>
                <a:latin typeface="Georgia"/>
              </a:defRPr>
            </a:pPr>
            <a:r>
              <a:t>Gwangju Filipino Catholic Community</a:t>
            </a:r>
          </a:p>
          <a:p>
            <a:pPr>
              <a:spcBef>
                <a:spcPts val="200"/>
              </a:spcBef>
              <a:defRPr sz="1200" b="0" i="0">
                <a:solidFill>
                  <a:srgbClr val="D8B4FE"/>
                </a:solidFill>
                <a:latin typeface="Georgia"/>
              </a:defRPr>
            </a:pPr>
            <a:r>
              <a:t>Liturgy of the Eucharist</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490472"/>
            <a:ext cx="16459200" cy="7790688"/>
          </a:xfrm>
          <a:prstGeom prst="rect">
            <a:avLst/>
          </a:prstGeom>
          <a:noFill/>
        </p:spPr>
        <p:txBody>
          <a:bodyPr wrap="square" lIns="109728" rIns="109728" tIns="73152" bIns="73152">
            <a:noAutofit/>
          </a:bodyPr>
          <a:lstStyle/>
          <a:p>
            <a:pPr algn="ctr">
              <a:spcBef>
                <a:spcPts val="400"/>
              </a:spcBef>
              <a:spcAft>
                <a:spcPts val="500"/>
              </a:spcAft>
              <a:defRPr sz="2000" b="1" i="0">
                <a:solidFill>
                  <a:srgbClr val="D8B4FE"/>
                </a:solidFill>
                <a:latin typeface="Georgia"/>
              </a:defRPr>
            </a:pPr>
            <a:r>
              <a:t>Priest: The Lord be with you.</a:t>
            </a:r>
          </a:p>
          <a:p>
            <a:pPr algn="ctr">
              <a:spcBef>
                <a:spcPts val="400"/>
              </a:spcBef>
              <a:spcAft>
                <a:spcPts val="500"/>
              </a:spcAft>
              <a:defRPr sz="2000" b="1" i="0">
                <a:solidFill>
                  <a:srgbClr val="FFFFFF"/>
                </a:solidFill>
                <a:latin typeface="Georgia"/>
              </a:defRPr>
            </a:pPr>
            <a:r>
              <a:t>All: And with your spirit.</a:t>
            </a:r>
          </a:p>
          <a:p>
            <a:pPr algn="ctr">
              <a:spcBef>
                <a:spcPts val="400"/>
              </a:spcBef>
              <a:spcAft>
                <a:spcPts val="500"/>
              </a:spcAft>
              <a:defRPr sz="2000" b="1" i="0">
                <a:solidFill>
                  <a:srgbClr val="D8B4FE"/>
                </a:solidFill>
                <a:latin typeface="Georgia"/>
              </a:defRPr>
            </a:pPr>
            <a:r>
              <a:t>Priest: Lift up your hearts.</a:t>
            </a:r>
          </a:p>
          <a:p>
            <a:pPr algn="ctr">
              <a:spcBef>
                <a:spcPts val="400"/>
              </a:spcBef>
              <a:spcAft>
                <a:spcPts val="500"/>
              </a:spcAft>
              <a:defRPr sz="2000" b="1" i="0">
                <a:solidFill>
                  <a:srgbClr val="FFFFFF"/>
                </a:solidFill>
                <a:latin typeface="Georgia"/>
              </a:defRPr>
            </a:pPr>
            <a:r>
              <a:t>All: We lift them up to the Lord.</a:t>
            </a:r>
          </a:p>
          <a:p>
            <a:pPr algn="ctr">
              <a:spcBef>
                <a:spcPts val="400"/>
              </a:spcBef>
              <a:spcAft>
                <a:spcPts val="500"/>
              </a:spcAft>
              <a:defRPr sz="2000" b="1" i="0">
                <a:solidFill>
                  <a:srgbClr val="D8B4FE"/>
                </a:solidFill>
                <a:latin typeface="Georgia"/>
              </a:defRPr>
            </a:pPr>
            <a:r>
              <a:t>Priest: Let us give thanks to the Lord our God.</a:t>
            </a:r>
          </a:p>
          <a:p>
            <a:pPr algn="ctr">
              <a:spcBef>
                <a:spcPts val="400"/>
              </a:spcBef>
              <a:spcAft>
                <a:spcPts val="500"/>
              </a:spcAft>
              <a:defRPr sz="2000" b="1" i="0">
                <a:solidFill>
                  <a:srgbClr val="FFFFFF"/>
                </a:solidFill>
                <a:latin typeface="Georgia"/>
              </a:defRPr>
            </a:pPr>
            <a:r>
              <a:t>All: It is right and just.</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F8C66A"/>
                </a:solidFill>
                <a:latin typeface="Georgia"/>
              </a:defRPr>
            </a:pPr>
            <a:r>
              <a:t>Gwangju Filipino Catholic Community</a:t>
            </a:r>
          </a:p>
          <a:p>
            <a:pPr>
              <a:spcBef>
                <a:spcPts val="200"/>
              </a:spcBef>
              <a:defRPr sz="1200" b="0" i="0">
                <a:solidFill>
                  <a:srgbClr val="D8B4FE"/>
                </a:solidFill>
                <a:latin typeface="Georgia"/>
              </a:defRPr>
            </a:pPr>
            <a:r>
              <a:t>Liturgy of the Eucharist</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490472"/>
            <a:ext cx="16459200" cy="7790688"/>
          </a:xfrm>
          <a:prstGeom prst="rect">
            <a:avLst/>
          </a:prstGeom>
          <a:noFill/>
        </p:spPr>
        <p:txBody>
          <a:bodyPr wrap="square" lIns="109728" rIns="109728" tIns="73152" bIns="73152">
            <a:noAutofit/>
          </a:bodyPr>
          <a:lstStyle/>
          <a:p>
            <a:pPr algn="ctr">
              <a:spcAft>
                <a:spcPts val="500"/>
              </a:spcAft>
              <a:defRPr sz="1500" b="0" i="1">
                <a:solidFill>
                  <a:srgbClr val="D8B4FE"/>
                </a:solidFill>
                <a:latin typeface="Georgia"/>
              </a:defRPr>
            </a:pPr>
            <a:r>
              <a:t>The Priest continues with the Preface of the day from the Roman Missal — the entire Preface proper for this Mass, not truncated — until the point where the people join in singing or saying the Holy, Holy (Sanctus).</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F8C66A"/>
                </a:solidFill>
                <a:latin typeface="Georgia"/>
              </a:defRPr>
            </a:pPr>
            <a:r>
              <a:t>Gwangju Filipino Catholic Community</a:t>
            </a:r>
          </a:p>
          <a:p>
            <a:pPr>
              <a:spcBef>
                <a:spcPts val="200"/>
              </a:spcBef>
              <a:defRPr sz="1200" b="0" i="0">
                <a:solidFill>
                  <a:srgbClr val="D8B4FE"/>
                </a:solidFill>
                <a:latin typeface="Georgia"/>
              </a:defRPr>
            </a:pPr>
            <a:r>
              <a:t>Liturgy of the Eucharist</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490472"/>
            <a:ext cx="16459200" cy="7790688"/>
          </a:xfrm>
          <a:prstGeom prst="rect">
            <a:avLst/>
          </a:prstGeom>
          <a:noFill/>
        </p:spPr>
        <p:txBody>
          <a:bodyPr wrap="square" lIns="109728" rIns="109728" tIns="73152" bIns="73152">
            <a:noAutofit/>
          </a:bodyPr>
          <a:lstStyle/>
          <a:p>
            <a:pPr algn="ctr">
              <a:spcBef>
                <a:spcPts val="400"/>
              </a:spcBef>
              <a:spcAft>
                <a:spcPts val="500"/>
              </a:spcAft>
              <a:defRPr sz="2000" b="1" i="0">
                <a:solidFill>
                  <a:srgbClr val="FFFFFF"/>
                </a:solidFill>
                <a:latin typeface="Georgia"/>
              </a:defRPr>
            </a:pPr>
            <a:r>
              <a:t>Holy, Holy, Holy Lord God of hosts.</a:t>
            </a:r>
          </a:p>
          <a:p>
            <a:pPr algn="ctr">
              <a:spcAft>
                <a:spcPts val="500"/>
              </a:spcAft>
              <a:defRPr sz="1900" b="0" i="0">
                <a:solidFill>
                  <a:srgbClr val="FFFFFF"/>
                </a:solidFill>
                <a:latin typeface="Georgia"/>
              </a:defRPr>
            </a:pPr>
            <a:r>
              <a:t>Heaven and earth are full of your glory.</a:t>
            </a:r>
          </a:p>
          <a:p>
            <a:pPr algn="ctr">
              <a:spcAft>
                <a:spcPts val="500"/>
              </a:spcAft>
              <a:defRPr sz="1900" b="0" i="0">
                <a:solidFill>
                  <a:srgbClr val="FFFFFF"/>
                </a:solidFill>
                <a:latin typeface="Georgia"/>
              </a:defRPr>
            </a:pPr>
            <a:r>
              <a:t>Hosanna in the highest.</a:t>
            </a:r>
          </a:p>
          <a:p>
            <a:pPr algn="ctr">
              <a:spcAft>
                <a:spcPts val="500"/>
              </a:spcAft>
              <a:defRPr sz="1900" b="0" i="0">
                <a:solidFill>
                  <a:srgbClr val="FFFFFF"/>
                </a:solidFill>
                <a:latin typeface="Georgia"/>
              </a:defRPr>
            </a:pPr>
            <a:r>
              <a:t>Blessed is he who comes in the name of the Lord.</a:t>
            </a:r>
          </a:p>
          <a:p>
            <a:pPr algn="ctr">
              <a:spcAft>
                <a:spcPts val="500"/>
              </a:spcAft>
              <a:defRPr sz="1900" b="0" i="0">
                <a:solidFill>
                  <a:srgbClr val="FFFFFF"/>
                </a:solidFill>
                <a:latin typeface="Georgia"/>
              </a:defRPr>
            </a:pPr>
            <a:r>
              <a:t>Hosanna in the highest.</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F8C66A"/>
                </a:solidFill>
                <a:latin typeface="Georgia"/>
              </a:defRPr>
            </a:pPr>
            <a:r>
              <a:t>Gwangju Filipino Catholic Community</a:t>
            </a:r>
          </a:p>
          <a:p>
            <a:pPr>
              <a:spcBef>
                <a:spcPts val="200"/>
              </a:spcBef>
              <a:defRPr sz="1200" b="0" i="0">
                <a:solidFill>
                  <a:srgbClr val="D8B4FE"/>
                </a:solidFill>
                <a:latin typeface="Georgia"/>
              </a:defRPr>
            </a:pPr>
            <a:r>
              <a:t>Sanctus</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719072"/>
            <a:ext cx="16459200" cy="4114800"/>
          </a:xfrm>
          <a:prstGeom prst="rect">
            <a:avLst/>
          </a:prstGeom>
          <a:noFill/>
        </p:spPr>
        <p:txBody>
          <a:bodyPr wrap="square" lIns="109728" rIns="109728" tIns="73152" bIns="73152">
            <a:noAutofit/>
          </a:bodyPr>
          <a:lstStyle/>
          <a:p>
            <a:pPr algn="ctr">
              <a:defRPr sz="4400" b="1" i="0">
                <a:solidFill>
                  <a:srgbClr val="D8B4FE"/>
                </a:solidFill>
                <a:latin typeface="Georgia"/>
              </a:defRPr>
            </a:pPr>
            <a:r>
              <a:t>LITURGY OF</a:t>
            </a:r>
            <a:br/>
            <a:r>
              <a:t>THE EUCHARIST</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F8C66A"/>
                </a:solidFill>
                <a:latin typeface="Georgia"/>
              </a:defRPr>
            </a:pPr>
            <a:r>
              <a:t>Gwangju Filipino Catholic Community</a:t>
            </a:r>
          </a:p>
          <a:p>
            <a:pPr>
              <a:spcBef>
                <a:spcPts val="200"/>
              </a:spcBef>
              <a:defRPr sz="1200" b="0" i="0">
                <a:solidFill>
                  <a:srgbClr val="D8B4FE"/>
                </a:solidFill>
                <a:latin typeface="Georgia"/>
              </a:defRPr>
            </a:pPr>
            <a:r>
              <a:t>Liturgy of the Eucharist</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490472"/>
            <a:ext cx="16459200" cy="7790688"/>
          </a:xfrm>
          <a:prstGeom prst="rect">
            <a:avLst/>
          </a:prstGeom>
          <a:noFill/>
        </p:spPr>
        <p:txBody>
          <a:bodyPr wrap="square" lIns="109728" rIns="109728" tIns="73152" bIns="73152">
            <a:noAutofit/>
          </a:bodyPr>
          <a:lstStyle/>
          <a:p>
            <a:pPr algn="ctr">
              <a:spcBef>
                <a:spcPts val="400"/>
              </a:spcBef>
              <a:spcAft>
                <a:spcPts val="500"/>
              </a:spcAft>
              <a:defRPr sz="2000" b="1" i="0">
                <a:solidFill>
                  <a:srgbClr val="FFFFFF"/>
                </a:solidFill>
                <a:latin typeface="Georgia"/>
              </a:defRPr>
            </a:pPr>
            <a:r>
              <a:t>All: We proclaim your Death, O Lord,</a:t>
            </a:r>
          </a:p>
          <a:p>
            <a:pPr algn="ctr">
              <a:spcAft>
                <a:spcPts val="500"/>
              </a:spcAft>
              <a:defRPr sz="1900" b="0" i="0">
                <a:solidFill>
                  <a:srgbClr val="FFFFFF"/>
                </a:solidFill>
                <a:latin typeface="Georgia"/>
              </a:defRPr>
            </a:pPr>
            <a:r>
              <a:t>and profess your Resurrection</a:t>
            </a:r>
          </a:p>
          <a:p>
            <a:pPr algn="ctr">
              <a:spcAft>
                <a:spcPts val="500"/>
              </a:spcAft>
              <a:defRPr sz="1900" b="0" i="0">
                <a:solidFill>
                  <a:srgbClr val="FFFFFF"/>
                </a:solidFill>
                <a:latin typeface="Georgia"/>
              </a:defRPr>
            </a:pPr>
            <a:r>
              <a:t>until you come again.</a:t>
            </a:r>
          </a:p>
          <a:p>
            <a:pPr algn="ctr">
              <a:spcAft>
                <a:spcPts val="500"/>
              </a:spcAft>
              <a:defRPr sz="1500" b="0" i="1">
                <a:solidFill>
                  <a:srgbClr val="D8B4FE"/>
                </a:solidFill>
                <a:latin typeface="Georgia"/>
              </a:defRPr>
            </a:pPr>
            <a:r>
              <a:t>(Alternate forms may be used as approved by the Conference of Bishops.)</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F8C66A"/>
                </a:solidFill>
                <a:latin typeface="Georgia"/>
              </a:defRPr>
            </a:pPr>
            <a:r>
              <a:t>Gwangju Filipino Catholic Community</a:t>
            </a:r>
          </a:p>
          <a:p>
            <a:pPr>
              <a:spcBef>
                <a:spcPts val="200"/>
              </a:spcBef>
              <a:defRPr sz="1200" b="0" i="0">
                <a:solidFill>
                  <a:srgbClr val="D8B4FE"/>
                </a:solidFill>
                <a:latin typeface="Georgia"/>
              </a:defRPr>
            </a:pPr>
            <a:r>
              <a:t>The Eucharistic Prayer</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719072"/>
            <a:ext cx="16459200" cy="4114800"/>
          </a:xfrm>
          <a:prstGeom prst="rect">
            <a:avLst/>
          </a:prstGeom>
          <a:noFill/>
        </p:spPr>
        <p:txBody>
          <a:bodyPr wrap="square" lIns="109728" rIns="109728" tIns="73152" bIns="73152">
            <a:noAutofit/>
          </a:bodyPr>
          <a:lstStyle/>
          <a:p>
            <a:pPr algn="ctr">
              <a:defRPr sz="4400" b="1" i="0">
                <a:solidFill>
                  <a:srgbClr val="D8B4FE"/>
                </a:solidFill>
                <a:latin typeface="Georgia"/>
              </a:defRPr>
            </a:pPr>
            <a:r>
              <a:t>LITURGY OF</a:t>
            </a:r>
            <a:br/>
            <a:r>
              <a:t>THE EUCHARIST</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F8C66A"/>
                </a:solidFill>
                <a:latin typeface="Georgia"/>
              </a:defRPr>
            </a:pPr>
            <a:r>
              <a:t>Gwangju Filipino Catholic Community</a:t>
            </a:r>
          </a:p>
          <a:p>
            <a:pPr>
              <a:spcBef>
                <a:spcPts val="200"/>
              </a:spcBef>
              <a:defRPr sz="1200" b="0" i="0">
                <a:solidFill>
                  <a:srgbClr val="D8B4FE"/>
                </a:solidFill>
                <a:latin typeface="Georgia"/>
              </a:defRPr>
            </a:pPr>
            <a:r>
              <a:t>Liturgy of the Eucharist</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490472"/>
            <a:ext cx="16459200" cy="7790688"/>
          </a:xfrm>
          <a:prstGeom prst="rect">
            <a:avLst/>
          </a:prstGeom>
          <a:noFill/>
        </p:spPr>
        <p:txBody>
          <a:bodyPr wrap="square" lIns="109728" rIns="109728" tIns="73152" bIns="73152">
            <a:noAutofit/>
          </a:bodyPr>
          <a:lstStyle/>
          <a:p>
            <a:pPr algn="ctr">
              <a:spcBef>
                <a:spcPts val="400"/>
              </a:spcBef>
              <a:spcAft>
                <a:spcPts val="500"/>
              </a:spcAft>
              <a:defRPr sz="2000" b="1" i="0">
                <a:solidFill>
                  <a:srgbClr val="FFFFFF"/>
                </a:solidFill>
                <a:latin typeface="Georgia"/>
              </a:defRPr>
            </a:pPr>
            <a:r>
              <a:t>All: Amen.</a:t>
            </a:r>
          </a:p>
          <a:p>
            <a:pPr algn="ctr">
              <a:spcAft>
                <a:spcPts val="500"/>
              </a:spcAft>
              <a:defRPr sz="1500" b="0" i="1">
                <a:solidFill>
                  <a:srgbClr val="D8B4FE"/>
                </a:solidFill>
                <a:latin typeface="Georgia"/>
              </a:defRPr>
            </a:pPr>
            <a:r>
              <a:t>The people respond “Amen” once to the doxology at the end of the Eucharistic Prayer, unless local solemn custom repeats it.</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F8C66A"/>
                </a:solidFill>
                <a:latin typeface="Georgia"/>
              </a:defRPr>
            </a:pPr>
            <a:r>
              <a:t>Gwangju Filipino Catholic Community</a:t>
            </a:r>
          </a:p>
          <a:p>
            <a:pPr>
              <a:spcBef>
                <a:spcPts val="200"/>
              </a:spcBef>
              <a:defRPr sz="1200" b="0" i="0">
                <a:solidFill>
                  <a:srgbClr val="D8B4FE"/>
                </a:solidFill>
                <a:latin typeface="Georgia"/>
              </a:defRPr>
            </a:pPr>
            <a:r>
              <a:t>Great Amen</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490472"/>
            <a:ext cx="16459200" cy="7790688"/>
          </a:xfrm>
          <a:prstGeom prst="rect">
            <a:avLst/>
          </a:prstGeom>
          <a:noFill/>
        </p:spPr>
        <p:txBody>
          <a:bodyPr wrap="square" lIns="109728" rIns="109728" tIns="73152" bIns="73152">
            <a:noAutofit/>
          </a:bodyPr>
          <a:lstStyle/>
          <a:p>
            <a:pPr algn="ctr">
              <a:spcBef>
                <a:spcPts val="400"/>
              </a:spcBef>
              <a:spcAft>
                <a:spcPts val="500"/>
              </a:spcAft>
              <a:defRPr sz="2000" b="1" i="0">
                <a:solidFill>
                  <a:srgbClr val="FFFFFF"/>
                </a:solidFill>
                <a:latin typeface="Georgia"/>
              </a:defRPr>
            </a:pPr>
            <a:r>
              <a:t>Our Father, who art in heaven,</a:t>
            </a:r>
          </a:p>
          <a:p>
            <a:pPr algn="ctr">
              <a:spcAft>
                <a:spcPts val="500"/>
              </a:spcAft>
              <a:defRPr sz="1900" b="0" i="0">
                <a:solidFill>
                  <a:srgbClr val="FFFFFF"/>
                </a:solidFill>
                <a:latin typeface="Georgia"/>
              </a:defRPr>
            </a:pPr>
            <a:r>
              <a:t>hallowed be thy name;</a:t>
            </a:r>
          </a:p>
          <a:p>
            <a:pPr algn="ctr">
              <a:spcAft>
                <a:spcPts val="500"/>
              </a:spcAft>
              <a:defRPr sz="1900" b="0" i="0">
                <a:solidFill>
                  <a:srgbClr val="FFFFFF"/>
                </a:solidFill>
                <a:latin typeface="Georgia"/>
              </a:defRPr>
            </a:pPr>
            <a:r>
              <a:t>thy kingdom come,</a:t>
            </a:r>
          </a:p>
          <a:p>
            <a:pPr algn="ctr">
              <a:spcAft>
                <a:spcPts val="500"/>
              </a:spcAft>
              <a:defRPr sz="1900" b="0" i="0">
                <a:solidFill>
                  <a:srgbClr val="FFFFFF"/>
                </a:solidFill>
                <a:latin typeface="Georgia"/>
              </a:defRPr>
            </a:pPr>
            <a:r>
              <a:t>thy will be done,</a:t>
            </a:r>
          </a:p>
          <a:p>
            <a:pPr algn="ctr">
              <a:spcAft>
                <a:spcPts val="500"/>
              </a:spcAft>
              <a:defRPr sz="1900" b="0" i="0">
                <a:solidFill>
                  <a:srgbClr val="FFFFFF"/>
                </a:solidFill>
                <a:latin typeface="Georgia"/>
              </a:defRPr>
            </a:pPr>
            <a:r>
              <a:t>on earth as it is in heaven.</a:t>
            </a:r>
          </a:p>
          <a:p>
            <a:pPr algn="ctr">
              <a:spcAft>
                <a:spcPts val="500"/>
              </a:spcAft>
              <a:defRPr sz="1900" b="0" i="0">
                <a:solidFill>
                  <a:srgbClr val="FFFFFF"/>
                </a:solidFill>
                <a:latin typeface="Georgia"/>
              </a:defRPr>
            </a:pPr>
            <a:r>
              <a:t>Give us this day our daily bread;</a:t>
            </a:r>
          </a:p>
          <a:p>
            <a:pPr algn="ctr">
              <a:spcAft>
                <a:spcPts val="500"/>
              </a:spcAft>
              <a:defRPr sz="1900" b="0" i="0">
                <a:solidFill>
                  <a:srgbClr val="FFFFFF"/>
                </a:solidFill>
                <a:latin typeface="Georgia"/>
              </a:defRPr>
            </a:pPr>
            <a:r>
              <a:t>and forgive us our trespasses,</a:t>
            </a:r>
          </a:p>
          <a:p>
            <a:pPr algn="ctr">
              <a:spcAft>
                <a:spcPts val="500"/>
              </a:spcAft>
              <a:defRPr sz="1900" b="0" i="0">
                <a:solidFill>
                  <a:srgbClr val="FFFFFF"/>
                </a:solidFill>
                <a:latin typeface="Georgia"/>
              </a:defRPr>
            </a:pPr>
            <a:r>
              <a:t>as we forgive those who trespass against us;</a:t>
            </a:r>
          </a:p>
          <a:p>
            <a:pPr algn="ctr">
              <a:spcAft>
                <a:spcPts val="500"/>
              </a:spcAft>
              <a:defRPr sz="1900" b="0" i="0">
                <a:solidFill>
                  <a:srgbClr val="FFFFFF"/>
                </a:solidFill>
                <a:latin typeface="Georgia"/>
              </a:defRPr>
            </a:pPr>
            <a:r>
              <a:t>and lead us not into temptation,</a:t>
            </a:r>
          </a:p>
          <a:p>
            <a:pPr algn="ctr">
              <a:spcAft>
                <a:spcPts val="500"/>
              </a:spcAft>
              <a:defRPr sz="1900" b="0" i="0">
                <a:solidFill>
                  <a:srgbClr val="FFFFFF"/>
                </a:solidFill>
                <a:latin typeface="Georgia"/>
              </a:defRPr>
            </a:pPr>
            <a:r>
              <a:t>but deliver us from evil.</a:t>
            </a:r>
          </a:p>
          <a:p>
            <a:pPr algn="ctr">
              <a:spcBef>
                <a:spcPts val="400"/>
              </a:spcBef>
              <a:spcAft>
                <a:spcPts val="500"/>
              </a:spcAft>
              <a:defRPr sz="2000" b="1" i="0">
                <a:solidFill>
                  <a:srgbClr val="D8B4FE"/>
                </a:solidFill>
                <a:latin typeface="Georgia"/>
              </a:defRPr>
            </a:pPr>
            <a:r>
              <a:t>Priest: Deliver us, Lord, we pray, from every evil, graciously grant peace in our days, that, by the help of your mercy, we may be always free from sin and safe from all distress, as we await the blessed hope and the coming of our Savior, Jesus Christ.</a:t>
            </a:r>
          </a:p>
          <a:p>
            <a:pPr algn="ctr">
              <a:spcBef>
                <a:spcPts val="400"/>
              </a:spcBef>
              <a:spcAft>
                <a:spcPts val="500"/>
              </a:spcAft>
              <a:defRPr sz="2000" b="1" i="0">
                <a:solidFill>
                  <a:srgbClr val="FFFFFF"/>
                </a:solidFill>
                <a:latin typeface="Georgia"/>
              </a:defRPr>
            </a:pPr>
            <a:r>
              <a:t>For the kingdom, the power, and the glory are yours now and for ever.</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F8C66A"/>
                </a:solidFill>
                <a:latin typeface="Georgia"/>
              </a:defRPr>
            </a:pPr>
            <a:r>
              <a:t>Gwangju Filipino Catholic Community</a:t>
            </a:r>
          </a:p>
          <a:p>
            <a:pPr>
              <a:spcBef>
                <a:spcPts val="200"/>
              </a:spcBef>
              <a:defRPr sz="1200" b="0" i="0">
                <a:solidFill>
                  <a:srgbClr val="D8B4FE"/>
                </a:solidFill>
                <a:latin typeface="Georgia"/>
              </a:defRPr>
            </a:pPr>
            <a:r>
              <a:t>Our Father</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GFCC17May2026_Eastertide_16x9.png"/>
          <p:cNvPicPr>
            <a:picLocks noChangeAspect="1"/>
          </p:cNvPicPr>
          <p:nvPr/>
        </p:nvPicPr>
        <p:blipFill>
          <a:blip r:embed="rId2"/>
          <a:stretch>
            <a:fillRect/>
          </a:stretch>
        </p:blipFill>
        <p:spPr>
          <a:xfrm>
            <a:off x="0" y="0"/>
            <a:ext cx="18288000" cy="10287000"/>
          </a:xfrm>
          <a:prstGeom prst="rect">
            <a:avLst/>
          </a:prstGeom>
        </p:spPr>
      </p:pic>
      <p:pic>
        <p:nvPicPr>
          <p:cNvPr id="3" name="Picture 2" descr="community_logo.png"/>
          <p:cNvPicPr>
            <a:picLocks noChangeAspect="1"/>
          </p:cNvPicPr>
          <p:nvPr/>
        </p:nvPicPr>
        <p:blipFill>
          <a:blip r:embed="rId3"/>
          <a:stretch>
            <a:fillRect/>
          </a:stretch>
        </p:blipFill>
        <p:spPr>
          <a:xfrm>
            <a:off x="914400" y="256032"/>
            <a:ext cx="387682" cy="384048"/>
          </a:xfrm>
          <a:prstGeom prst="rect">
            <a:avLst/>
          </a:prstGeom>
        </p:spPr>
      </p:pic>
      <p:sp>
        <p:nvSpPr>
          <p:cNvPr id="4" name="TextBox 3"/>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5" name="TextBox 4"/>
          <p:cNvSpPr txBox="1"/>
          <p:nvPr/>
        </p:nvSpPr>
        <p:spPr>
          <a:xfrm>
            <a:off x="914400" y="1810512"/>
            <a:ext cx="16459200" cy="5943600"/>
          </a:xfrm>
          <a:prstGeom prst="rect">
            <a:avLst/>
          </a:prstGeom>
          <a:noFill/>
        </p:spPr>
        <p:txBody>
          <a:bodyPr wrap="square" lIns="109728" rIns="109728" tIns="73152" bIns="73152">
            <a:noAutofit/>
          </a:bodyPr>
          <a:lstStyle/>
          <a:p>
            <a:pPr>
              <a:spcAft>
                <a:spcPts val="300"/>
              </a:spcAft>
              <a:defRPr sz="2100" b="1" i="0">
                <a:solidFill>
                  <a:srgbClr val="D8B4FE"/>
                </a:solidFill>
                <a:latin typeface="Georgia"/>
              </a:defRPr>
            </a:pPr>
            <a:r>
              <a:t>MASS CELEBRANT:</a:t>
            </a:r>
          </a:p>
          <a:p>
            <a:pPr>
              <a:spcAft>
                <a:spcPts val="300"/>
              </a:spcAft>
              <a:defRPr sz="2100" b="0" i="0">
                <a:solidFill>
                  <a:srgbClr val="FFFFFF"/>
                </a:solidFill>
                <a:latin typeface="Georgia"/>
              </a:defRPr>
            </a:pPr>
            <a:r>
              <a:t>Rev. Fr. Jonrey Lauron, RCJ</a:t>
            </a:r>
          </a:p>
          <a:p>
            <a:pPr>
              <a:spcAft>
                <a:spcPts val="300"/>
              </a:spcAft>
              <a:defRPr sz="2100" b="0" i="0">
                <a:solidFill>
                  <a:srgbClr val="FFFFFF"/>
                </a:solidFill>
                <a:latin typeface="Georgia"/>
              </a:defRPr>
            </a:pPr>
          </a:p>
          <a:p>
            <a:pPr>
              <a:spcAft>
                <a:spcPts val="300"/>
              </a:spcAft>
              <a:defRPr sz="2100" b="0" i="0">
                <a:solidFill>
                  <a:srgbClr val="FFFFFF"/>
                </a:solidFill>
                <a:latin typeface="Georgia"/>
              </a:defRPr>
            </a:pPr>
            <a:r>
              <a:t>Gwangju</a:t>
            </a:r>
            <a:br/>
            <a:r>
              <a:t>Filipino</a:t>
            </a:r>
            <a:br/>
            <a:r>
              <a:t>Catholic</a:t>
            </a:r>
            <a:br/>
            <a:r>
              <a:t>Community</a:t>
            </a:r>
          </a:p>
          <a:p>
            <a:pPr>
              <a:spcAft>
                <a:spcPts val="300"/>
              </a:spcAft>
              <a:defRPr sz="2100" b="0" i="0">
                <a:solidFill>
                  <a:srgbClr val="FFFFFF"/>
                </a:solidFill>
                <a:latin typeface="Georgia"/>
              </a:defRPr>
            </a:pPr>
          </a:p>
          <a:p>
            <a:pPr>
              <a:spcAft>
                <a:spcPts val="300"/>
              </a:spcAft>
              <a:defRPr sz="2100" b="0" i="0">
                <a:solidFill>
                  <a:srgbClr val="FFFFFF"/>
                </a:solidFill>
                <a:latin typeface="Georgia"/>
              </a:defRPr>
            </a:pPr>
            <a:r>
              <a:t>Gospel (Matthew 28:16-20)</a:t>
            </a:r>
          </a:p>
          <a:p>
            <a:pPr>
              <a:spcAft>
                <a:spcPts val="300"/>
              </a:spcAft>
              <a:defRPr sz="2100" b="0" i="0">
                <a:solidFill>
                  <a:srgbClr val="FFFFFF"/>
                </a:solidFill>
                <a:latin typeface="Georgia"/>
              </a:defRPr>
            </a:pPr>
            <a:r>
              <a:t>“All authority has been given to me in heaven and on earth.”</a:t>
            </a:r>
          </a:p>
          <a:p>
            <a:pPr>
              <a:spcAft>
                <a:spcPts val="300"/>
              </a:spcAft>
              <a:defRPr sz="2100" b="0" i="0">
                <a:solidFill>
                  <a:srgbClr val="FFFFFF"/>
                </a:solidFill>
                <a:latin typeface="Georgia"/>
              </a:defRPr>
            </a:pPr>
          </a:p>
          <a:p>
            <a:pPr>
              <a:spcAft>
                <a:spcPts val="300"/>
              </a:spcAft>
              <a:defRPr sz="2100" b="0" i="0">
                <a:solidFill>
                  <a:srgbClr val="FFFFFF"/>
                </a:solidFill>
                <a:latin typeface="Georgia"/>
              </a:defRPr>
            </a:pPr>
            <a:r>
              <a:t>YEAR A</a:t>
            </a:r>
          </a:p>
          <a:p>
            <a:pPr>
              <a:spcAft>
                <a:spcPts val="300"/>
              </a:spcAft>
              <a:defRPr sz="2100" b="0" i="0">
                <a:solidFill>
                  <a:srgbClr val="FFFFFF"/>
                </a:solidFill>
                <a:latin typeface="Georgia"/>
              </a:defRPr>
            </a:pPr>
            <a:r>
              <a:t>2026-05-17 · Eastertide</a:t>
            </a:r>
          </a:p>
        </p:txBody>
      </p:sp>
      <p:sp>
        <p:nvSpPr>
          <p:cNvPr id="6" name="TextBox 5"/>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F8C66A"/>
                </a:solidFill>
                <a:latin typeface="Georgia"/>
              </a:defRPr>
            </a:pPr>
            <a:r>
              <a:t>Gwangju Filipino Catholic Community</a:t>
            </a:r>
          </a:p>
          <a:p>
            <a:pPr>
              <a:spcBef>
                <a:spcPts val="200"/>
              </a:spcBef>
              <a:defRPr sz="1200" b="0" i="0">
                <a:solidFill>
                  <a:srgbClr val="D8B4FE"/>
                </a:solidFill>
                <a:latin typeface="Georgia"/>
              </a:defRPr>
            </a:pPr>
            <a:r>
              <a:t>Mass poster / divider</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490472"/>
            <a:ext cx="16459200" cy="7790688"/>
          </a:xfrm>
          <a:prstGeom prst="rect">
            <a:avLst/>
          </a:prstGeom>
          <a:noFill/>
        </p:spPr>
        <p:txBody>
          <a:bodyPr wrap="square" lIns="109728" rIns="109728" tIns="73152" bIns="73152">
            <a:noAutofit/>
          </a:bodyPr>
          <a:lstStyle/>
          <a:p>
            <a:pPr algn="ctr">
              <a:spcBef>
                <a:spcPts val="400"/>
              </a:spcBef>
              <a:spcAft>
                <a:spcPts val="500"/>
              </a:spcAft>
              <a:defRPr sz="2000" b="1" i="0">
                <a:solidFill>
                  <a:srgbClr val="D8B4FE"/>
                </a:solidFill>
                <a:latin typeface="Georgia"/>
              </a:defRPr>
            </a:pPr>
            <a:r>
              <a:t>Priest: Deliver us, Lord, we pray, from every evil, graciously grant peace in our days, that, by the help of your mercy, we may be always free from sin and safe from all distress, as we await the blessed hope and the coming of our Savior, Jesus Christ.</a:t>
            </a:r>
          </a:p>
          <a:p>
            <a:pPr algn="ctr">
              <a:spcBef>
                <a:spcPts val="400"/>
              </a:spcBef>
              <a:spcAft>
                <a:spcPts val="500"/>
              </a:spcAft>
              <a:defRPr sz="2000" b="1" i="0">
                <a:solidFill>
                  <a:srgbClr val="FFFFFF"/>
                </a:solidFill>
                <a:latin typeface="Georgia"/>
              </a:defRPr>
            </a:pPr>
            <a:r>
              <a:t>All: For the kingdom, the power, and the glory are yours, now and for ever. Amen.</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F8C66A"/>
                </a:solidFill>
                <a:latin typeface="Georgia"/>
              </a:defRPr>
            </a:pPr>
            <a:r>
              <a:t>Gwangju Filipino Catholic Community</a:t>
            </a:r>
          </a:p>
          <a:p>
            <a:pPr>
              <a:spcBef>
                <a:spcPts val="200"/>
              </a:spcBef>
              <a:defRPr sz="1200" b="0" i="0">
                <a:solidFill>
                  <a:srgbClr val="D8B4FE"/>
                </a:solidFill>
                <a:latin typeface="Georgia"/>
              </a:defRPr>
            </a:pPr>
            <a:r>
              <a:t>The Communion Rite</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GFCC17May2026_Eastertide_16x9.png"/>
          <p:cNvPicPr>
            <a:picLocks noChangeAspect="1"/>
          </p:cNvPicPr>
          <p:nvPr/>
        </p:nvPicPr>
        <p:blipFill>
          <a:blip r:embed="rId2"/>
          <a:stretch>
            <a:fillRect/>
          </a:stretch>
        </p:blipFill>
        <p:spPr>
          <a:xfrm>
            <a:off x="0" y="0"/>
            <a:ext cx="18288000" cy="10287000"/>
          </a:xfrm>
          <a:prstGeom prst="rect">
            <a:avLst/>
          </a:prstGeom>
        </p:spPr>
      </p:pic>
      <p:pic>
        <p:nvPicPr>
          <p:cNvPr id="3" name="Picture 2" descr="community_logo.png"/>
          <p:cNvPicPr>
            <a:picLocks noChangeAspect="1"/>
          </p:cNvPicPr>
          <p:nvPr/>
        </p:nvPicPr>
        <p:blipFill>
          <a:blip r:embed="rId3"/>
          <a:stretch>
            <a:fillRect/>
          </a:stretch>
        </p:blipFill>
        <p:spPr>
          <a:xfrm>
            <a:off x="914400" y="256032"/>
            <a:ext cx="387682" cy="384048"/>
          </a:xfrm>
          <a:prstGeom prst="rect">
            <a:avLst/>
          </a:prstGeom>
        </p:spPr>
      </p:pic>
      <p:sp>
        <p:nvSpPr>
          <p:cNvPr id="4" name="TextBox 3"/>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5" name="TextBox 4"/>
          <p:cNvSpPr txBox="1"/>
          <p:nvPr/>
        </p:nvSpPr>
        <p:spPr>
          <a:xfrm>
            <a:off x="914400" y="1810512"/>
            <a:ext cx="16459200" cy="5943600"/>
          </a:xfrm>
          <a:prstGeom prst="rect">
            <a:avLst/>
          </a:prstGeom>
          <a:noFill/>
        </p:spPr>
        <p:txBody>
          <a:bodyPr wrap="square" lIns="109728" rIns="109728" tIns="73152" bIns="73152">
            <a:noAutofit/>
          </a:bodyPr>
          <a:lstStyle/>
          <a:p>
            <a:pPr>
              <a:spcAft>
                <a:spcPts val="300"/>
              </a:spcAft>
              <a:defRPr sz="2100" b="1" i="0">
                <a:solidFill>
                  <a:srgbClr val="D8B4FE"/>
                </a:solidFill>
                <a:latin typeface="Georgia"/>
              </a:defRPr>
            </a:pPr>
            <a:r>
              <a:t>MASS CELEBRANT:</a:t>
            </a:r>
          </a:p>
          <a:p>
            <a:pPr>
              <a:spcAft>
                <a:spcPts val="300"/>
              </a:spcAft>
              <a:defRPr sz="2100" b="0" i="0">
                <a:solidFill>
                  <a:srgbClr val="FFFFFF"/>
                </a:solidFill>
                <a:latin typeface="Georgia"/>
              </a:defRPr>
            </a:pPr>
            <a:r>
              <a:t>Rev. Fr. Jonrey Lauron, RCJ</a:t>
            </a:r>
          </a:p>
          <a:p>
            <a:pPr>
              <a:spcAft>
                <a:spcPts val="300"/>
              </a:spcAft>
              <a:defRPr sz="2100" b="0" i="0">
                <a:solidFill>
                  <a:srgbClr val="FFFFFF"/>
                </a:solidFill>
                <a:latin typeface="Georgia"/>
              </a:defRPr>
            </a:pPr>
          </a:p>
          <a:p>
            <a:pPr>
              <a:spcAft>
                <a:spcPts val="300"/>
              </a:spcAft>
              <a:defRPr sz="2100" b="0" i="0">
                <a:solidFill>
                  <a:srgbClr val="FFFFFF"/>
                </a:solidFill>
                <a:latin typeface="Georgia"/>
              </a:defRPr>
            </a:pPr>
            <a:r>
              <a:t>Gwangju</a:t>
            </a:r>
            <a:br/>
            <a:r>
              <a:t>Filipino</a:t>
            </a:r>
            <a:br/>
            <a:r>
              <a:t>Catholic</a:t>
            </a:r>
            <a:br/>
            <a:r>
              <a:t>Community</a:t>
            </a:r>
          </a:p>
          <a:p>
            <a:pPr>
              <a:spcAft>
                <a:spcPts val="300"/>
              </a:spcAft>
              <a:defRPr sz="2100" b="0" i="0">
                <a:solidFill>
                  <a:srgbClr val="FFFFFF"/>
                </a:solidFill>
                <a:latin typeface="Georgia"/>
              </a:defRPr>
            </a:pPr>
          </a:p>
          <a:p>
            <a:pPr>
              <a:spcAft>
                <a:spcPts val="300"/>
              </a:spcAft>
              <a:defRPr sz="2100" b="0" i="0">
                <a:solidFill>
                  <a:srgbClr val="FFFFFF"/>
                </a:solidFill>
                <a:latin typeface="Georgia"/>
              </a:defRPr>
            </a:pPr>
            <a:r>
              <a:t>Gospel (Matthew 28:16-20)</a:t>
            </a:r>
          </a:p>
          <a:p>
            <a:pPr>
              <a:spcAft>
                <a:spcPts val="300"/>
              </a:spcAft>
              <a:defRPr sz="2100" b="0" i="0">
                <a:solidFill>
                  <a:srgbClr val="FFFFFF"/>
                </a:solidFill>
                <a:latin typeface="Georgia"/>
              </a:defRPr>
            </a:pPr>
            <a:r>
              <a:t>“All authority has been given to me in heaven and on earth.”</a:t>
            </a:r>
          </a:p>
          <a:p>
            <a:pPr>
              <a:spcAft>
                <a:spcPts val="300"/>
              </a:spcAft>
              <a:defRPr sz="2100" b="0" i="0">
                <a:solidFill>
                  <a:srgbClr val="FFFFFF"/>
                </a:solidFill>
                <a:latin typeface="Georgia"/>
              </a:defRPr>
            </a:pPr>
          </a:p>
          <a:p>
            <a:pPr>
              <a:spcAft>
                <a:spcPts val="300"/>
              </a:spcAft>
              <a:defRPr sz="2100" b="0" i="0">
                <a:solidFill>
                  <a:srgbClr val="FFFFFF"/>
                </a:solidFill>
                <a:latin typeface="Georgia"/>
              </a:defRPr>
            </a:pPr>
            <a:r>
              <a:t>YEAR A</a:t>
            </a:r>
          </a:p>
          <a:p>
            <a:pPr>
              <a:spcAft>
                <a:spcPts val="300"/>
              </a:spcAft>
              <a:defRPr sz="2100" b="0" i="0">
                <a:solidFill>
                  <a:srgbClr val="FFFFFF"/>
                </a:solidFill>
                <a:latin typeface="Georgia"/>
              </a:defRPr>
            </a:pPr>
            <a:r>
              <a:t>2026-05-17 · Eastertide</a:t>
            </a:r>
          </a:p>
        </p:txBody>
      </p:sp>
      <p:sp>
        <p:nvSpPr>
          <p:cNvPr id="6" name="TextBox 5"/>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F8C66A"/>
                </a:solidFill>
                <a:latin typeface="Georgia"/>
              </a:defRPr>
            </a:pPr>
            <a:r>
              <a:t>Gwangju Filipino Catholic Community</a:t>
            </a:r>
          </a:p>
          <a:p>
            <a:pPr>
              <a:spcBef>
                <a:spcPts val="200"/>
              </a:spcBef>
              <a:defRPr sz="1200" b="0" i="0">
                <a:solidFill>
                  <a:srgbClr val="D8B4FE"/>
                </a:solidFill>
                <a:latin typeface="Georgia"/>
              </a:defRPr>
            </a:pPr>
            <a:r>
              <a:t>Mass poster / divider</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490472"/>
            <a:ext cx="16459200" cy="7790688"/>
          </a:xfrm>
          <a:prstGeom prst="rect">
            <a:avLst/>
          </a:prstGeom>
          <a:noFill/>
        </p:spPr>
        <p:txBody>
          <a:bodyPr wrap="square" lIns="109728" rIns="109728" tIns="73152" bIns="73152">
            <a:noAutofit/>
          </a:bodyPr>
          <a:lstStyle/>
          <a:p>
            <a:pPr algn="ctr">
              <a:spcBef>
                <a:spcPts val="400"/>
              </a:spcBef>
              <a:spcAft>
                <a:spcPts val="500"/>
              </a:spcAft>
              <a:defRPr sz="2000" b="1" i="0">
                <a:solidFill>
                  <a:srgbClr val="D8B4FE"/>
                </a:solidFill>
                <a:latin typeface="Georgia"/>
              </a:defRPr>
            </a:pPr>
            <a:r>
              <a:t>Priest: The peace of the Lord be with you always.</a:t>
            </a:r>
          </a:p>
          <a:p>
            <a:pPr algn="ctr">
              <a:spcBef>
                <a:spcPts val="400"/>
              </a:spcBef>
              <a:spcAft>
                <a:spcPts val="500"/>
              </a:spcAft>
              <a:defRPr sz="2000" b="1" i="0">
                <a:solidFill>
                  <a:srgbClr val="FFFFFF"/>
                </a:solidFill>
                <a:latin typeface="Georgia"/>
              </a:defRPr>
            </a:pPr>
            <a:r>
              <a:t>All: And with your spirit.</a:t>
            </a:r>
          </a:p>
          <a:p>
            <a:pPr algn="ctr">
              <a:spcAft>
                <a:spcPts val="500"/>
              </a:spcAft>
              <a:defRPr sz="1500" b="0" i="1">
                <a:solidFill>
                  <a:srgbClr val="D8B4FE"/>
                </a:solidFill>
                <a:latin typeface="Georgia"/>
              </a:defRPr>
            </a:pPr>
            <a:r>
              <a:t>Let us offer each other the sign of peace.</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F8C66A"/>
                </a:solidFill>
                <a:latin typeface="Georgia"/>
              </a:defRPr>
            </a:pPr>
            <a:r>
              <a:t>Gwangju Filipino Catholic Community</a:t>
            </a:r>
          </a:p>
          <a:p>
            <a:pPr>
              <a:spcBef>
                <a:spcPts val="200"/>
              </a:spcBef>
              <a:defRPr sz="1200" b="0" i="0">
                <a:solidFill>
                  <a:srgbClr val="D8B4FE"/>
                </a:solidFill>
                <a:latin typeface="Georgia"/>
              </a:defRPr>
            </a:pPr>
            <a:r>
              <a:t>Sign of Peace</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490472"/>
            <a:ext cx="16459200" cy="7790688"/>
          </a:xfrm>
          <a:prstGeom prst="rect">
            <a:avLst/>
          </a:prstGeom>
          <a:noFill/>
        </p:spPr>
        <p:txBody>
          <a:bodyPr wrap="square" lIns="109728" rIns="109728" tIns="73152" bIns="73152">
            <a:noAutofit/>
          </a:bodyPr>
          <a:lstStyle/>
          <a:p>
            <a:pPr algn="ctr">
              <a:spcBef>
                <a:spcPts val="400"/>
              </a:spcBef>
              <a:spcAft>
                <a:spcPts val="500"/>
              </a:spcAft>
              <a:defRPr sz="2000" b="1" i="0">
                <a:solidFill>
                  <a:srgbClr val="FFFFFF"/>
                </a:solidFill>
                <a:latin typeface="Georgia"/>
              </a:defRPr>
            </a:pPr>
            <a:r>
              <a:t>Lamb of God,</a:t>
            </a:r>
          </a:p>
          <a:p>
            <a:pPr algn="ctr">
              <a:spcAft>
                <a:spcPts val="500"/>
              </a:spcAft>
              <a:defRPr sz="1900" b="0" i="0">
                <a:solidFill>
                  <a:srgbClr val="FFFFFF"/>
                </a:solidFill>
                <a:latin typeface="Georgia"/>
              </a:defRPr>
            </a:pPr>
            <a:r>
              <a:t>you take away the sins of the world,</a:t>
            </a:r>
          </a:p>
          <a:p>
            <a:pPr algn="ctr">
              <a:spcAft>
                <a:spcPts val="500"/>
              </a:spcAft>
              <a:defRPr sz="1900" b="0" i="0">
                <a:solidFill>
                  <a:srgbClr val="FFFFFF"/>
                </a:solidFill>
                <a:latin typeface="Georgia"/>
              </a:defRPr>
            </a:pPr>
            <a:r>
              <a:t>have mercy on us.</a:t>
            </a:r>
          </a:p>
          <a:p>
            <a:pPr algn="ctr">
              <a:spcAft>
                <a:spcPts val="500"/>
              </a:spcAft>
              <a:defRPr sz="1900" b="0" i="0">
                <a:solidFill>
                  <a:srgbClr val="FFFFFF"/>
                </a:solidFill>
                <a:latin typeface="Georgia"/>
              </a:defRPr>
            </a:pPr>
            <a:r>
              <a:t>Lamb of God,</a:t>
            </a:r>
          </a:p>
          <a:p>
            <a:pPr algn="ctr">
              <a:spcAft>
                <a:spcPts val="500"/>
              </a:spcAft>
              <a:defRPr sz="1900" b="0" i="0">
                <a:solidFill>
                  <a:srgbClr val="FFFFFF"/>
                </a:solidFill>
                <a:latin typeface="Georgia"/>
              </a:defRPr>
            </a:pPr>
            <a:r>
              <a:t>you take away the sins of the world,</a:t>
            </a:r>
          </a:p>
          <a:p>
            <a:pPr algn="ctr">
              <a:spcAft>
                <a:spcPts val="500"/>
              </a:spcAft>
              <a:defRPr sz="1900" b="0" i="0">
                <a:solidFill>
                  <a:srgbClr val="FFFFFF"/>
                </a:solidFill>
                <a:latin typeface="Georgia"/>
              </a:defRPr>
            </a:pPr>
            <a:r>
              <a:t>have mercy on us.</a:t>
            </a:r>
          </a:p>
          <a:p>
            <a:pPr algn="ctr">
              <a:spcAft>
                <a:spcPts val="500"/>
              </a:spcAft>
              <a:defRPr sz="1900" b="0" i="0">
                <a:solidFill>
                  <a:srgbClr val="FFFFFF"/>
                </a:solidFill>
                <a:latin typeface="Georgia"/>
              </a:defRPr>
            </a:pPr>
            <a:r>
              <a:t>Lamb of God,</a:t>
            </a:r>
          </a:p>
          <a:p>
            <a:pPr algn="ctr">
              <a:spcAft>
                <a:spcPts val="500"/>
              </a:spcAft>
              <a:defRPr sz="1900" b="0" i="0">
                <a:solidFill>
                  <a:srgbClr val="FFFFFF"/>
                </a:solidFill>
                <a:latin typeface="Georgia"/>
              </a:defRPr>
            </a:pPr>
            <a:r>
              <a:t>you take away the sins of the world,</a:t>
            </a:r>
          </a:p>
          <a:p>
            <a:pPr algn="ctr">
              <a:spcAft>
                <a:spcPts val="500"/>
              </a:spcAft>
              <a:defRPr sz="1900" b="0" i="0">
                <a:solidFill>
                  <a:srgbClr val="FFFFFF"/>
                </a:solidFill>
                <a:latin typeface="Georgia"/>
              </a:defRPr>
            </a:pPr>
            <a:r>
              <a:t>grant us peace.</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F8C66A"/>
                </a:solidFill>
                <a:latin typeface="Georgia"/>
              </a:defRPr>
            </a:pPr>
            <a:r>
              <a:t>Gwangju Filipino Catholic Community</a:t>
            </a:r>
          </a:p>
          <a:p>
            <a:pPr>
              <a:spcBef>
                <a:spcPts val="200"/>
              </a:spcBef>
              <a:defRPr sz="1200" b="0" i="0">
                <a:solidFill>
                  <a:srgbClr val="D8B4FE"/>
                </a:solidFill>
                <a:latin typeface="Georgia"/>
              </a:defRPr>
            </a:pPr>
            <a:r>
              <a:t>Lamb of God</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490472"/>
            <a:ext cx="16459200" cy="7790688"/>
          </a:xfrm>
          <a:prstGeom prst="rect">
            <a:avLst/>
          </a:prstGeom>
          <a:noFill/>
        </p:spPr>
        <p:txBody>
          <a:bodyPr wrap="square" lIns="109728" rIns="109728" tIns="73152" bIns="73152">
            <a:noAutofit/>
          </a:bodyPr>
          <a:lstStyle/>
          <a:p>
            <a:pPr algn="ctr">
              <a:spcBef>
                <a:spcPts val="400"/>
              </a:spcBef>
              <a:spcAft>
                <a:spcPts val="500"/>
              </a:spcAft>
              <a:defRPr sz="2000" b="1" i="0">
                <a:solidFill>
                  <a:srgbClr val="D8B4FE"/>
                </a:solidFill>
                <a:latin typeface="Georgia"/>
              </a:defRPr>
            </a:pPr>
            <a:r>
              <a:t>Priest: Behold the Lamb of God, behold him who takes away the sins of the world. Blessed are those called to the supper of the Lamb.</a:t>
            </a:r>
          </a:p>
          <a:p>
            <a:pPr algn="ctr">
              <a:spcBef>
                <a:spcPts val="400"/>
              </a:spcBef>
              <a:spcAft>
                <a:spcPts val="500"/>
              </a:spcAft>
              <a:defRPr sz="2000" b="1" i="0">
                <a:solidFill>
                  <a:srgbClr val="FFFFFF"/>
                </a:solidFill>
                <a:latin typeface="Georgia"/>
              </a:defRPr>
            </a:pPr>
            <a:r>
              <a:t>All: Lord, I am not worthy that you should enter under my roof, but only say the word and my soul shall be healed.</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F8C66A"/>
                </a:solidFill>
                <a:latin typeface="Georgia"/>
              </a:defRPr>
            </a:pPr>
            <a:r>
              <a:t>Gwangju Filipino Catholic Community</a:t>
            </a:r>
          </a:p>
          <a:p>
            <a:pPr>
              <a:spcBef>
                <a:spcPts val="200"/>
              </a:spcBef>
              <a:defRPr sz="1200" b="0" i="0">
                <a:solidFill>
                  <a:srgbClr val="D8B4FE"/>
                </a:solidFill>
                <a:latin typeface="Georgia"/>
              </a:defRPr>
            </a:pPr>
            <a:r>
              <a:t>The Communion Rite</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GFCC17May2026_Eastertide_16x9.png"/>
          <p:cNvPicPr>
            <a:picLocks noChangeAspect="1"/>
          </p:cNvPicPr>
          <p:nvPr/>
        </p:nvPicPr>
        <p:blipFill>
          <a:blip r:embed="rId2"/>
          <a:stretch>
            <a:fillRect/>
          </a:stretch>
        </p:blipFill>
        <p:spPr>
          <a:xfrm>
            <a:off x="0" y="0"/>
            <a:ext cx="18288000" cy="10287000"/>
          </a:xfrm>
          <a:prstGeom prst="rect">
            <a:avLst/>
          </a:prstGeom>
        </p:spPr>
      </p:pic>
      <p:pic>
        <p:nvPicPr>
          <p:cNvPr id="3" name="Picture 2" descr="community_logo.png"/>
          <p:cNvPicPr>
            <a:picLocks noChangeAspect="1"/>
          </p:cNvPicPr>
          <p:nvPr/>
        </p:nvPicPr>
        <p:blipFill>
          <a:blip r:embed="rId3"/>
          <a:stretch>
            <a:fillRect/>
          </a:stretch>
        </p:blipFill>
        <p:spPr>
          <a:xfrm>
            <a:off x="914400" y="256032"/>
            <a:ext cx="387682" cy="384048"/>
          </a:xfrm>
          <a:prstGeom prst="rect">
            <a:avLst/>
          </a:prstGeom>
        </p:spPr>
      </p:pic>
      <p:sp>
        <p:nvSpPr>
          <p:cNvPr id="4" name="TextBox 3"/>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5" name="TextBox 4"/>
          <p:cNvSpPr txBox="1"/>
          <p:nvPr/>
        </p:nvSpPr>
        <p:spPr>
          <a:xfrm>
            <a:off x="914400" y="1810512"/>
            <a:ext cx="16459200" cy="5943600"/>
          </a:xfrm>
          <a:prstGeom prst="rect">
            <a:avLst/>
          </a:prstGeom>
          <a:noFill/>
        </p:spPr>
        <p:txBody>
          <a:bodyPr wrap="square" lIns="109728" rIns="109728" tIns="73152" bIns="73152">
            <a:noAutofit/>
          </a:bodyPr>
          <a:lstStyle/>
          <a:p>
            <a:pPr>
              <a:spcAft>
                <a:spcPts val="300"/>
              </a:spcAft>
              <a:defRPr sz="2100" b="1" i="0">
                <a:solidFill>
                  <a:srgbClr val="D8B4FE"/>
                </a:solidFill>
                <a:latin typeface="Georgia"/>
              </a:defRPr>
            </a:pPr>
            <a:r>
              <a:t>MASS CELEBRANT:</a:t>
            </a:r>
          </a:p>
          <a:p>
            <a:pPr>
              <a:spcAft>
                <a:spcPts val="300"/>
              </a:spcAft>
              <a:defRPr sz="2100" b="0" i="0">
                <a:solidFill>
                  <a:srgbClr val="FFFFFF"/>
                </a:solidFill>
                <a:latin typeface="Georgia"/>
              </a:defRPr>
            </a:pPr>
            <a:r>
              <a:t>Rev. Fr. Jonrey Lauron, RCJ</a:t>
            </a:r>
          </a:p>
          <a:p>
            <a:pPr>
              <a:spcAft>
                <a:spcPts val="300"/>
              </a:spcAft>
              <a:defRPr sz="2100" b="0" i="0">
                <a:solidFill>
                  <a:srgbClr val="FFFFFF"/>
                </a:solidFill>
                <a:latin typeface="Georgia"/>
              </a:defRPr>
            </a:pPr>
          </a:p>
          <a:p>
            <a:pPr>
              <a:spcAft>
                <a:spcPts val="300"/>
              </a:spcAft>
              <a:defRPr sz="2100" b="0" i="0">
                <a:solidFill>
                  <a:srgbClr val="FFFFFF"/>
                </a:solidFill>
                <a:latin typeface="Georgia"/>
              </a:defRPr>
            </a:pPr>
            <a:r>
              <a:t>Gwangju</a:t>
            </a:r>
            <a:br/>
            <a:r>
              <a:t>Filipino</a:t>
            </a:r>
            <a:br/>
            <a:r>
              <a:t>Catholic</a:t>
            </a:r>
            <a:br/>
            <a:r>
              <a:t>Community</a:t>
            </a:r>
          </a:p>
          <a:p>
            <a:pPr>
              <a:spcAft>
                <a:spcPts val="300"/>
              </a:spcAft>
              <a:defRPr sz="2100" b="0" i="0">
                <a:solidFill>
                  <a:srgbClr val="FFFFFF"/>
                </a:solidFill>
                <a:latin typeface="Georgia"/>
              </a:defRPr>
            </a:pPr>
          </a:p>
          <a:p>
            <a:pPr>
              <a:spcAft>
                <a:spcPts val="300"/>
              </a:spcAft>
              <a:defRPr sz="2100" b="0" i="0">
                <a:solidFill>
                  <a:srgbClr val="FFFFFF"/>
                </a:solidFill>
                <a:latin typeface="Georgia"/>
              </a:defRPr>
            </a:pPr>
            <a:r>
              <a:t>Gospel (Matthew 28:16-20)</a:t>
            </a:r>
          </a:p>
          <a:p>
            <a:pPr>
              <a:spcAft>
                <a:spcPts val="300"/>
              </a:spcAft>
              <a:defRPr sz="2100" b="0" i="0">
                <a:solidFill>
                  <a:srgbClr val="FFFFFF"/>
                </a:solidFill>
                <a:latin typeface="Georgia"/>
              </a:defRPr>
            </a:pPr>
            <a:r>
              <a:t>“All authority has been given to me in heaven and on earth.”</a:t>
            </a:r>
          </a:p>
          <a:p>
            <a:pPr>
              <a:spcAft>
                <a:spcPts val="300"/>
              </a:spcAft>
              <a:defRPr sz="2100" b="0" i="0">
                <a:solidFill>
                  <a:srgbClr val="FFFFFF"/>
                </a:solidFill>
                <a:latin typeface="Georgia"/>
              </a:defRPr>
            </a:pPr>
          </a:p>
          <a:p>
            <a:pPr>
              <a:spcAft>
                <a:spcPts val="300"/>
              </a:spcAft>
              <a:defRPr sz="2100" b="0" i="0">
                <a:solidFill>
                  <a:srgbClr val="FFFFFF"/>
                </a:solidFill>
                <a:latin typeface="Georgia"/>
              </a:defRPr>
            </a:pPr>
            <a:r>
              <a:t>YEAR A</a:t>
            </a:r>
          </a:p>
          <a:p>
            <a:pPr>
              <a:spcAft>
                <a:spcPts val="300"/>
              </a:spcAft>
              <a:defRPr sz="2100" b="0" i="0">
                <a:solidFill>
                  <a:srgbClr val="FFFFFF"/>
                </a:solidFill>
                <a:latin typeface="Georgia"/>
              </a:defRPr>
            </a:pPr>
            <a:r>
              <a:t>2026-05-17 · Eastertide</a:t>
            </a:r>
          </a:p>
        </p:txBody>
      </p:sp>
      <p:sp>
        <p:nvSpPr>
          <p:cNvPr id="6" name="TextBox 5"/>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F8C66A"/>
                </a:solidFill>
                <a:latin typeface="Georgia"/>
              </a:defRPr>
            </a:pPr>
            <a:r>
              <a:t>Gwangju Filipino Catholic Community</a:t>
            </a:r>
          </a:p>
          <a:p>
            <a:pPr>
              <a:spcBef>
                <a:spcPts val="200"/>
              </a:spcBef>
              <a:defRPr sz="1200" b="0" i="0">
                <a:solidFill>
                  <a:srgbClr val="D8B4FE"/>
                </a:solidFill>
                <a:latin typeface="Georgia"/>
              </a:defRPr>
            </a:pPr>
            <a:r>
              <a:t>Mass poster / divider</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490472"/>
            <a:ext cx="16459200" cy="868680"/>
          </a:xfrm>
          <a:prstGeom prst="rect">
            <a:avLst/>
          </a:prstGeom>
          <a:noFill/>
        </p:spPr>
        <p:txBody>
          <a:bodyPr wrap="square" lIns="109728" rIns="109728" tIns="73152" bIns="73152">
            <a:noAutofit/>
          </a:bodyPr>
          <a:lstStyle/>
          <a:p>
            <a:pPr algn="ctr">
              <a:defRPr sz="3800" b="1" i="0">
                <a:solidFill>
                  <a:srgbClr val="FFCC4D"/>
                </a:solidFill>
                <a:latin typeface="Georgia"/>
              </a:defRPr>
            </a:pPr>
            <a:r>
              <a:t>Pananagutan</a:t>
            </a:r>
          </a:p>
        </p:txBody>
      </p:sp>
      <p:sp>
        <p:nvSpPr>
          <p:cNvPr id="5" name="TextBox 4"/>
          <p:cNvSpPr txBox="1"/>
          <p:nvPr/>
        </p:nvSpPr>
        <p:spPr>
          <a:xfrm>
            <a:off x="914400" y="2587752"/>
            <a:ext cx="16459200" cy="6830568"/>
          </a:xfrm>
          <a:prstGeom prst="rect">
            <a:avLst/>
          </a:prstGeom>
          <a:noFill/>
        </p:spPr>
        <p:txBody>
          <a:bodyPr wrap="square" lIns="109728" rIns="109728" tIns="73152" bIns="73152" anchor="ctr">
            <a:noAutofit/>
          </a:bodyPr>
          <a:lstStyle/>
          <a:p>
            <a:pPr algn="ctr">
              <a:lnSpc>
                <a:spcPct val="105000"/>
              </a:lnSpc>
              <a:spcAft>
                <a:spcPts val="1000"/>
              </a:spcAft>
              <a:defRPr sz="5500" b="1" i="0">
                <a:solidFill>
                  <a:srgbClr val="FFFFFF"/>
                </a:solidFill>
                <a:latin typeface="Arial Black"/>
              </a:defRPr>
            </a:pPr>
            <a:r>
              <a:t>(NO LYRICS IN LIBRARY FOR THIS HYMN.)</a:t>
            </a:r>
          </a:p>
        </p:txBody>
      </p:sp>
      <p:sp>
        <p:nvSpPr>
          <p:cNvPr id="6" name="TextBox 5"/>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8C8C91"/>
                </a:solidFill>
                <a:latin typeface="Georgia"/>
              </a:defRPr>
            </a:pPr>
            <a:r>
              <a:t>Gwangju Filipino Catholic Community</a:t>
            </a:r>
          </a:p>
          <a:p>
            <a:pPr>
              <a:spcBef>
                <a:spcPts val="200"/>
              </a:spcBef>
              <a:defRPr sz="1200" b="0" i="0">
                <a:solidFill>
                  <a:srgbClr val="FFCC4D"/>
                </a:solidFill>
                <a:latin typeface="Georgia"/>
              </a:defRPr>
            </a:pPr>
            <a:r>
              <a:t>Communion (1)</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490472"/>
            <a:ext cx="16459200" cy="868680"/>
          </a:xfrm>
          <a:prstGeom prst="rect">
            <a:avLst/>
          </a:prstGeom>
          <a:noFill/>
        </p:spPr>
        <p:txBody>
          <a:bodyPr wrap="square" lIns="109728" rIns="109728" tIns="73152" bIns="73152">
            <a:noAutofit/>
          </a:bodyPr>
          <a:lstStyle/>
          <a:p>
            <a:pPr algn="ctr">
              <a:defRPr sz="3800" b="1" i="0">
                <a:solidFill>
                  <a:srgbClr val="FFCC4D"/>
                </a:solidFill>
                <a:latin typeface="Georgia"/>
              </a:defRPr>
            </a:pPr>
            <a:r>
              <a:t>Tanging Yaman</a:t>
            </a:r>
          </a:p>
        </p:txBody>
      </p:sp>
      <p:sp>
        <p:nvSpPr>
          <p:cNvPr id="5" name="TextBox 4"/>
          <p:cNvSpPr txBox="1"/>
          <p:nvPr/>
        </p:nvSpPr>
        <p:spPr>
          <a:xfrm>
            <a:off x="914400" y="2587752"/>
            <a:ext cx="16459200" cy="6830568"/>
          </a:xfrm>
          <a:prstGeom prst="rect">
            <a:avLst/>
          </a:prstGeom>
          <a:noFill/>
        </p:spPr>
        <p:txBody>
          <a:bodyPr wrap="square" lIns="109728" rIns="109728" tIns="73152" bIns="73152" anchor="ctr">
            <a:noAutofit/>
          </a:bodyPr>
          <a:lstStyle/>
          <a:p>
            <a:pPr algn="ctr">
              <a:lnSpc>
                <a:spcPct val="105000"/>
              </a:lnSpc>
              <a:spcAft>
                <a:spcPts val="1000"/>
              </a:spcAft>
              <a:defRPr sz="5500" b="1" i="0">
                <a:solidFill>
                  <a:srgbClr val="FFFFFF"/>
                </a:solidFill>
                <a:latin typeface="Arial Black"/>
              </a:defRPr>
            </a:pPr>
            <a:r>
              <a:t>(NO LYRICS IN LIBRARY FOR THIS HYMN.)</a:t>
            </a:r>
          </a:p>
        </p:txBody>
      </p:sp>
      <p:sp>
        <p:nvSpPr>
          <p:cNvPr id="6" name="TextBox 5"/>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8C8C91"/>
                </a:solidFill>
                <a:latin typeface="Georgia"/>
              </a:defRPr>
            </a:pPr>
            <a:r>
              <a:t>Gwangju Filipino Catholic Community</a:t>
            </a:r>
          </a:p>
          <a:p>
            <a:pPr>
              <a:spcBef>
                <a:spcPts val="200"/>
              </a:spcBef>
              <a:defRPr sz="1200" b="0" i="0">
                <a:solidFill>
                  <a:srgbClr val="FFCC4D"/>
                </a:solidFill>
                <a:latin typeface="Georgia"/>
              </a:defRPr>
            </a:pPr>
            <a:r>
              <a:t>Communion (2)</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490472"/>
            <a:ext cx="16459200" cy="7790688"/>
          </a:xfrm>
          <a:prstGeom prst="rect">
            <a:avLst/>
          </a:prstGeom>
          <a:noFill/>
        </p:spPr>
        <p:txBody>
          <a:bodyPr wrap="square" lIns="109728" rIns="109728" tIns="73152" bIns="73152">
            <a:noAutofit/>
          </a:bodyPr>
          <a:lstStyle/>
          <a:p>
            <a:pPr algn="ctr">
              <a:spcBef>
                <a:spcPts val="400"/>
              </a:spcBef>
              <a:spcAft>
                <a:spcPts val="500"/>
              </a:spcAft>
              <a:defRPr sz="2000" b="1" i="0">
                <a:solidFill>
                  <a:srgbClr val="D8B4FE"/>
                </a:solidFill>
                <a:latin typeface="Georgia"/>
              </a:defRPr>
            </a:pPr>
            <a:r>
              <a:t>Priest: Let us pray.</a:t>
            </a:r>
          </a:p>
          <a:p>
            <a:pPr algn="ctr">
              <a:spcAft>
                <a:spcPts val="500"/>
              </a:spcAft>
              <a:defRPr sz="1500" b="0" i="1">
                <a:solidFill>
                  <a:srgbClr val="D8B4FE"/>
                </a:solidFill>
                <a:latin typeface="Georgia"/>
              </a:defRPr>
            </a:pPr>
            <a:r>
              <a:t>The Priest says the Post- Communion Prayer for the day in full from the Roman Missal. The people respond at the end.</a:t>
            </a:r>
          </a:p>
          <a:p>
            <a:pPr algn="ctr">
              <a:spcBef>
                <a:spcPts val="400"/>
              </a:spcBef>
              <a:spcAft>
                <a:spcPts val="500"/>
              </a:spcAft>
              <a:defRPr sz="2000" b="1" i="0">
                <a:solidFill>
                  <a:srgbClr val="FFFFFF"/>
                </a:solidFill>
                <a:latin typeface="Georgia"/>
              </a:defRPr>
            </a:pPr>
            <a:r>
              <a:t>All: Amen.</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F8C66A"/>
                </a:solidFill>
                <a:latin typeface="Georgia"/>
              </a:defRPr>
            </a:pPr>
            <a:r>
              <a:t>Gwangju Filipino Catholic Community</a:t>
            </a:r>
          </a:p>
          <a:p>
            <a:pPr>
              <a:spcBef>
                <a:spcPts val="200"/>
              </a:spcBef>
              <a:defRPr sz="1200" b="0" i="0">
                <a:solidFill>
                  <a:srgbClr val="D8B4FE"/>
                </a:solidFill>
                <a:latin typeface="Georgia"/>
              </a:defRPr>
            </a:pPr>
            <a:r>
              <a:t>The Communion Rite</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GFCC17May2026_Eastertide_16x9.png"/>
          <p:cNvPicPr>
            <a:picLocks noChangeAspect="1"/>
          </p:cNvPicPr>
          <p:nvPr/>
        </p:nvPicPr>
        <p:blipFill>
          <a:blip r:embed="rId2"/>
          <a:stretch>
            <a:fillRect/>
          </a:stretch>
        </p:blipFill>
        <p:spPr>
          <a:xfrm>
            <a:off x="0" y="0"/>
            <a:ext cx="18288000" cy="10287000"/>
          </a:xfrm>
          <a:prstGeom prst="rect">
            <a:avLst/>
          </a:prstGeom>
        </p:spPr>
      </p:pic>
      <p:pic>
        <p:nvPicPr>
          <p:cNvPr id="3" name="Picture 2" descr="community_logo.png"/>
          <p:cNvPicPr>
            <a:picLocks noChangeAspect="1"/>
          </p:cNvPicPr>
          <p:nvPr/>
        </p:nvPicPr>
        <p:blipFill>
          <a:blip r:embed="rId3"/>
          <a:stretch>
            <a:fillRect/>
          </a:stretch>
        </p:blipFill>
        <p:spPr>
          <a:xfrm>
            <a:off x="914400" y="256032"/>
            <a:ext cx="387682" cy="384048"/>
          </a:xfrm>
          <a:prstGeom prst="rect">
            <a:avLst/>
          </a:prstGeom>
        </p:spPr>
      </p:pic>
      <p:sp>
        <p:nvSpPr>
          <p:cNvPr id="4" name="TextBox 3"/>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5" name="TextBox 4"/>
          <p:cNvSpPr txBox="1"/>
          <p:nvPr/>
        </p:nvSpPr>
        <p:spPr>
          <a:xfrm>
            <a:off x="914400" y="1810512"/>
            <a:ext cx="16459200" cy="5943600"/>
          </a:xfrm>
          <a:prstGeom prst="rect">
            <a:avLst/>
          </a:prstGeom>
          <a:noFill/>
        </p:spPr>
        <p:txBody>
          <a:bodyPr wrap="square" lIns="109728" rIns="109728" tIns="73152" bIns="73152">
            <a:noAutofit/>
          </a:bodyPr>
          <a:lstStyle/>
          <a:p>
            <a:pPr>
              <a:spcAft>
                <a:spcPts val="300"/>
              </a:spcAft>
              <a:defRPr sz="2100" b="1" i="0">
                <a:solidFill>
                  <a:srgbClr val="D8B4FE"/>
                </a:solidFill>
                <a:latin typeface="Georgia"/>
              </a:defRPr>
            </a:pPr>
            <a:r>
              <a:t>MASS CELEBRANT:</a:t>
            </a:r>
          </a:p>
          <a:p>
            <a:pPr>
              <a:spcAft>
                <a:spcPts val="300"/>
              </a:spcAft>
              <a:defRPr sz="2100" b="0" i="0">
                <a:solidFill>
                  <a:srgbClr val="FFFFFF"/>
                </a:solidFill>
                <a:latin typeface="Georgia"/>
              </a:defRPr>
            </a:pPr>
            <a:r>
              <a:t>Rev. Fr. Jonrey Lauron, RCJ</a:t>
            </a:r>
          </a:p>
          <a:p>
            <a:pPr>
              <a:spcAft>
                <a:spcPts val="300"/>
              </a:spcAft>
              <a:defRPr sz="2100" b="0" i="0">
                <a:solidFill>
                  <a:srgbClr val="FFFFFF"/>
                </a:solidFill>
                <a:latin typeface="Georgia"/>
              </a:defRPr>
            </a:pPr>
          </a:p>
          <a:p>
            <a:pPr>
              <a:spcAft>
                <a:spcPts val="300"/>
              </a:spcAft>
              <a:defRPr sz="2100" b="0" i="0">
                <a:solidFill>
                  <a:srgbClr val="FFFFFF"/>
                </a:solidFill>
                <a:latin typeface="Georgia"/>
              </a:defRPr>
            </a:pPr>
            <a:r>
              <a:t>Gwangju</a:t>
            </a:r>
            <a:br/>
            <a:r>
              <a:t>Filipino</a:t>
            </a:r>
            <a:br/>
            <a:r>
              <a:t>Catholic</a:t>
            </a:r>
            <a:br/>
            <a:r>
              <a:t>Community</a:t>
            </a:r>
          </a:p>
          <a:p>
            <a:pPr>
              <a:spcAft>
                <a:spcPts val="300"/>
              </a:spcAft>
              <a:defRPr sz="2100" b="0" i="0">
                <a:solidFill>
                  <a:srgbClr val="FFFFFF"/>
                </a:solidFill>
                <a:latin typeface="Georgia"/>
              </a:defRPr>
            </a:pPr>
          </a:p>
          <a:p>
            <a:pPr>
              <a:spcAft>
                <a:spcPts val="300"/>
              </a:spcAft>
              <a:defRPr sz="2100" b="0" i="0">
                <a:solidFill>
                  <a:srgbClr val="FFFFFF"/>
                </a:solidFill>
                <a:latin typeface="Georgia"/>
              </a:defRPr>
            </a:pPr>
            <a:r>
              <a:t>Gospel (Matthew 28:16-20)</a:t>
            </a:r>
          </a:p>
          <a:p>
            <a:pPr>
              <a:spcAft>
                <a:spcPts val="300"/>
              </a:spcAft>
              <a:defRPr sz="2100" b="0" i="0">
                <a:solidFill>
                  <a:srgbClr val="FFFFFF"/>
                </a:solidFill>
                <a:latin typeface="Georgia"/>
              </a:defRPr>
            </a:pPr>
            <a:r>
              <a:t>“All authority has been given to me in heaven and on earth.”</a:t>
            </a:r>
          </a:p>
          <a:p>
            <a:pPr>
              <a:spcAft>
                <a:spcPts val="300"/>
              </a:spcAft>
              <a:defRPr sz="2100" b="0" i="0">
                <a:solidFill>
                  <a:srgbClr val="FFFFFF"/>
                </a:solidFill>
                <a:latin typeface="Georgia"/>
              </a:defRPr>
            </a:pPr>
          </a:p>
          <a:p>
            <a:pPr>
              <a:spcAft>
                <a:spcPts val="300"/>
              </a:spcAft>
              <a:defRPr sz="2100" b="0" i="0">
                <a:solidFill>
                  <a:srgbClr val="FFFFFF"/>
                </a:solidFill>
                <a:latin typeface="Georgia"/>
              </a:defRPr>
            </a:pPr>
            <a:r>
              <a:t>YEAR A</a:t>
            </a:r>
          </a:p>
          <a:p>
            <a:pPr>
              <a:spcAft>
                <a:spcPts val="300"/>
              </a:spcAft>
              <a:defRPr sz="2100" b="0" i="0">
                <a:solidFill>
                  <a:srgbClr val="FFFFFF"/>
                </a:solidFill>
                <a:latin typeface="Georgia"/>
              </a:defRPr>
            </a:pPr>
            <a:r>
              <a:t>2026-05-17 · Eastertide</a:t>
            </a:r>
          </a:p>
        </p:txBody>
      </p:sp>
      <p:sp>
        <p:nvSpPr>
          <p:cNvPr id="6" name="TextBox 5"/>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F8C66A"/>
                </a:solidFill>
                <a:latin typeface="Georgia"/>
              </a:defRPr>
            </a:pPr>
            <a:r>
              <a:t>Gwangju Filipino Catholic Community</a:t>
            </a:r>
          </a:p>
          <a:p>
            <a:pPr>
              <a:spcBef>
                <a:spcPts val="200"/>
              </a:spcBef>
              <a:defRPr sz="1200" b="0" i="0">
                <a:solidFill>
                  <a:srgbClr val="D8B4FE"/>
                </a:solidFill>
                <a:latin typeface="Georgia"/>
              </a:defRPr>
            </a:pPr>
            <a:r>
              <a:t>Mass poster / divider</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490472"/>
            <a:ext cx="16459200" cy="7790688"/>
          </a:xfrm>
          <a:prstGeom prst="rect">
            <a:avLst/>
          </a:prstGeom>
          <a:noFill/>
        </p:spPr>
        <p:txBody>
          <a:bodyPr wrap="square" lIns="109728" rIns="109728" tIns="73152" bIns="73152">
            <a:noAutofit/>
          </a:bodyPr>
          <a:lstStyle/>
          <a:p>
            <a:pPr algn="ctr">
              <a:spcAft>
                <a:spcPts val="500"/>
              </a:spcAft>
              <a:defRPr sz="1900" b="1" i="0">
                <a:solidFill>
                  <a:srgbClr val="FFFFFF"/>
                </a:solidFill>
                <a:latin typeface="Georgia"/>
              </a:defRPr>
            </a:pPr>
            <a:r>
              <a:t>MASS COLLECTION</a:t>
            </a:r>
          </a:p>
          <a:p>
            <a:pPr algn="ctr">
              <a:spcAft>
                <a:spcPts val="500"/>
              </a:spcAft>
              <a:defRPr sz="1500" b="0" i="1">
                <a:solidFill>
                  <a:srgbClr val="D8B4FE"/>
                </a:solidFill>
                <a:latin typeface="Georgia"/>
              </a:defRPr>
            </a:pPr>
            <a:r>
              <a:t>Thank you for your generosity.</a:t>
            </a:r>
          </a:p>
          <a:p>
            <a:pPr algn="ctr">
              <a:spcAft>
                <a:spcPts val="500"/>
              </a:spcAft>
              <a:defRPr sz="1500" b="0" i="1">
                <a:solidFill>
                  <a:srgbClr val="D8B4FE"/>
                </a:solidFill>
                <a:latin typeface="Georgia"/>
              </a:defRPr>
            </a:pPr>
            <a:r>
              <a:t>Date: Sunday, May 17, 2026</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F8C66A"/>
                </a:solidFill>
                <a:latin typeface="Georgia"/>
              </a:defRPr>
            </a:pPr>
            <a:r>
              <a:t>Gwangju Filipino Catholic Community</a:t>
            </a:r>
          </a:p>
          <a:p>
            <a:pPr>
              <a:spcBef>
                <a:spcPts val="200"/>
              </a:spcBef>
              <a:defRPr sz="1200" b="0" i="0">
                <a:solidFill>
                  <a:srgbClr val="D8B4FE"/>
                </a:solidFill>
                <a:latin typeface="Georgia"/>
              </a:defRPr>
            </a:pPr>
            <a:r>
              <a:t>Mass Collection</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490472"/>
            <a:ext cx="16459200" cy="7790688"/>
          </a:xfrm>
          <a:prstGeom prst="rect">
            <a:avLst/>
          </a:prstGeom>
          <a:noFill/>
        </p:spPr>
        <p:txBody>
          <a:bodyPr wrap="square" lIns="109728" rIns="109728" tIns="73152" bIns="73152">
            <a:noAutofit/>
          </a:bodyPr>
          <a:lstStyle/>
          <a:p>
            <a:pPr algn="ctr">
              <a:spcAft>
                <a:spcPts val="500"/>
              </a:spcAft>
              <a:defRPr sz="1900" b="1" i="0">
                <a:solidFill>
                  <a:srgbClr val="FFFFFF"/>
                </a:solidFill>
                <a:latin typeface="Georgia"/>
              </a:defRPr>
            </a:pPr>
            <a:r>
              <a:t>FOOD SPONSORS</a:t>
            </a:r>
          </a:p>
          <a:p>
            <a:pPr algn="ctr">
              <a:spcAft>
                <a:spcPts val="500"/>
              </a:spcAft>
              <a:defRPr sz="1500" b="0" i="1">
                <a:solidFill>
                  <a:srgbClr val="D8B4FE"/>
                </a:solidFill>
                <a:latin typeface="Georgia"/>
              </a:defRPr>
            </a:pPr>
            <a:r>
              <a:t>The community thanks our food sponsors.</a:t>
            </a:r>
          </a:p>
          <a:p>
            <a:pPr algn="ctr">
              <a:spcAft>
                <a:spcPts val="500"/>
              </a:spcAft>
              <a:defRPr sz="1500" b="0" i="1">
                <a:solidFill>
                  <a:srgbClr val="D8B4FE"/>
                </a:solidFill>
                <a:latin typeface="Georgia"/>
              </a:defRPr>
            </a:pPr>
            <a:r>
              <a:t>(No sponsors listed — add names in Mass Builder.)</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F8C66A"/>
                </a:solidFill>
                <a:latin typeface="Georgia"/>
              </a:defRPr>
            </a:pPr>
            <a:r>
              <a:t>Gwangju Filipino Catholic Community</a:t>
            </a:r>
          </a:p>
          <a:p>
            <a:pPr>
              <a:spcBef>
                <a:spcPts val="200"/>
              </a:spcBef>
              <a:defRPr sz="1200" b="0" i="0">
                <a:solidFill>
                  <a:srgbClr val="D8B4FE"/>
                </a:solidFill>
                <a:latin typeface="Georgia"/>
              </a:defRPr>
            </a:pPr>
            <a:r>
              <a:t>Food Sponsors</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490472"/>
            <a:ext cx="16459200" cy="7790688"/>
          </a:xfrm>
          <a:prstGeom prst="rect">
            <a:avLst/>
          </a:prstGeom>
          <a:noFill/>
        </p:spPr>
        <p:txBody>
          <a:bodyPr wrap="square" lIns="109728" rIns="109728" tIns="73152" bIns="73152">
            <a:noAutofit/>
          </a:bodyPr>
          <a:lstStyle/>
          <a:p>
            <a:pPr algn="ctr">
              <a:spcAft>
                <a:spcPts val="500"/>
              </a:spcAft>
              <a:defRPr sz="1900" b="1" i="0">
                <a:solidFill>
                  <a:srgbClr val="FFFFFF"/>
                </a:solidFill>
                <a:latin typeface="Georgia"/>
              </a:defRPr>
            </a:pPr>
            <a:r>
              <a:t>CHURCH ANNOUNCEMENTS</a:t>
            </a:r>
          </a:p>
          <a:p>
            <a:pPr algn="ctr">
              <a:spcAft>
                <a:spcPts val="500"/>
              </a:spcAft>
              <a:defRPr sz="1500" b="0" i="1">
                <a:solidFill>
                  <a:srgbClr val="D8B4FE"/>
                </a:solidFill>
                <a:latin typeface="Georgia"/>
              </a:defRPr>
            </a:pPr>
            <a:r>
              <a:t>Insert bulletin points with complete sentences on the following slides or edit this deck.</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F8C66A"/>
                </a:solidFill>
                <a:latin typeface="Georgia"/>
              </a:defRPr>
            </a:pPr>
            <a:r>
              <a:t>Gwangju Filipino Catholic Community</a:t>
            </a:r>
          </a:p>
          <a:p>
            <a:pPr>
              <a:spcBef>
                <a:spcPts val="200"/>
              </a:spcBef>
              <a:defRPr sz="1200" b="0" i="0">
                <a:solidFill>
                  <a:srgbClr val="D8B4FE"/>
                </a:solidFill>
                <a:latin typeface="Georgia"/>
              </a:defRPr>
            </a:pPr>
            <a:r>
              <a:t>Announcements</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490472"/>
            <a:ext cx="16459200" cy="7790688"/>
          </a:xfrm>
          <a:prstGeom prst="rect">
            <a:avLst/>
          </a:prstGeom>
          <a:noFill/>
        </p:spPr>
        <p:txBody>
          <a:bodyPr wrap="square" lIns="109728" rIns="109728" tIns="73152" bIns="73152">
            <a:noAutofit/>
          </a:bodyPr>
          <a:lstStyle/>
          <a:p>
            <a:pPr algn="ctr">
              <a:spcAft>
                <a:spcPts val="500"/>
              </a:spcAft>
              <a:defRPr sz="1900" b="1" i="0">
                <a:solidFill>
                  <a:srgbClr val="FFFFFF"/>
                </a:solidFill>
                <a:latin typeface="Georgia"/>
              </a:defRPr>
            </a:pPr>
            <a:r>
              <a:t>Welcome newcomers!</a:t>
            </a:r>
          </a:p>
          <a:p>
            <a:pPr algn="ctr">
              <a:spcAft>
                <a:spcPts val="500"/>
              </a:spcAft>
              <a:defRPr sz="1500" b="0" i="1">
                <a:solidFill>
                  <a:srgbClr val="D8B4FE"/>
                </a:solidFill>
                <a:latin typeface="Georgia"/>
              </a:defRPr>
            </a:pPr>
            <a:r>
              <a:t>Photo collage optional.</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F8C66A"/>
                </a:solidFill>
                <a:latin typeface="Georgia"/>
              </a:defRPr>
            </a:pPr>
            <a:r>
              <a:t>Gwangju Filipino Catholic Community</a:t>
            </a:r>
          </a:p>
          <a:p>
            <a:pPr>
              <a:spcBef>
                <a:spcPts val="200"/>
              </a:spcBef>
              <a:defRPr sz="1200" b="0" i="0">
                <a:solidFill>
                  <a:srgbClr val="D8B4FE"/>
                </a:solidFill>
                <a:latin typeface="Georgia"/>
              </a:defRPr>
            </a:pPr>
            <a:r>
              <a:t>Announcements</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490472"/>
            <a:ext cx="16459200" cy="7790688"/>
          </a:xfrm>
          <a:prstGeom prst="rect">
            <a:avLst/>
          </a:prstGeom>
          <a:noFill/>
        </p:spPr>
        <p:txBody>
          <a:bodyPr wrap="square" lIns="109728" rIns="109728" tIns="73152" bIns="73152">
            <a:noAutofit/>
          </a:bodyPr>
          <a:lstStyle/>
          <a:p>
            <a:pPr algn="ctr">
              <a:spcAft>
                <a:spcPts val="500"/>
              </a:spcAft>
              <a:defRPr sz="1900" b="1" i="0">
                <a:solidFill>
                  <a:srgbClr val="FFFFFF"/>
                </a:solidFill>
                <a:latin typeface="Georgia"/>
              </a:defRPr>
            </a:pPr>
            <a:r>
              <a:t>Sacrament of Confession</a:t>
            </a:r>
          </a:p>
          <a:p>
            <a:pPr algn="ctr">
              <a:spcAft>
                <a:spcPts val="500"/>
              </a:spcAft>
              <a:defRPr sz="1500" b="0" i="1">
                <a:solidFill>
                  <a:srgbClr val="D8B4FE"/>
                </a:solidFill>
                <a:latin typeface="Georgia"/>
              </a:defRPr>
            </a:pPr>
            <a:r>
              <a:t>The Lord never tires of forgiving us; we are the ones who tire of seeking his mercy. — Pope Francis</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F8C66A"/>
                </a:solidFill>
                <a:latin typeface="Georgia"/>
              </a:defRPr>
            </a:pPr>
            <a:r>
              <a:t>Gwangju Filipino Catholic Community</a:t>
            </a:r>
          </a:p>
          <a:p>
            <a:pPr>
              <a:spcBef>
                <a:spcPts val="200"/>
              </a:spcBef>
              <a:defRPr sz="1200" b="0" i="0">
                <a:solidFill>
                  <a:srgbClr val="D8B4FE"/>
                </a:solidFill>
                <a:latin typeface="Georgia"/>
              </a:defRPr>
            </a:pPr>
            <a:r>
              <a:t>Announcements</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490472"/>
            <a:ext cx="16459200" cy="7790688"/>
          </a:xfrm>
          <a:prstGeom prst="rect">
            <a:avLst/>
          </a:prstGeom>
          <a:noFill/>
        </p:spPr>
        <p:txBody>
          <a:bodyPr wrap="square" lIns="109728" rIns="109728" tIns="73152" bIns="73152">
            <a:noAutofit/>
          </a:bodyPr>
          <a:lstStyle/>
          <a:p>
            <a:pPr algn="ctr">
              <a:spcAft>
                <a:spcPts val="500"/>
              </a:spcAft>
              <a:defRPr sz="1900" b="1" i="0">
                <a:solidFill>
                  <a:srgbClr val="FFFFFF"/>
                </a:solidFill>
                <a:latin typeface="Georgia"/>
              </a:defRPr>
            </a:pPr>
            <a:r>
              <a:t>Updates and Announcements</a:t>
            </a:r>
          </a:p>
          <a:p>
            <a:pPr algn="ctr">
              <a:spcAft>
                <a:spcPts val="500"/>
              </a:spcAft>
              <a:defRPr sz="1500" b="0" i="1">
                <a:solidFill>
                  <a:srgbClr val="D8B4FE"/>
                </a:solidFill>
                <a:latin typeface="Georgia"/>
              </a:defRPr>
            </a:pPr>
            <a:r>
              <a:t>Name your community page and invitation to follow in full; add a QR code to the slide master if you wish.</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F8C66A"/>
                </a:solidFill>
                <a:latin typeface="Georgia"/>
              </a:defRPr>
            </a:pPr>
            <a:r>
              <a:t>Gwangju Filipino Catholic Community</a:t>
            </a:r>
          </a:p>
          <a:p>
            <a:pPr>
              <a:spcBef>
                <a:spcPts val="200"/>
              </a:spcBef>
              <a:defRPr sz="1200" b="0" i="0">
                <a:solidFill>
                  <a:srgbClr val="D8B4FE"/>
                </a:solidFill>
                <a:latin typeface="Georgia"/>
              </a:defRPr>
            </a:pPr>
            <a:r>
              <a:t>Announcements</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490472"/>
            <a:ext cx="16459200" cy="7790688"/>
          </a:xfrm>
          <a:prstGeom prst="rect">
            <a:avLst/>
          </a:prstGeom>
          <a:noFill/>
        </p:spPr>
        <p:txBody>
          <a:bodyPr wrap="square" lIns="109728" rIns="109728" tIns="73152" bIns="73152">
            <a:noAutofit/>
          </a:bodyPr>
          <a:lstStyle/>
          <a:p>
            <a:pPr algn="ctr">
              <a:spcBef>
                <a:spcPts val="400"/>
              </a:spcBef>
              <a:spcAft>
                <a:spcPts val="500"/>
              </a:spcAft>
              <a:defRPr sz="2000" b="1" i="0">
                <a:solidFill>
                  <a:srgbClr val="D8B4FE"/>
                </a:solidFill>
                <a:latin typeface="Georgia"/>
              </a:defRPr>
            </a:pPr>
            <a:r>
              <a:t>Priest: The Lord be with you.</a:t>
            </a:r>
          </a:p>
          <a:p>
            <a:pPr algn="ctr">
              <a:spcBef>
                <a:spcPts val="400"/>
              </a:spcBef>
              <a:spcAft>
                <a:spcPts val="500"/>
              </a:spcAft>
              <a:defRPr sz="2000" b="1" i="0">
                <a:solidFill>
                  <a:srgbClr val="FFFFFF"/>
                </a:solidFill>
                <a:latin typeface="Georgia"/>
              </a:defRPr>
            </a:pPr>
            <a:r>
              <a:t>All: And with your spirit.</a:t>
            </a:r>
          </a:p>
          <a:p>
            <a:pPr algn="ctr">
              <a:spcBef>
                <a:spcPts val="400"/>
              </a:spcBef>
              <a:spcAft>
                <a:spcPts val="500"/>
              </a:spcAft>
              <a:defRPr sz="2000" b="1" i="0">
                <a:solidFill>
                  <a:srgbClr val="D8B4FE"/>
                </a:solidFill>
                <a:latin typeface="Georgia"/>
              </a:defRPr>
            </a:pPr>
            <a:r>
              <a:t>Priest: May almighty God bless you, the Father, and the Son, and the Holy Spirit.</a:t>
            </a:r>
          </a:p>
          <a:p>
            <a:pPr algn="ctr">
              <a:spcBef>
                <a:spcPts val="400"/>
              </a:spcBef>
              <a:spcAft>
                <a:spcPts val="500"/>
              </a:spcAft>
              <a:defRPr sz="2000" b="1" i="0">
                <a:solidFill>
                  <a:srgbClr val="FFFFFF"/>
                </a:solidFill>
                <a:latin typeface="Georgia"/>
              </a:defRPr>
            </a:pPr>
            <a:r>
              <a:t>All: Amen.</a:t>
            </a:r>
          </a:p>
          <a:p>
            <a:pPr algn="ctr">
              <a:spcBef>
                <a:spcPts val="400"/>
              </a:spcBef>
              <a:spcAft>
                <a:spcPts val="500"/>
              </a:spcAft>
              <a:defRPr sz="2000" b="1" i="0">
                <a:solidFill>
                  <a:srgbClr val="D8B4FE"/>
                </a:solidFill>
                <a:latin typeface="Georgia"/>
              </a:defRPr>
            </a:pPr>
            <a:r>
              <a:t>Priest: Go in peace, glorifying the Lord by your life.</a:t>
            </a:r>
          </a:p>
          <a:p>
            <a:pPr algn="ctr">
              <a:spcBef>
                <a:spcPts val="400"/>
              </a:spcBef>
              <a:spcAft>
                <a:spcPts val="500"/>
              </a:spcAft>
              <a:defRPr sz="2000" b="1" i="0">
                <a:solidFill>
                  <a:srgbClr val="FFFFFF"/>
                </a:solidFill>
                <a:latin typeface="Georgia"/>
              </a:defRPr>
            </a:pPr>
            <a:r>
              <a:t>All: Thanks be to God.</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F8C66A"/>
                </a:solidFill>
                <a:latin typeface="Georgia"/>
              </a:defRPr>
            </a:pPr>
            <a:r>
              <a:t>Gwangju Filipino Catholic Community</a:t>
            </a:r>
          </a:p>
          <a:p>
            <a:pPr>
              <a:spcBef>
                <a:spcPts val="200"/>
              </a:spcBef>
              <a:defRPr sz="1200" b="0" i="0">
                <a:solidFill>
                  <a:srgbClr val="D8B4FE"/>
                </a:solidFill>
                <a:latin typeface="Georgia"/>
              </a:defRPr>
            </a:pPr>
            <a:r>
              <a:t>Final Blessing</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490472"/>
            <a:ext cx="16459200" cy="868680"/>
          </a:xfrm>
          <a:prstGeom prst="rect">
            <a:avLst/>
          </a:prstGeom>
          <a:noFill/>
        </p:spPr>
        <p:txBody>
          <a:bodyPr wrap="square" lIns="109728" rIns="109728" tIns="73152" bIns="73152">
            <a:noAutofit/>
          </a:bodyPr>
          <a:lstStyle/>
          <a:p>
            <a:pPr algn="ctr">
              <a:defRPr sz="3800" b="1" i="0">
                <a:solidFill>
                  <a:srgbClr val="FFCC4D"/>
                </a:solidFill>
                <a:latin typeface="Georgia"/>
              </a:defRPr>
            </a:pPr>
            <a:r>
              <a:t>Alleluia! Sing to Jesus</a:t>
            </a:r>
          </a:p>
        </p:txBody>
      </p:sp>
      <p:sp>
        <p:nvSpPr>
          <p:cNvPr id="5" name="TextBox 4"/>
          <p:cNvSpPr txBox="1"/>
          <p:nvPr/>
        </p:nvSpPr>
        <p:spPr>
          <a:xfrm>
            <a:off x="914400" y="2587752"/>
            <a:ext cx="16459200" cy="6830568"/>
          </a:xfrm>
          <a:prstGeom prst="rect">
            <a:avLst/>
          </a:prstGeom>
          <a:noFill/>
        </p:spPr>
        <p:txBody>
          <a:bodyPr wrap="square" lIns="109728" rIns="109728" tIns="73152" bIns="73152" anchor="ctr">
            <a:noAutofit/>
          </a:bodyPr>
          <a:lstStyle/>
          <a:p>
            <a:pPr algn="ctr">
              <a:lnSpc>
                <a:spcPct val="105000"/>
              </a:lnSpc>
              <a:spcAft>
                <a:spcPts val="1000"/>
              </a:spcAft>
              <a:defRPr sz="5500" b="1" i="0">
                <a:solidFill>
                  <a:srgbClr val="FFFFFF"/>
                </a:solidFill>
                <a:latin typeface="Arial Black"/>
              </a:defRPr>
            </a:pPr>
            <a:r>
              <a:t>ALLELUIA! SING TO JESUS!</a:t>
            </a:r>
          </a:p>
          <a:p>
            <a:pPr algn="ctr">
              <a:lnSpc>
                <a:spcPct val="105000"/>
              </a:lnSpc>
              <a:spcAft>
                <a:spcPts val="1000"/>
              </a:spcAft>
              <a:defRPr sz="5500" b="1" i="0">
                <a:solidFill>
                  <a:srgbClr val="FFFFFF"/>
                </a:solidFill>
                <a:latin typeface="Arial Black"/>
              </a:defRPr>
            </a:pPr>
            <a:r>
              <a:t>HIS THE SCEPTER, HIS THE THRONE;</a:t>
            </a:r>
          </a:p>
          <a:p>
            <a:pPr algn="ctr">
              <a:lnSpc>
                <a:spcPct val="105000"/>
              </a:lnSpc>
              <a:spcAft>
                <a:spcPts val="1000"/>
              </a:spcAft>
              <a:defRPr sz="5500" b="1" i="0">
                <a:solidFill>
                  <a:srgbClr val="FFFFFF"/>
                </a:solidFill>
                <a:latin typeface="Arial Black"/>
              </a:defRPr>
            </a:pPr>
            <a:r>
              <a:t>ALLELUIA! HIS THE TRIUMPH,</a:t>
            </a:r>
          </a:p>
          <a:p>
            <a:pPr algn="ctr">
              <a:lnSpc>
                <a:spcPct val="105000"/>
              </a:lnSpc>
              <a:spcAft>
                <a:spcPts val="1000"/>
              </a:spcAft>
              <a:defRPr sz="5500" b="1" i="0">
                <a:solidFill>
                  <a:srgbClr val="FFFFFF"/>
                </a:solidFill>
                <a:latin typeface="Arial Black"/>
              </a:defRPr>
            </a:pPr>
            <a:r>
              <a:t>HIS THE VICTORY ALONE.</a:t>
            </a:r>
          </a:p>
        </p:txBody>
      </p:sp>
      <p:sp>
        <p:nvSpPr>
          <p:cNvPr id="6" name="TextBox 5"/>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8C8C91"/>
                </a:solidFill>
                <a:latin typeface="Georgia"/>
              </a:defRPr>
            </a:pPr>
            <a:r>
              <a:t>Gwangju Filipino Catholic Community</a:t>
            </a:r>
          </a:p>
          <a:p>
            <a:pPr>
              <a:spcBef>
                <a:spcPts val="200"/>
              </a:spcBef>
              <a:defRPr sz="1200" b="0" i="0">
                <a:solidFill>
                  <a:srgbClr val="FFCC4D"/>
                </a:solidFill>
                <a:latin typeface="Georgia"/>
              </a:defRPr>
            </a:pPr>
            <a:r>
              <a:t>Recessional</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490472"/>
            <a:ext cx="16459200" cy="7927848"/>
          </a:xfrm>
          <a:prstGeom prst="rect">
            <a:avLst/>
          </a:prstGeom>
          <a:noFill/>
        </p:spPr>
        <p:txBody>
          <a:bodyPr wrap="square" lIns="109728" rIns="109728" tIns="73152" bIns="73152" anchor="ctr">
            <a:noAutofit/>
          </a:bodyPr>
          <a:lstStyle/>
          <a:p>
            <a:pPr algn="ctr">
              <a:lnSpc>
                <a:spcPct val="105000"/>
              </a:lnSpc>
              <a:spcAft>
                <a:spcPts val="1000"/>
              </a:spcAft>
              <a:defRPr sz="5500" b="1" i="0">
                <a:solidFill>
                  <a:srgbClr val="FFFFFF"/>
                </a:solidFill>
                <a:latin typeface="Arial Black"/>
              </a:defRPr>
            </a:pPr>
            <a:r>
              <a:t>HARK! THE SONGS OF PEACEFUL ZION</a:t>
            </a:r>
          </a:p>
          <a:p>
            <a:pPr algn="ctr">
              <a:lnSpc>
                <a:spcPct val="105000"/>
              </a:lnSpc>
              <a:spcAft>
                <a:spcPts val="1000"/>
              </a:spcAft>
              <a:defRPr sz="5500" b="1" i="0">
                <a:solidFill>
                  <a:srgbClr val="FFFFFF"/>
                </a:solidFill>
                <a:latin typeface="Arial Black"/>
              </a:defRPr>
            </a:pPr>
            <a:r>
              <a:t>THUNDER LIKE A MIGHTY FLOOD;</a:t>
            </a:r>
          </a:p>
          <a:p>
            <a:pPr algn="ctr">
              <a:lnSpc>
                <a:spcPct val="105000"/>
              </a:lnSpc>
              <a:spcAft>
                <a:spcPts val="1000"/>
              </a:spcAft>
              <a:defRPr sz="5500" b="1" i="0">
                <a:solidFill>
                  <a:srgbClr val="FFFFFF"/>
                </a:solidFill>
                <a:latin typeface="Arial Black"/>
              </a:defRPr>
            </a:pPr>
            <a:r>
              <a:t>JESUS OUT OF EVERY NATION</a:t>
            </a:r>
          </a:p>
          <a:p>
            <a:pPr algn="ctr">
              <a:lnSpc>
                <a:spcPct val="105000"/>
              </a:lnSpc>
              <a:spcAft>
                <a:spcPts val="1000"/>
              </a:spcAft>
              <a:defRPr sz="5500" b="1" i="0">
                <a:solidFill>
                  <a:srgbClr val="FFFFFF"/>
                </a:solidFill>
                <a:latin typeface="Arial Black"/>
              </a:defRPr>
            </a:pPr>
            <a:r>
              <a:t>HATH REDEEMED US BY HIS BLOOD.</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8C8C91"/>
                </a:solidFill>
                <a:latin typeface="Georgia"/>
              </a:defRPr>
            </a:pPr>
            <a:r>
              <a:t>Gwangju Filipino Catholic Community</a:t>
            </a:r>
          </a:p>
          <a:p>
            <a:pPr>
              <a:spcBef>
                <a:spcPts val="200"/>
              </a:spcBef>
              <a:defRPr sz="1200" b="0" i="0">
                <a:solidFill>
                  <a:srgbClr val="FFCC4D"/>
                </a:solidFill>
                <a:latin typeface="Georgia"/>
              </a:defRPr>
            </a:pPr>
            <a:r>
              <a:t>Recessional</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490472"/>
            <a:ext cx="16459200" cy="7927848"/>
          </a:xfrm>
          <a:prstGeom prst="rect">
            <a:avLst/>
          </a:prstGeom>
          <a:noFill/>
        </p:spPr>
        <p:txBody>
          <a:bodyPr wrap="square" lIns="109728" rIns="109728" tIns="73152" bIns="73152" anchor="ctr">
            <a:noAutofit/>
          </a:bodyPr>
          <a:lstStyle/>
          <a:p>
            <a:pPr algn="ctr">
              <a:lnSpc>
                <a:spcPct val="105000"/>
              </a:lnSpc>
              <a:spcAft>
                <a:spcPts val="1000"/>
              </a:spcAft>
              <a:defRPr sz="5500" b="1" i="0">
                <a:solidFill>
                  <a:srgbClr val="FFFFFF"/>
                </a:solidFill>
                <a:latin typeface="Arial Black"/>
              </a:defRPr>
            </a:pPr>
            <a:r>
              <a:t>ALLELUIA! NOT AS ORPHANS</a:t>
            </a:r>
          </a:p>
          <a:p>
            <a:pPr algn="ctr">
              <a:lnSpc>
                <a:spcPct val="105000"/>
              </a:lnSpc>
              <a:spcAft>
                <a:spcPts val="1000"/>
              </a:spcAft>
              <a:defRPr sz="5500" b="1" i="0">
                <a:solidFill>
                  <a:srgbClr val="FFFFFF"/>
                </a:solidFill>
                <a:latin typeface="Arial Black"/>
              </a:defRPr>
            </a:pPr>
            <a:r>
              <a:t>ARE WE LEFT IN SORROW SORE;</a:t>
            </a:r>
          </a:p>
          <a:p>
            <a:pPr algn="ctr">
              <a:lnSpc>
                <a:spcPct val="105000"/>
              </a:lnSpc>
              <a:spcAft>
                <a:spcPts val="1000"/>
              </a:spcAft>
              <a:defRPr sz="5500" b="1" i="0">
                <a:solidFill>
                  <a:srgbClr val="FFFFFF"/>
                </a:solidFill>
                <a:latin typeface="Arial Black"/>
              </a:defRPr>
            </a:pPr>
            <a:r>
              <a:t>ONE WITH LOVE EXCEEDING FATHER,</a:t>
            </a:r>
          </a:p>
          <a:p>
            <a:pPr algn="ctr">
              <a:lnSpc>
                <a:spcPct val="105000"/>
              </a:lnSpc>
              <a:spcAft>
                <a:spcPts val="1000"/>
              </a:spcAft>
              <a:defRPr sz="5500" b="1" i="0">
                <a:solidFill>
                  <a:srgbClr val="FFFFFF"/>
                </a:solidFill>
                <a:latin typeface="Arial Black"/>
              </a:defRPr>
            </a:pPr>
            <a:r>
              <a:t>ONE WITH LOVE EXCEEDING MOTHER,</a:t>
            </a:r>
          </a:p>
          <a:p>
            <a:pPr algn="ctr">
              <a:lnSpc>
                <a:spcPct val="105000"/>
              </a:lnSpc>
              <a:spcAft>
                <a:spcPts val="1000"/>
              </a:spcAft>
              <a:defRPr sz="5500" b="1" i="0">
                <a:solidFill>
                  <a:srgbClr val="FFFFFF"/>
                </a:solidFill>
                <a:latin typeface="Arial Black"/>
              </a:defRPr>
            </a:pPr>
            <a:r>
              <a:t>HE HATH GONE BEFORE.</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8C8C91"/>
                </a:solidFill>
                <a:latin typeface="Georgia"/>
              </a:defRPr>
            </a:pPr>
            <a:r>
              <a:t>Gwangju Filipino Catholic Community</a:t>
            </a:r>
          </a:p>
          <a:p>
            <a:pPr>
              <a:spcBef>
                <a:spcPts val="200"/>
              </a:spcBef>
              <a:defRPr sz="1200" b="0" i="0">
                <a:solidFill>
                  <a:srgbClr val="FFCC4D"/>
                </a:solidFill>
                <a:latin typeface="Georgia"/>
              </a:defRPr>
            </a:pPr>
            <a:r>
              <a:t>Recessional</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490472"/>
            <a:ext cx="16459200" cy="7927848"/>
          </a:xfrm>
          <a:prstGeom prst="rect">
            <a:avLst/>
          </a:prstGeom>
          <a:noFill/>
        </p:spPr>
        <p:txBody>
          <a:bodyPr wrap="square" lIns="109728" rIns="109728" tIns="73152" bIns="73152" anchor="ctr">
            <a:noAutofit/>
          </a:bodyPr>
          <a:lstStyle/>
          <a:p>
            <a:pPr algn="ctr">
              <a:lnSpc>
                <a:spcPct val="105000"/>
              </a:lnSpc>
              <a:spcAft>
                <a:spcPts val="1000"/>
              </a:spcAft>
              <a:defRPr sz="5500" b="1" i="0">
                <a:solidFill>
                  <a:srgbClr val="FFFFFF"/>
                </a:solidFill>
                <a:latin typeface="Arial Black"/>
              </a:defRPr>
            </a:pPr>
            <a:r>
              <a:t>ALLELUIA! BREAD OF ANGELS,</a:t>
            </a:r>
          </a:p>
          <a:p>
            <a:pPr algn="ctr">
              <a:lnSpc>
                <a:spcPct val="105000"/>
              </a:lnSpc>
              <a:spcAft>
                <a:spcPts val="1000"/>
              </a:spcAft>
              <a:defRPr sz="5500" b="1" i="0">
                <a:solidFill>
                  <a:srgbClr val="FFFFFF"/>
                </a:solidFill>
                <a:latin typeface="Arial Black"/>
              </a:defRPr>
            </a:pPr>
            <a:r>
              <a:t>THOU ON EARTH OUR FOOD, OUR STAY;</a:t>
            </a:r>
          </a:p>
          <a:p>
            <a:pPr algn="ctr">
              <a:lnSpc>
                <a:spcPct val="105000"/>
              </a:lnSpc>
              <a:spcAft>
                <a:spcPts val="1000"/>
              </a:spcAft>
              <a:defRPr sz="5500" b="1" i="0">
                <a:solidFill>
                  <a:srgbClr val="FFFFFF"/>
                </a:solidFill>
                <a:latin typeface="Arial Black"/>
              </a:defRPr>
            </a:pPr>
            <a:r>
              <a:t>ALLELUIA! HERE THE SINFUL</a:t>
            </a:r>
          </a:p>
          <a:p>
            <a:pPr algn="ctr">
              <a:lnSpc>
                <a:spcPct val="105000"/>
              </a:lnSpc>
              <a:spcAft>
                <a:spcPts val="1000"/>
              </a:spcAft>
              <a:defRPr sz="5500" b="1" i="0">
                <a:solidFill>
                  <a:srgbClr val="FFFFFF"/>
                </a:solidFill>
                <a:latin typeface="Arial Black"/>
              </a:defRPr>
            </a:pPr>
            <a:r>
              <a:t>TO THY PRESENCE SING ALWAY.</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8C8C91"/>
                </a:solidFill>
                <a:latin typeface="Georgia"/>
              </a:defRPr>
            </a:pPr>
            <a:r>
              <a:t>Gwangju Filipino Catholic Community</a:t>
            </a:r>
          </a:p>
          <a:p>
            <a:pPr>
              <a:spcBef>
                <a:spcPts val="200"/>
              </a:spcBef>
              <a:defRPr sz="1200" b="0" i="0">
                <a:solidFill>
                  <a:srgbClr val="FFCC4D"/>
                </a:solidFill>
                <a:latin typeface="Georgia"/>
              </a:defRPr>
            </a:pPr>
            <a:r>
              <a:t>Recessional</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490472"/>
            <a:ext cx="16459200" cy="7927848"/>
          </a:xfrm>
          <a:prstGeom prst="rect">
            <a:avLst/>
          </a:prstGeom>
          <a:noFill/>
        </p:spPr>
        <p:txBody>
          <a:bodyPr wrap="square" lIns="109728" rIns="109728" tIns="73152" bIns="73152" anchor="ctr">
            <a:noAutofit/>
          </a:bodyPr>
          <a:lstStyle/>
          <a:p>
            <a:pPr algn="ctr">
              <a:lnSpc>
                <a:spcPct val="105000"/>
              </a:lnSpc>
              <a:spcAft>
                <a:spcPts val="1000"/>
              </a:spcAft>
              <a:defRPr sz="5500" b="1" i="0">
                <a:solidFill>
                  <a:srgbClr val="FFFFFF"/>
                </a:solidFill>
                <a:latin typeface="Arial Black"/>
              </a:defRPr>
            </a:pPr>
            <a:r>
              <a:t>ALLELUIA! KING ETERNAL,</a:t>
            </a:r>
          </a:p>
          <a:p>
            <a:pPr algn="ctr">
              <a:lnSpc>
                <a:spcPct val="105000"/>
              </a:lnSpc>
              <a:spcAft>
                <a:spcPts val="1000"/>
              </a:spcAft>
              <a:defRPr sz="5500" b="1" i="0">
                <a:solidFill>
                  <a:srgbClr val="FFFFFF"/>
                </a:solidFill>
                <a:latin typeface="Arial Black"/>
              </a:defRPr>
            </a:pPr>
            <a:r>
              <a:t>THOU THE LORD WHOM WE ADORE;</a:t>
            </a:r>
          </a:p>
          <a:p>
            <a:pPr algn="ctr">
              <a:lnSpc>
                <a:spcPct val="105000"/>
              </a:lnSpc>
              <a:spcAft>
                <a:spcPts val="1000"/>
              </a:spcAft>
              <a:defRPr sz="5500" b="1" i="0">
                <a:solidFill>
                  <a:srgbClr val="FFFFFF"/>
                </a:solidFill>
                <a:latin typeface="Arial Black"/>
              </a:defRPr>
            </a:pPr>
            <a:r>
              <a:t>ALLELUIA! SON AND FATHER,</a:t>
            </a:r>
          </a:p>
          <a:p>
            <a:pPr algn="ctr">
              <a:lnSpc>
                <a:spcPct val="105000"/>
              </a:lnSpc>
              <a:spcAft>
                <a:spcPts val="1000"/>
              </a:spcAft>
              <a:defRPr sz="5500" b="1" i="0">
                <a:solidFill>
                  <a:srgbClr val="FFFFFF"/>
                </a:solidFill>
                <a:latin typeface="Arial Black"/>
              </a:defRPr>
            </a:pPr>
            <a:r>
              <a:t>HOLY SPIRIT, ONE FOREVERMORE,</a:t>
            </a:r>
          </a:p>
          <a:p>
            <a:pPr algn="ctr">
              <a:lnSpc>
                <a:spcPct val="105000"/>
              </a:lnSpc>
              <a:spcAft>
                <a:spcPts val="1000"/>
              </a:spcAft>
              <a:defRPr sz="5500" b="1" i="0">
                <a:solidFill>
                  <a:srgbClr val="FFFFFF"/>
                </a:solidFill>
                <a:latin typeface="Arial Black"/>
              </a:defRPr>
            </a:pPr>
            <a:r>
              <a:t>WE WOULD BOW BEFORE.</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8C8C91"/>
                </a:solidFill>
                <a:latin typeface="Georgia"/>
              </a:defRPr>
            </a:pPr>
            <a:r>
              <a:t>Gwangju Filipino Catholic Community</a:t>
            </a:r>
          </a:p>
          <a:p>
            <a:pPr>
              <a:spcBef>
                <a:spcPts val="200"/>
              </a:spcBef>
              <a:defRPr sz="1200" b="0" i="0">
                <a:solidFill>
                  <a:srgbClr val="FFCC4D"/>
                </a:solidFill>
                <a:latin typeface="Georgia"/>
              </a:defRPr>
            </a:pPr>
            <a:r>
              <a:t>Recessional</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490472"/>
            <a:ext cx="16459200" cy="7927848"/>
          </a:xfrm>
          <a:prstGeom prst="rect">
            <a:avLst/>
          </a:prstGeom>
          <a:noFill/>
        </p:spPr>
        <p:txBody>
          <a:bodyPr wrap="square" lIns="109728" rIns="109728" tIns="73152" bIns="73152" anchor="ctr">
            <a:noAutofit/>
          </a:bodyPr>
          <a:lstStyle/>
          <a:p>
            <a:pPr algn="ctr">
              <a:lnSpc>
                <a:spcPct val="105000"/>
              </a:lnSpc>
              <a:spcAft>
                <a:spcPts val="1000"/>
              </a:spcAft>
              <a:defRPr sz="5500" b="1" i="0">
                <a:solidFill>
                  <a:srgbClr val="FFFFFF"/>
                </a:solidFill>
                <a:latin typeface="Arial Black"/>
              </a:defRPr>
            </a:pPr>
            <a:r>
              <a:t>ALLELUIA! SING TO JESUS!</a:t>
            </a:r>
          </a:p>
          <a:p>
            <a:pPr algn="ctr">
              <a:lnSpc>
                <a:spcPct val="105000"/>
              </a:lnSpc>
              <a:spcAft>
                <a:spcPts val="1000"/>
              </a:spcAft>
              <a:defRPr sz="5500" b="1" i="0">
                <a:solidFill>
                  <a:srgbClr val="FFFFFF"/>
                </a:solidFill>
                <a:latin typeface="Arial Black"/>
              </a:defRPr>
            </a:pPr>
            <a:r>
              <a:t>HIS THE SCEPTER, HIS THE THRONE;</a:t>
            </a:r>
          </a:p>
          <a:p>
            <a:pPr algn="ctr">
              <a:lnSpc>
                <a:spcPct val="105000"/>
              </a:lnSpc>
              <a:spcAft>
                <a:spcPts val="1000"/>
              </a:spcAft>
              <a:defRPr sz="5500" b="1" i="0">
                <a:solidFill>
                  <a:srgbClr val="FFFFFF"/>
                </a:solidFill>
                <a:latin typeface="Arial Black"/>
              </a:defRPr>
            </a:pPr>
            <a:r>
              <a:t>ALLELUIA! HIS THE TRIUMPH,</a:t>
            </a:r>
          </a:p>
          <a:p>
            <a:pPr algn="ctr">
              <a:lnSpc>
                <a:spcPct val="105000"/>
              </a:lnSpc>
              <a:spcAft>
                <a:spcPts val="1000"/>
              </a:spcAft>
              <a:defRPr sz="5500" b="1" i="0">
                <a:solidFill>
                  <a:srgbClr val="FFFFFF"/>
                </a:solidFill>
                <a:latin typeface="Arial Black"/>
              </a:defRPr>
            </a:pPr>
            <a:r>
              <a:t>HIS THE VICTORY ALONE.</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8C8C91"/>
                </a:solidFill>
                <a:latin typeface="Georgia"/>
              </a:defRPr>
            </a:pPr>
            <a:r>
              <a:t>Gwangju Filipino Catholic Community</a:t>
            </a:r>
          </a:p>
          <a:p>
            <a:pPr>
              <a:spcBef>
                <a:spcPts val="200"/>
              </a:spcBef>
              <a:defRPr sz="1200" b="0" i="0">
                <a:solidFill>
                  <a:srgbClr val="FFCC4D"/>
                </a:solidFill>
                <a:latin typeface="Georgia"/>
              </a:defRPr>
            </a:pPr>
            <a:r>
              <a:t>Recessional</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GFCC17May2026_Eastertide_16x9.png"/>
          <p:cNvPicPr>
            <a:picLocks noChangeAspect="1"/>
          </p:cNvPicPr>
          <p:nvPr/>
        </p:nvPicPr>
        <p:blipFill>
          <a:blip r:embed="rId2"/>
          <a:stretch>
            <a:fillRect/>
          </a:stretch>
        </p:blipFill>
        <p:spPr>
          <a:xfrm>
            <a:off x="0" y="0"/>
            <a:ext cx="18288000" cy="10287000"/>
          </a:xfrm>
          <a:prstGeom prst="rect">
            <a:avLst/>
          </a:prstGeom>
        </p:spPr>
      </p:pic>
      <p:pic>
        <p:nvPicPr>
          <p:cNvPr id="3" name="Picture 2" descr="community_logo.png"/>
          <p:cNvPicPr>
            <a:picLocks noChangeAspect="1"/>
          </p:cNvPicPr>
          <p:nvPr/>
        </p:nvPicPr>
        <p:blipFill>
          <a:blip r:embed="rId3"/>
          <a:stretch>
            <a:fillRect/>
          </a:stretch>
        </p:blipFill>
        <p:spPr>
          <a:xfrm>
            <a:off x="914400" y="256032"/>
            <a:ext cx="387682" cy="384048"/>
          </a:xfrm>
          <a:prstGeom prst="rect">
            <a:avLst/>
          </a:prstGeom>
        </p:spPr>
      </p:pic>
      <p:sp>
        <p:nvSpPr>
          <p:cNvPr id="4" name="TextBox 3"/>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5" name="TextBox 4"/>
          <p:cNvSpPr txBox="1"/>
          <p:nvPr/>
        </p:nvSpPr>
        <p:spPr>
          <a:xfrm>
            <a:off x="914400" y="1810512"/>
            <a:ext cx="16459200" cy="5943600"/>
          </a:xfrm>
          <a:prstGeom prst="rect">
            <a:avLst/>
          </a:prstGeom>
          <a:noFill/>
        </p:spPr>
        <p:txBody>
          <a:bodyPr wrap="square" lIns="109728" rIns="109728" tIns="73152" bIns="73152">
            <a:noAutofit/>
          </a:bodyPr>
          <a:lstStyle/>
          <a:p>
            <a:pPr>
              <a:spcAft>
                <a:spcPts val="300"/>
              </a:spcAft>
              <a:defRPr sz="2100" b="1" i="0">
                <a:solidFill>
                  <a:srgbClr val="D8B4FE"/>
                </a:solidFill>
                <a:latin typeface="Georgia"/>
              </a:defRPr>
            </a:pPr>
            <a:r>
              <a:t>MASS CELEBRANT:</a:t>
            </a:r>
          </a:p>
          <a:p>
            <a:pPr>
              <a:spcAft>
                <a:spcPts val="300"/>
              </a:spcAft>
              <a:defRPr sz="2100" b="0" i="0">
                <a:solidFill>
                  <a:srgbClr val="FFFFFF"/>
                </a:solidFill>
                <a:latin typeface="Georgia"/>
              </a:defRPr>
            </a:pPr>
            <a:r>
              <a:t>Rev. Fr. Jonrey Lauron, RCJ</a:t>
            </a:r>
          </a:p>
          <a:p>
            <a:pPr>
              <a:spcAft>
                <a:spcPts val="300"/>
              </a:spcAft>
              <a:defRPr sz="2100" b="0" i="0">
                <a:solidFill>
                  <a:srgbClr val="FFFFFF"/>
                </a:solidFill>
                <a:latin typeface="Georgia"/>
              </a:defRPr>
            </a:pPr>
          </a:p>
          <a:p>
            <a:pPr>
              <a:spcAft>
                <a:spcPts val="300"/>
              </a:spcAft>
              <a:defRPr sz="2100" b="0" i="0">
                <a:solidFill>
                  <a:srgbClr val="FFFFFF"/>
                </a:solidFill>
                <a:latin typeface="Georgia"/>
              </a:defRPr>
            </a:pPr>
            <a:r>
              <a:t>Gwangju</a:t>
            </a:r>
            <a:br/>
            <a:r>
              <a:t>Filipino</a:t>
            </a:r>
            <a:br/>
            <a:r>
              <a:t>Catholic</a:t>
            </a:r>
            <a:br/>
            <a:r>
              <a:t>Community</a:t>
            </a:r>
          </a:p>
          <a:p>
            <a:pPr>
              <a:spcAft>
                <a:spcPts val="300"/>
              </a:spcAft>
              <a:defRPr sz="2100" b="0" i="0">
                <a:solidFill>
                  <a:srgbClr val="FFFFFF"/>
                </a:solidFill>
                <a:latin typeface="Georgia"/>
              </a:defRPr>
            </a:pPr>
          </a:p>
          <a:p>
            <a:pPr>
              <a:spcAft>
                <a:spcPts val="300"/>
              </a:spcAft>
              <a:defRPr sz="2100" b="0" i="0">
                <a:solidFill>
                  <a:srgbClr val="FFFFFF"/>
                </a:solidFill>
                <a:latin typeface="Georgia"/>
              </a:defRPr>
            </a:pPr>
            <a:r>
              <a:t>Gospel (Matthew 28:16-20)</a:t>
            </a:r>
          </a:p>
          <a:p>
            <a:pPr>
              <a:spcAft>
                <a:spcPts val="300"/>
              </a:spcAft>
              <a:defRPr sz="2100" b="0" i="0">
                <a:solidFill>
                  <a:srgbClr val="FFFFFF"/>
                </a:solidFill>
                <a:latin typeface="Georgia"/>
              </a:defRPr>
            </a:pPr>
            <a:r>
              <a:t>“All authority has been given to me in heaven and on earth.”</a:t>
            </a:r>
          </a:p>
          <a:p>
            <a:pPr>
              <a:spcAft>
                <a:spcPts val="300"/>
              </a:spcAft>
              <a:defRPr sz="2100" b="0" i="0">
                <a:solidFill>
                  <a:srgbClr val="FFFFFF"/>
                </a:solidFill>
                <a:latin typeface="Georgia"/>
              </a:defRPr>
            </a:pPr>
          </a:p>
          <a:p>
            <a:pPr>
              <a:spcAft>
                <a:spcPts val="300"/>
              </a:spcAft>
              <a:defRPr sz="2100" b="0" i="0">
                <a:solidFill>
                  <a:srgbClr val="FFFFFF"/>
                </a:solidFill>
                <a:latin typeface="Georgia"/>
              </a:defRPr>
            </a:pPr>
            <a:r>
              <a:t>YEAR A</a:t>
            </a:r>
          </a:p>
          <a:p>
            <a:pPr>
              <a:spcAft>
                <a:spcPts val="300"/>
              </a:spcAft>
              <a:defRPr sz="2100" b="0" i="0">
                <a:solidFill>
                  <a:srgbClr val="FFFFFF"/>
                </a:solidFill>
                <a:latin typeface="Georgia"/>
              </a:defRPr>
            </a:pPr>
            <a:r>
              <a:t>2026-05-17 · Eastertide</a:t>
            </a:r>
          </a:p>
        </p:txBody>
      </p:sp>
      <p:sp>
        <p:nvSpPr>
          <p:cNvPr id="6" name="TextBox 5"/>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F8C66A"/>
                </a:solidFill>
                <a:latin typeface="Georgia"/>
              </a:defRPr>
            </a:pPr>
            <a:r>
              <a:t>Gwangju Filipino Catholic Community</a:t>
            </a:r>
          </a:p>
          <a:p>
            <a:pPr>
              <a:spcBef>
                <a:spcPts val="200"/>
              </a:spcBef>
              <a:defRPr sz="1200" b="0" i="0">
                <a:solidFill>
                  <a:srgbClr val="D8B4FE"/>
                </a:solidFill>
                <a:latin typeface="Georgia"/>
              </a:defRPr>
            </a:pPr>
            <a:r>
              <a:t>Mass poster / divider</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GFCC17May2026_Eastertide_16x9.png"/>
          <p:cNvPicPr>
            <a:picLocks noChangeAspect="1"/>
          </p:cNvPicPr>
          <p:nvPr/>
        </p:nvPicPr>
        <p:blipFill>
          <a:blip r:embed="rId2"/>
          <a:stretch>
            <a:fillRect/>
          </a:stretch>
        </p:blipFill>
        <p:spPr>
          <a:xfrm>
            <a:off x="0" y="0"/>
            <a:ext cx="18288000" cy="10287000"/>
          </a:xfrm>
          <a:prstGeom prst="rect">
            <a:avLst/>
          </a:prstGeom>
        </p:spPr>
      </p:pic>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490472"/>
            <a:ext cx="16459200" cy="7790688"/>
          </a:xfrm>
          <a:prstGeom prst="rect">
            <a:avLst/>
          </a:prstGeom>
          <a:noFill/>
        </p:spPr>
        <p:txBody>
          <a:bodyPr wrap="square" lIns="109728" rIns="109728" tIns="73152" bIns="73152">
            <a:noAutofit/>
          </a:bodyPr>
          <a:lstStyle/>
          <a:p>
            <a:pPr algn="ctr">
              <a:spcAft>
                <a:spcPts val="500"/>
              </a:spcAft>
              <a:defRPr sz="1500" b="0" i="1">
                <a:solidFill>
                  <a:srgbClr val="D8B4FE"/>
                </a:solidFill>
                <a:latin typeface="Georgia"/>
              </a:defRPr>
            </a:pPr>
            <a:r>
              <a:t>Below: World English Bible (WEB) fallback — verify NABRE on bible.usccb.org.</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F8C66A"/>
                </a:solidFill>
                <a:latin typeface="Georgia"/>
              </a:defRPr>
            </a:pPr>
            <a:r>
              <a:t>Gwangju Filipino Catholic Community</a:t>
            </a:r>
          </a:p>
          <a:p>
            <a:pPr>
              <a:spcBef>
                <a:spcPts val="200"/>
              </a:spcBef>
              <a:defRPr sz="1200" b="0" i="0">
                <a:solidFill>
                  <a:srgbClr val="D8B4FE"/>
                </a:solidFill>
                <a:latin typeface="Georgia"/>
              </a:defRPr>
            </a:pPr>
            <a:r>
              <a:t>Scripture note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