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D6A3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ommunity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56032"/>
            <a:ext cx="387682" cy="3840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430098" y="256032"/>
            <a:ext cx="15943502" cy="384048"/>
          </a:xfrm>
          <a:prstGeom prst="rect">
            <a:avLst/>
          </a:prstGeom>
          <a:noFill/>
        </p:spPr>
        <p:txBody>
          <a:bodyPr wrap="square" lIns="109728" rIns="109728" tIns="73152" bIns="73152" anchor="ctr">
            <a:noAutofit/>
          </a:bodyPr>
          <a:lstStyle/>
          <a:p>
            <a:pPr algn="l">
              <a:defRPr sz="1500" b="1" i="0">
                <a:solidFill>
                  <a:srgbClr val="FAF8F4"/>
                </a:solidFill>
                <a:latin typeface="Calibri"/>
              </a:defRPr>
            </a:pPr>
            <a:r>
              <a:t>Gwangju Filipino Catholic Community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563624"/>
            <a:ext cx="16459200" cy="658368"/>
          </a:xfrm>
          <a:prstGeom prst="rect">
            <a:avLst/>
          </a:prstGeom>
          <a:noFill/>
        </p:spPr>
        <p:txBody>
          <a:bodyPr wrap="square" lIns="109728" rIns="109728" tIns="73152" bIns="73152">
            <a:noAutofit/>
          </a:bodyPr>
          <a:lstStyle/>
          <a:p>
            <a:pPr algn="ctr">
              <a:lnSpc>
                <a:spcPct val="108000"/>
              </a:lnSpc>
              <a:defRPr sz="2800" b="1" i="0">
                <a:solidFill>
                  <a:srgbClr val="FFDA91"/>
                </a:solidFill>
                <a:latin typeface="Aptos"/>
              </a:defRPr>
            </a:pPr>
            <a:r>
              <a:t>Eleventh Sunday in Ordinary Time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276856"/>
            <a:ext cx="16459200" cy="502920"/>
          </a:xfrm>
          <a:prstGeom prst="rect">
            <a:avLst/>
          </a:prstGeom>
          <a:noFill/>
        </p:spPr>
        <p:txBody>
          <a:bodyPr wrap="square" lIns="109728" rIns="109728" tIns="73152" bIns="73152">
            <a:noAutofit/>
          </a:bodyPr>
          <a:lstStyle/>
          <a:p>
            <a:pPr algn="ctr">
              <a:lnSpc>
                <a:spcPct val="108000"/>
              </a:lnSpc>
              <a:defRPr sz="2600" b="0" i="0">
                <a:solidFill>
                  <a:srgbClr val="BCBAC6"/>
                </a:solidFill>
                <a:latin typeface="Aptos"/>
              </a:defRPr>
            </a:pPr>
            <a:r>
              <a:t>June 14,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163824"/>
            <a:ext cx="16459200" cy="5111496"/>
          </a:xfrm>
          <a:prstGeom prst="rect">
            <a:avLst/>
          </a:prstGeom>
          <a:noFill/>
        </p:spPr>
        <p:txBody>
          <a:bodyPr wrap="square" lIns="109728" rIns="109728" tIns="73152" bIns="73152" anchor="ctr">
            <a:noAutofit/>
          </a:bodyPr>
          <a:lstStyle/>
          <a:p>
            <a:pPr algn="ctr">
              <a:lnSpc>
                <a:spcPct val="108000"/>
              </a:lnSpc>
              <a:defRPr sz="7200" b="1" i="0">
                <a:solidFill>
                  <a:srgbClr val="FAF8F4"/>
                </a:solidFill>
                <a:latin typeface="Aptos Display"/>
              </a:defRPr>
            </a:pPr>
            <a:r>
              <a:t>“The harvest is abundant but the laborers are few.”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8458200"/>
            <a:ext cx="16459200" cy="457200"/>
          </a:xfrm>
          <a:prstGeom prst="rect">
            <a:avLst/>
          </a:prstGeom>
          <a:noFill/>
        </p:spPr>
        <p:txBody>
          <a:bodyPr wrap="square" lIns="109728" rIns="109728" tIns="73152" bIns="73152">
            <a:noAutofit/>
          </a:bodyPr>
          <a:lstStyle/>
          <a:p>
            <a:pPr algn="ctr">
              <a:lnSpc>
                <a:spcPct val="108000"/>
              </a:lnSpc>
              <a:defRPr sz="3000" b="0" i="0">
                <a:solidFill>
                  <a:srgbClr val="BCBAC6"/>
                </a:solidFill>
                <a:latin typeface="Aptos"/>
              </a:defRPr>
            </a:pPr>
            <a:r>
              <a:t>Matthew 9:36-10:8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9628632"/>
            <a:ext cx="16459200" cy="502920"/>
          </a:xfrm>
          <a:prstGeom prst="rect">
            <a:avLst/>
          </a:prstGeom>
          <a:noFill/>
        </p:spPr>
        <p:txBody>
          <a:bodyPr wrap="square" lIns="109728" rIns="109728" tIns="73152" bIns="73152">
            <a:noAutofit/>
          </a:bodyPr>
          <a:lstStyle/>
          <a:p>
            <a:pPr algn="ctr">
              <a:defRPr sz="1800" b="0" i="0">
                <a:solidFill>
                  <a:srgbClr val="BCBAC6"/>
                </a:solidFill>
                <a:latin typeface="Aptos"/>
              </a:defRPr>
            </a:pPr>
            <a:r>
              <a:t>Fr. Gabriel Test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