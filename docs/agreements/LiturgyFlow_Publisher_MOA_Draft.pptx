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057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10F0D"/>
                </a:solidFill>
                <a:latin typeface="Calibri"/>
              </a:rPr>
              <a:t>DRAFT — FOR DISCUSSION PURPOSES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5333D"/>
                </a:solidFill>
                <a:latin typeface="Calibri"/>
              </a:rPr>
              <a:t>Memorandum of Agreement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B75"/>
                </a:solidFill>
                <a:latin typeface="Calibri"/>
              </a:rPr>
              <a:t>Potential collaboration and licensing of hymn content
between LiturgyFlow and Jesuit Music Ministry (JMM)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97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This document is an initial business discussion draft and is subject to review and revision by the parties and their respective legal advisers.</a:t>
            </a:r>
          </a:p>
          <a:p>
            <a:r>
              <a:rPr sz="1300" b="1">
                <a:solidFill>
                  <a:srgbClr val="A10F0D"/>
                </a:solidFill>
                <a:latin typeface="Calibri"/>
              </a:rPr>
              <a:t>Open commercial and legal terms are marked:  [To be agreed by the parties]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Draft MOA  ·  For discussion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SECTIONS 1–2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333D"/>
                </a:solidFill>
                <a:latin typeface="Calibri"/>
              </a:rPr>
              <a:t>Parties and 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10F0D"/>
                </a:solidFill>
                <a:latin typeface="Calibri"/>
              </a:rPr>
              <a:t>LiturgyFlow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Platform Operator
Web-based Catholic Mass presentation tool</a:t>
            </a:r>
          </a:p>
          <a:p>
            <a:r>
              <a:rPr sz="1200" b="0">
                <a:solidFill>
                  <a:srgbClr val="5C6B75"/>
                </a:solidFill>
                <a:latin typeface="Calibri"/>
              </a:rPr>
              <a:t>Legal entity details: [To be agreed by the parties]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10F0D"/>
                </a:solidFill>
                <a:latin typeface="Calibri"/>
              </a:rPr>
              <a:t>Jesuit Music Ministry (JMM)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5333D"/>
                </a:solidFill>
                <a:latin typeface="Calibri"/>
              </a:rPr>
              <a:t>Publisher (“JMM”)
Catholic music ministry / publishing partner</a:t>
            </a:r>
          </a:p>
          <a:p>
            <a:r>
              <a:rPr sz="1200" b="0">
                <a:solidFill>
                  <a:srgbClr val="5C6B75"/>
                </a:solidFill>
                <a:latin typeface="Calibri"/>
              </a:rPr>
              <a:t>Legal entity details: [To be agreed by the parties]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A10F0D"/>
                </a:solidFill>
                <a:latin typeface="Calibri"/>
              </a:rPr>
              <a:t>Purpose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5333D"/>
                </a:solidFill>
                <a:latin typeface="Calibri"/>
              </a:rPr>
              <a:t>Explore collaboration so applicable Publisher hymn content may be used within LiturgyFlow’s Mass presentation-generation workflow for Catholic churches and parish communities.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5"/>
                </a:solidFill>
                <a:latin typeface="Calibri"/>
              </a:rPr>
              <a:t>This draft facilitates discussion. It is not a completed license, partnership, joint venture, or revenue-sharing arrangement.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Draft MOA  ·  For discussion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333D"/>
                </a:solidFill>
                <a:latin typeface="Calibri"/>
              </a:rPr>
              <a:t>What LiturgyFlow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333D"/>
                </a:solidFill>
                <a:latin typeface="Calibri"/>
              </a:rPr>
              <a:t>A web-based tool that helps Catholic churches and parish communities prepare Mass presentations and related liturgical media.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109728" cy="219456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333D"/>
                </a:solidFill>
                <a:latin typeface="Calibri"/>
              </a:rPr>
              <a:t>For churches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204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5"/>
                </a:solidFill>
                <a:latin typeface="Calibri"/>
              </a:rPr>
              <a:t>Parish media and music teams preparing worship materials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74320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743200"/>
            <a:ext cx="109728" cy="219456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9718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333D"/>
                </a:solidFill>
                <a:latin typeface="Calibri"/>
              </a:rPr>
              <a:t>Mass materials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204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5"/>
                </a:solidFill>
                <a:latin typeface="Calibri"/>
              </a:rPr>
              <a:t>Presentations that may include readings and hymn lyric slides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274320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2743200"/>
            <a:ext cx="109728" cy="219456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29718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333D"/>
                </a:solidFill>
                <a:latin typeface="Calibri"/>
              </a:rPr>
              <a:t>Partner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35204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5"/>
                </a:solidFill>
                <a:latin typeface="Calibri"/>
              </a:rPr>
              <a:t>Discussion focuses on hymn content use — not platform internals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Draft MOA  ·  For discussion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333D"/>
                </a:solidFill>
                <a:latin typeface="Calibri"/>
              </a:rPr>
              <a:t>Hymns and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5333D"/>
                </a:solidFill>
                <a:latin typeface="Calibri"/>
              </a:rPr>
              <a:t>•  Complete Mass presentations require applicable hymn content, including lyrics, when a church selects a hymn.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5333D"/>
                </a:solidFill>
                <a:latin typeface="Calibri"/>
              </a:rPr>
              <a:t>•  Where licensed and authorized, LiturgyFlow may store applicable Publisher hymn content for presentation generation.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5333D"/>
                </a:solidFill>
                <a:latin typeface="Calibri"/>
              </a:rPr>
              <a:t>•  When a hymn is selected, LiturgyFlow may automatically format the lyrics into the Mass PowerPoint (or similar) presentation.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5333D"/>
                </a:solidFill>
                <a:latin typeface="Calibri"/>
              </a:rPr>
              <a:t>•  Specific repertoire, formats, metadata, delivery, and update processes: [To be agreed by the parties].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10F0D"/>
                </a:solidFill>
                <a:latin typeface="Calibri"/>
              </a:rPr>
              <a:t>Scope of permitted use is limited to what the Parties later agree in writing.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Draft MOA  ·  For discussion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333D"/>
                </a:solidFill>
                <a:latin typeface="Calibri"/>
              </a:rPr>
              <a:t>Intended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881360" cy="146304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10F0D"/>
                </a:solidFill>
                <a:latin typeface="Calibri"/>
              </a:rPr>
              <a:t>Intended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5333D"/>
                </a:solidFill>
                <a:latin typeface="Calibri"/>
              </a:rPr>
              <a:t>Incorporation of Publisher hymn content into church Mass presentation materials prepared through LiturgyFlow (for example, lyric slides in a parish Mass deck).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10F0D"/>
                </a:solidFill>
                <a:latin typeface="Calibri"/>
              </a:rPr>
              <a:t>Not intended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5333D"/>
                </a:solidFill>
                <a:latin typeface="Calibri"/>
              </a:rPr>
              <a:t>•  An independent hymn-lyrics publishing service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333D"/>
                </a:solidFill>
                <a:latin typeface="Calibri"/>
              </a:rPr>
              <a:t>•  A standalone lyrics-distribution service for general public browsing, download, or redistribution outside the Mass presentation workflow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333D"/>
                </a:solidFill>
                <a:latin typeface="Calibri"/>
              </a:rPr>
              <a:t>•  Any additional uses (print, streaming, recording, etc.): [To be agreed by the parties], if at 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Draft MOA  ·  For discussion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333D"/>
                </a:solidFill>
                <a:latin typeface="Calibri"/>
              </a:rPr>
              <a:t>Copyright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333D"/>
                </a:solidFill>
                <a:latin typeface="Calibri"/>
              </a:rPr>
              <a:t>Each Party retains its respective intellectual property rights.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5333D"/>
                </a:solidFill>
                <a:latin typeface="Calibri"/>
              </a:rPr>
              <a:t>•  LiturgyFlow does not claim ownership of third-party copyrighted songs or lyrics.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5333D"/>
                </a:solidFill>
                <a:latin typeface="Calibri"/>
              </a:rPr>
              <a:t>•  The Publisher does not, by discussing this collaboration, claim ownership of LiturgyFlow’s platform, trademarks, branding, software, or workflows.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5333D"/>
                </a:solidFill>
                <a:latin typeface="Calibri"/>
              </a:rPr>
              <a:t>•  Ownership of any jointly developed materials, if any: [To be agreed by the parties].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5333D"/>
                </a:solidFill>
                <a:latin typeface="Calibri"/>
              </a:rPr>
              <a:t>•  Any license is a permission to use specified content on agreed terms — not a transfer of ownership.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Draft MOA  ·  For discussion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333D"/>
                </a:solidFill>
                <a:latin typeface="Calibri"/>
              </a:rPr>
              <a:t>License — terms not decided in this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5"/>
                </a:solidFill>
                <a:latin typeface="Calibri"/>
              </a:rPr>
              <a:t>Subject to a definitive agreement, the Publisher may grant LiturgyFlow an appropriate permission/license for the agreed repertoire. No license is granted by this MOA alone.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01168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0"/>
                <a:gridCol w="4114800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5333D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>
                    <a:solidFill>
                      <a:srgbClr val="F6F3F0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5333D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F6F3F0"/>
                    </a:solidFill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5333D"/>
                          </a:solidFill>
                          <a:latin typeface="Calibri"/>
                        </a:rPr>
                        <a:t>Repertoire (titles, catalogs, editions, languages)</a:t>
                      </a:r>
                    </a:p>
                  </a:txBody>
                  <a:tcPr anchor="ctr">
                    <a:noFill/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5C6B75"/>
                          </a:solidFill>
                          <a:latin typeface="Calibri"/>
                        </a:rPr>
                        <a:t>[To be agreed by the parties]</a:t>
                      </a:r>
                    </a:p>
                  </a:txBody>
                  <a:tcPr anchor="ctr">
                    <a:noFill/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5333D"/>
                          </a:solidFill>
                          <a:latin typeface="Calibri"/>
                        </a:rPr>
                        <a:t>Permitted uses and any restrictions</a:t>
                      </a:r>
                    </a:p>
                  </a:txBody>
                  <a:tcPr anchor="ctr">
                    <a:noFill/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5C6B75"/>
                          </a:solidFill>
                          <a:latin typeface="Calibri"/>
                        </a:rPr>
                        <a:t>[To be agreed by the parties]</a:t>
                      </a:r>
                    </a:p>
                  </a:txBody>
                  <a:tcPr anchor="ctr">
                    <a:noFill/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5333D"/>
                          </a:solidFill>
                          <a:latin typeface="Calibri"/>
                        </a:rPr>
                        <a:t>Territory</a:t>
                      </a:r>
                    </a:p>
                  </a:txBody>
                  <a:tcPr anchor="ctr">
                    <a:noFill/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5C6B75"/>
                          </a:solidFill>
                          <a:latin typeface="Calibri"/>
                        </a:rPr>
                        <a:t>[To be agreed by the parties]</a:t>
                      </a:r>
                    </a:p>
                  </a:txBody>
                  <a:tcPr anchor="ctr">
                    <a:noFill/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5333D"/>
                          </a:solidFill>
                          <a:latin typeface="Calibri"/>
                        </a:rPr>
                        <a:t>Duration / term of license</a:t>
                      </a:r>
                    </a:p>
                  </a:txBody>
                  <a:tcPr anchor="ctr">
                    <a:noFill/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5C6B75"/>
                          </a:solidFill>
                          <a:latin typeface="Calibri"/>
                        </a:rPr>
                        <a:t>[To be agreed by the parties]</a:t>
                      </a:r>
                    </a:p>
                  </a:txBody>
                  <a:tcPr anchor="ctr">
                    <a:noFill/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5333D"/>
                          </a:solidFill>
                          <a:latin typeface="Calibri"/>
                        </a:rPr>
                        <a:t>Exclusivity or non-exclusivity</a:t>
                      </a:r>
                    </a:p>
                  </a:txBody>
                  <a:tcPr anchor="ctr">
                    <a:noFill/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5C6B75"/>
                          </a:solidFill>
                          <a:latin typeface="Calibri"/>
                        </a:rPr>
                        <a:t>[To be agreed by the parties]</a:t>
                      </a:r>
                    </a:p>
                  </a:txBody>
                  <a:tcPr anchor="ctr">
                    <a:noFill/>
                    <a:lnL w="9525" cap="flat" cmpd="sng" algn="ctr">
                      <a:solidFill>
                        <a:srgbClr val="D8DEE2"/>
                      </a:solidFill>
                      <a:prstDash val="solid"/>
                    </a:lnL>
                    <a:lnR w="9525" cap="flat" cmpd="sng" algn="ctr">
                      <a:solidFill>
                        <a:srgbClr val="D8DEE2"/>
                      </a:solidFill>
                      <a:prstDash val="solid"/>
                    </a:lnR>
                    <a:lnT w="9525" cap="flat" cmpd="sng" algn="ctr">
                      <a:solidFill>
                        <a:srgbClr val="D8DEE2"/>
                      </a:solidFill>
                      <a:prstDash val="solid"/>
                    </a:lnT>
                    <a:lnB w="9525" cap="flat" cmpd="sng" algn="ctr">
                      <a:solidFill>
                        <a:srgbClr val="D8DEE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5"/>
                </a:solidFill>
                <a:latin typeface="Calibri"/>
              </a:rPr>
              <a:t>Also open: exclusivity, sublicensing, delivery/updates, attribution, and other commercial conditions — all [To be agreed by the parties].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Draft MOA  ·  For discussion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333D"/>
                </a:solidFill>
                <a:latin typeface="Calibri"/>
              </a:rPr>
              <a:t>Commercial arrangement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5333D"/>
                </a:solidFill>
                <a:latin typeface="Calibri"/>
              </a:rPr>
              <a:t>We welcome a good-faith conversation about an appropriate commercial arrangement associated with permission to include applicable repertoire — so parishes can prepare complete Mass materials while respecting the Publisher’s rights.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2103120" cy="169164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10F0D"/>
                </a:solidFill>
                <a:latin typeface="Calibri"/>
              </a:rPr>
              <a:t>Repertoire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5333D"/>
                </a:solidFill>
                <a:latin typeface="Calibri"/>
              </a:rPr>
              <a:t>Which titles / catalogs apply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468880"/>
            <a:ext cx="2103120" cy="169164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606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10F0D"/>
                </a:solidFill>
                <a:latin typeface="Calibri"/>
              </a:rPr>
              <a:t>Intended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0632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5333D"/>
                </a:solidFill>
                <a:latin typeface="Calibri"/>
              </a:rPr>
              <a:t>Mass presentation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468880"/>
            <a:ext cx="2103120" cy="169164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606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10F0D"/>
                </a:solidFill>
                <a:latin typeface="Calibri"/>
              </a:rPr>
              <a:t>Territory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30632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5333D"/>
                </a:solidFill>
                <a:latin typeface="Calibri"/>
              </a:rPr>
              <a:t>[To be agreed by the parties]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2468880"/>
            <a:ext cx="2103120" cy="169164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2606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10F0D"/>
                </a:solidFill>
                <a:latin typeface="Calibri"/>
              </a:rPr>
              <a:t>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30632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5333D"/>
                </a:solidFill>
                <a:latin typeface="Calibri"/>
              </a:rPr>
              <a:t>Number / type of churches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2468880"/>
            <a:ext cx="2103120" cy="169164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2606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10F0D"/>
                </a:solidFill>
                <a:latin typeface="Calibri"/>
              </a:rPr>
              <a:t>Usage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30632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5333D"/>
                </a:solidFill>
                <a:latin typeface="Calibri"/>
              </a:rPr>
              <a:t>How content is used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348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5333D"/>
                </a:solidFill>
                <a:latin typeface="Calibri"/>
              </a:rPr>
              <a:t>Publisher permission arrangements are separate from LiturgyFlow’s public parish subscription pricing.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A10F0D"/>
                </a:solidFill>
                <a:latin typeface="Calibri"/>
              </a:rPr>
              <a:t>This MOA does not establish any fee, royalty, or payment obligation.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5"/>
                </a:solidFill>
                <a:latin typeface="Calibri"/>
              </a:rPr>
              <a:t>Specific commercial terms (including any fees, royalties, or other consideration, if applicable): [To be agreed by the parties].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Draft MOA  ·  For discussion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SECTIONS 9–10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333D"/>
                </a:solidFill>
                <a:latin typeface="Calibri"/>
              </a:rPr>
              <a:t>Reporting and confidentiality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49240" cy="420624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349240" cy="420624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10F0D"/>
                </a:solidFill>
                <a:latin typeface="Calibri"/>
              </a:rPr>
              <a:t>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•  LiturgyFlow may provide reasonable usage reports on the licensed repertoire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•  Form and frequency: [To be agreed by the parties]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•  Not intended to require LiturgyFlow’s complete financial records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•  Financial reporting / audit rights: [To be agreed by the parties]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10F0D"/>
                </a:solidFill>
                <a:latin typeface="Calibri"/>
              </a:rPr>
              <a:t>Confidentiality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•  Covers non-public business, technical, and commercial information exchanged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•  Use only for evaluating and negotiating the collaboration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•  Standard public-knowledge / independent-development carve-outs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•  No requirement to disclose proprietary platform details beyond what LiturgyFlow chooses to share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•  Duration and remedies: [To be agreed by the parties]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Draft MOA  ·  For discussion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SECTIONS 11–12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333D"/>
                </a:solidFill>
                <a:latin typeface="Calibri"/>
              </a:rPr>
              <a:t>Term, termination, and limitations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881360" cy="164592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A10F0D"/>
                </a:solidFill>
                <a:latin typeface="Calibri"/>
              </a:rPr>
              <a:t>Term and termination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5333D"/>
                </a:solidFill>
                <a:latin typeface="Calibri"/>
              </a:rPr>
              <a:t>Duration, renewal, and termination terms: [To be agreed by the parties]. Until a definitive agreement is signed, either Party may discontinue discussions at any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10F0D"/>
                </a:solidFill>
                <a:latin typeface="Calibri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5333D"/>
                </a:solidFill>
                <a:latin typeface="Calibri"/>
              </a:rPr>
              <a:t>•  Applies only to the repertoire and uses expressly agreed by the Parties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333D"/>
                </a:solidFill>
                <a:latin typeface="Calibri"/>
              </a:rPr>
              <a:t>•  No broader rights are implied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333D"/>
                </a:solidFill>
                <a:latin typeface="Calibri"/>
              </a:rPr>
              <a:t>•  Governing law, dispute resolution, indemnity, liability, and warranties: [To be agreed by the parties]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Draft MOA  ·  For discussion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10F0D"/>
                </a:solidFill>
                <a:latin typeface="Calibri"/>
              </a:rPr>
              <a:t>SECTION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5333D"/>
                </a:solidFill>
                <a:latin typeface="Calibri"/>
              </a:rPr>
              <a:t>Signatures — discussion acknowledgment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5"/>
                </a:solidFill>
                <a:latin typeface="Calibri"/>
              </a:rPr>
              <a:t>Signatures confirm willingness to continue good-faith discussions. They do not, by themselves, create a binding license or commercial payment obligation unless a definitive written agreement expressly states otherwise.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5394960" cy="310896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10F0D"/>
                </a:solidFill>
                <a:latin typeface="Calibri"/>
              </a:rPr>
              <a:t>FOR LITURGYFLOW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Authorized signature: _______________________</a:t>
            </a:r>
          </a:p>
          <a:p>
            <a:pPr>
              <a:spcAft>
                <a:spcPts val="14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Name: _____________________________________</a:t>
            </a:r>
          </a:p>
          <a:p>
            <a:pPr>
              <a:spcAft>
                <a:spcPts val="14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Title: _____________________________________</a:t>
            </a:r>
          </a:p>
          <a:p>
            <a:pPr>
              <a:spcAft>
                <a:spcPts val="14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Date: _____________________________________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468880"/>
            <a:ext cx="5394960" cy="3108960"/>
          </a:xfrm>
          <a:prstGeom prst="roundRect">
            <a:avLst>
              <a:gd name="adj" fmla="val 8000"/>
            </a:avLst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10F0D"/>
                </a:solidFill>
                <a:latin typeface="Calibri"/>
              </a:rPr>
              <a:t>FOR JESUIT MUSIC MINISTRY (JMM)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0040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Authorized signature: _______________________</a:t>
            </a:r>
          </a:p>
          <a:p>
            <a:pPr>
              <a:spcAft>
                <a:spcPts val="14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Name: _____________________________________</a:t>
            </a:r>
          </a:p>
          <a:p>
            <a:pPr>
              <a:spcAft>
                <a:spcPts val="14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Title: _____________________________________</a:t>
            </a:r>
          </a:p>
          <a:p>
            <a:pPr>
              <a:spcAft>
                <a:spcPts val="1400"/>
              </a:spcAft>
            </a:pPr>
            <a:r>
              <a:rPr sz="1300" b="0">
                <a:solidFill>
                  <a:srgbClr val="15333D"/>
                </a:solidFill>
                <a:latin typeface="Calibri"/>
              </a:rPr>
              <a:t>Date: _____________________________________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Draft MOA  ·  For discussion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10F0D"/>
                </a:solidFill>
                <a:latin typeface="Calibri"/>
              </a:rPr>
              <a:t>DRAFT — FOR DISCUSSION PURPOSES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5333D"/>
                </a:solidFill>
                <a:latin typeface="Calibri"/>
              </a:rPr>
              <a:t>Next step: mutual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5333D"/>
                </a:solidFill>
                <a:latin typeface="Calibri"/>
              </a:rPr>
              <a:t>This draft is subject to review and revision by the parties and their respective legal advisers.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5C6B75"/>
                </a:solidFill>
                <a:latin typeface="Calibri"/>
              </a:rPr>
              <a:t>Companion full-text document: LiturgyFlow_Publisher_MOA_Draft.docx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10F0D"/>
                </a:solidFill>
                <a:latin typeface="Calibri"/>
              </a:rPr>
              <a:t>End of Draft MOA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881360" cy="9525"/>
          </a:xfrm>
          <a:prstGeom prst="rect">
            <a:avLst/>
          </a:prstGeom>
          <a:solidFill>
            <a:srgbClr val="D8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LiturgyFlow  ·  Draft MOA  ·  For discussion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75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