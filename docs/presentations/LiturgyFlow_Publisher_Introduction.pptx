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A10F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A10F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pp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417320"/>
            <a:ext cx="777240" cy="777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2331720"/>
            <a:ext cx="10058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15333D"/>
                </a:solidFill>
                <a:latin typeface="Calibri"/>
              </a:rPr>
              <a:t>LiturgyFlow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10896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5C6B75"/>
                </a:solidFill>
                <a:latin typeface="Calibri"/>
              </a:rPr>
              <a:t>A simple web-based tool that helps Catholic church media teams
prepare Mass presentations and related materials with less repetitive manual work.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5720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A10F0D"/>
                </a:solidFill>
                <a:latin typeface="Calibri"/>
              </a:rPr>
              <a:t>Introduction for music &amp; publishing partners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C6B75"/>
                </a:solidFill>
                <a:latin typeface="Calibri"/>
              </a:rPr>
              <a:t>Confidential  ·  For discussion purposes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6446520"/>
            <a:ext cx="10881360" cy="9525"/>
          </a:xfrm>
          <a:prstGeom prst="rect">
            <a:avLst/>
          </a:prstGeom>
          <a:solidFill>
            <a:srgbClr val="D8DE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6B75"/>
                </a:solidFill>
                <a:latin typeface="Calibri"/>
              </a:rPr>
              <a:t>LiturgyFlow  ·  Confidential partner introduction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649224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6B75"/>
                </a:solidFill>
                <a:latin typeface="Calibri"/>
              </a:rPr>
              <a:t>1 /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A10F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A10F0D"/>
                </a:solidFill>
                <a:latin typeface="Calibri"/>
              </a:rPr>
              <a:t>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5333D"/>
                </a:solidFill>
                <a:latin typeface="Calibri"/>
              </a:rPr>
              <a:t>The weekly Mass presentation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C6B75"/>
                </a:solidFill>
                <a:latin typeface="Calibri"/>
              </a:rPr>
              <a:t>Every week, parish media and music teams typically need to prepare: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240280"/>
            <a:ext cx="3520440" cy="1965960"/>
          </a:xfrm>
          <a:prstGeom prst="roundRect">
            <a:avLst>
              <a:gd name="adj" fmla="val 8000"/>
            </a:avLst>
          </a:prstGeom>
          <a:solidFill>
            <a:srgbClr val="F6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240280"/>
            <a:ext cx="109728" cy="1965960"/>
          </a:xfrm>
          <a:prstGeom prst="rect">
            <a:avLst/>
          </a:prstGeom>
          <a:solidFill>
            <a:srgbClr val="A10F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46888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5333D"/>
                </a:solidFill>
                <a:latin typeface="Calibri"/>
              </a:rPr>
              <a:t>Projection slides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97180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C6B75"/>
                </a:solidFill>
                <a:latin typeface="Calibri"/>
              </a:rPr>
              <a:t>Readings, responses, and hymn lyrics for screen display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2240280"/>
            <a:ext cx="3520440" cy="1965960"/>
          </a:xfrm>
          <a:prstGeom prst="roundRect">
            <a:avLst>
              <a:gd name="adj" fmla="val 8000"/>
            </a:avLst>
          </a:prstGeom>
          <a:solidFill>
            <a:srgbClr val="F6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2240280"/>
            <a:ext cx="109728" cy="1965960"/>
          </a:xfrm>
          <a:prstGeom prst="rect">
            <a:avLst/>
          </a:prstGeom>
          <a:solidFill>
            <a:srgbClr val="A10F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246888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5333D"/>
                </a:solidFill>
                <a:latin typeface="Calibri"/>
              </a:rPr>
              <a:t>Printed materials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97180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C6B75"/>
                </a:solidFill>
                <a:latin typeface="Calibri"/>
              </a:rPr>
              <a:t>A Mass leaflet when paper copies are needed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19" y="2240280"/>
            <a:ext cx="3520440" cy="1965960"/>
          </a:xfrm>
          <a:prstGeom prst="roundRect">
            <a:avLst>
              <a:gd name="adj" fmla="val 8000"/>
            </a:avLst>
          </a:prstGeom>
          <a:solidFill>
            <a:srgbClr val="F6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19" y="2240280"/>
            <a:ext cx="109728" cy="1965960"/>
          </a:xfrm>
          <a:prstGeom prst="rect">
            <a:avLst/>
          </a:prstGeom>
          <a:solidFill>
            <a:srgbClr val="A10F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59" y="246888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5333D"/>
                </a:solidFill>
                <a:latin typeface="Calibri"/>
              </a:rPr>
              <a:t>Supporting visuals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59" y="297180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C6B75"/>
                </a:solidFill>
                <a:latin typeface="Calibri"/>
              </a:rPr>
              <a:t>Materials that help the assembly follow the liturgy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5720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A10F0D"/>
                </a:solidFill>
                <a:latin typeface="Calibri"/>
              </a:rPr>
              <a:t>The challenge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5333D"/>
                </a:solidFill>
                <a:latin typeface="Calibri"/>
              </a:rPr>
              <a:t>•  The work is recurring and deadline-driven.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5333D"/>
                </a:solidFill>
                <a:latin typeface="Calibri"/>
              </a:rPr>
              <a:t>•  Content comes from multiple places — lectionary, Order of Mass, hymnals, and parish preferences.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5333D"/>
                </a:solidFill>
                <a:latin typeface="Calibri"/>
              </a:rPr>
              <a:t>•  Manual assembly takes time that music and media volunteers often do not have.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6446520"/>
            <a:ext cx="10881360" cy="9525"/>
          </a:xfrm>
          <a:prstGeom prst="rect">
            <a:avLst/>
          </a:prstGeom>
          <a:solidFill>
            <a:srgbClr val="D8DE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6B75"/>
                </a:solidFill>
                <a:latin typeface="Calibri"/>
              </a:rPr>
              <a:t>LiturgyFlow  ·  Confidential partner introduction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0" y="649224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6B75"/>
                </a:solidFill>
                <a:latin typeface="Calibri"/>
              </a:rPr>
              <a:t>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A10F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A10F0D"/>
                </a:solidFill>
                <a:latin typeface="Calibri"/>
              </a:rPr>
              <a:t>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5333D"/>
                </a:solidFill>
                <a:latin typeface="Calibri"/>
              </a:rPr>
              <a:t>The traditional preparation workflow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5440680" cy="822960"/>
          </a:xfrm>
          <a:prstGeom prst="roundRect">
            <a:avLst>
              <a:gd name="adj" fmla="val 8000"/>
            </a:avLst>
          </a:prstGeom>
          <a:solidFill>
            <a:srgbClr val="F6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01368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A10F0D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5333D"/>
                </a:solidFill>
                <a:latin typeface="Calibri"/>
              </a:rPr>
              <a:t>Look up the Sunday’s readings and liturgical texts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600200"/>
            <a:ext cx="5440680" cy="822960"/>
          </a:xfrm>
          <a:prstGeom prst="roundRect">
            <a:avLst>
              <a:gd name="adj" fmla="val 8000"/>
            </a:avLst>
          </a:prstGeom>
          <a:solidFill>
            <a:srgbClr val="F6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801368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A10F0D"/>
                </a:solidFill>
                <a:latin typeface="Calibr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516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5333D"/>
                </a:solidFill>
                <a:latin typeface="Calibri"/>
              </a:rPr>
              <a:t>Copy or retype content into PowerPoint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560320"/>
            <a:ext cx="5440680" cy="822960"/>
          </a:xfrm>
          <a:prstGeom prst="roundRect">
            <a:avLst>
              <a:gd name="adj" fmla="val 8000"/>
            </a:avLst>
          </a:prstGeom>
          <a:solidFill>
            <a:srgbClr val="F6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761488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A10F0D"/>
                </a:solidFill>
                <a:latin typeface="Calibri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2788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5333D"/>
                </a:solidFill>
                <a:latin typeface="Calibri"/>
              </a:rPr>
              <a:t>Format slides for readability on screen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2560320"/>
            <a:ext cx="5440680" cy="822960"/>
          </a:xfrm>
          <a:prstGeom prst="roundRect">
            <a:avLst>
              <a:gd name="adj" fmla="val 8000"/>
            </a:avLst>
          </a:prstGeom>
          <a:solidFill>
            <a:srgbClr val="F6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2761488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A10F0D"/>
                </a:solidFill>
                <a:latin typeface="Calibri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95160" y="2788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5333D"/>
                </a:solidFill>
                <a:latin typeface="Calibri"/>
              </a:rPr>
              <a:t>Look up hymn lyrics from hymnals or files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520440"/>
            <a:ext cx="5440680" cy="822960"/>
          </a:xfrm>
          <a:prstGeom prst="roundRect">
            <a:avLst>
              <a:gd name="adj" fmla="val 8000"/>
            </a:avLst>
          </a:prstGeom>
          <a:solidFill>
            <a:srgbClr val="F6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721608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A10F0D"/>
                </a:solidFill>
                <a:latin typeface="Calibri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3749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5333D"/>
                </a:solidFill>
                <a:latin typeface="Calibri"/>
              </a:rPr>
              <a:t>Create hymn lyric slides verse by verse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3520440"/>
            <a:ext cx="5440680" cy="822960"/>
          </a:xfrm>
          <a:prstGeom prst="roundRect">
            <a:avLst>
              <a:gd name="adj" fmla="val 8000"/>
            </a:avLst>
          </a:prstGeom>
          <a:solidFill>
            <a:srgbClr val="F6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3721608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A10F0D"/>
                </a:solidFill>
                <a:latin typeface="Calibri"/>
              </a:rP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749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5333D"/>
                </a:solidFill>
                <a:latin typeface="Calibri"/>
              </a:rPr>
              <a:t>Adjust layout, fonts, and parish branding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480560"/>
            <a:ext cx="5440680" cy="822960"/>
          </a:xfrm>
          <a:prstGeom prst="roundRect">
            <a:avLst>
              <a:gd name="adj" fmla="val 8000"/>
            </a:avLst>
          </a:prstGeom>
          <a:solidFill>
            <a:srgbClr val="F6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681728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A10F0D"/>
                </a:solidFill>
                <a:latin typeface="Calibri"/>
              </a:rPr>
              <a:t>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4709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5333D"/>
                </a:solidFill>
                <a:latin typeface="Calibri"/>
              </a:rPr>
              <a:t>Optionally prepare a printed leaflet or divider materials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09360" y="4480560"/>
            <a:ext cx="5440680" cy="822960"/>
          </a:xfrm>
          <a:prstGeom prst="roundRect">
            <a:avLst>
              <a:gd name="adj" fmla="val 8000"/>
            </a:avLst>
          </a:prstGeom>
          <a:solidFill>
            <a:srgbClr val="F6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4681728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A10F0D"/>
                </a:solidFill>
                <a:latin typeface="Calibri"/>
              </a:rPr>
              <a:t>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95160" y="4709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5333D"/>
                </a:solidFill>
                <a:latin typeface="Calibri"/>
              </a:rPr>
              <a:t>Review, correct, and finalize before Mass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6446520"/>
            <a:ext cx="10881360" cy="9525"/>
          </a:xfrm>
          <a:prstGeom prst="rect">
            <a:avLst/>
          </a:prstGeom>
          <a:solidFill>
            <a:srgbClr val="D8DE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6B75"/>
                </a:solidFill>
                <a:latin typeface="Calibri"/>
              </a:rPr>
              <a:t>LiturgyFlow  ·  Confidential partner introduction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41280" y="649224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6B75"/>
                </a:solidFill>
                <a:latin typeface="Calibri"/>
              </a:rPr>
              <a:t>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A10F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A10F0D"/>
                </a:solidFill>
                <a:latin typeface="Calibri"/>
              </a:rPr>
              <a:t>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5333D"/>
                </a:solidFill>
                <a:latin typeface="Calibri"/>
              </a:rPr>
              <a:t>How LiturgyFlow simplifies the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C6B75"/>
                </a:solidFill>
                <a:latin typeface="Calibri"/>
              </a:rPr>
              <a:t>A web-based preparation workspace that helps parish teams move from “this Sunday’s Mass” to ready-to-use materials with fewer manual steps.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286000"/>
            <a:ext cx="5394960" cy="3200400"/>
          </a:xfrm>
          <a:prstGeom prst="roundRect">
            <a:avLst>
              <a:gd name="adj" fmla="val 8000"/>
            </a:avLst>
          </a:prstGeom>
          <a:solidFill>
            <a:srgbClr val="F6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63640" y="2286000"/>
            <a:ext cx="5257800" cy="3200400"/>
          </a:xfrm>
          <a:prstGeom prst="roundRect">
            <a:avLst>
              <a:gd name="adj" fmla="val 8000"/>
            </a:avLst>
          </a:prstGeom>
          <a:solidFill>
            <a:srgbClr val="F6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6888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A10F0D"/>
                </a:solidFill>
                <a:latin typeface="Calibri"/>
              </a:rPr>
              <a:t>What the team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46888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A10F0D"/>
                </a:solidFill>
                <a:latin typeface="Calibri"/>
              </a:rPr>
              <a:t>What this reduces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926080"/>
            <a:ext cx="4937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5333D"/>
                </a:solidFill>
                <a:latin typeface="Calibri"/>
              </a:rPr>
              <a:t>•  Select the Mass date / celebration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5333D"/>
                </a:solidFill>
                <a:latin typeface="Calibri"/>
              </a:rPr>
              <a:t>•  Review liturgical content for that Mass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5333D"/>
                </a:solidFill>
                <a:latin typeface="Calibri"/>
              </a:rPr>
              <a:t>•  Choose the hymns for the celebration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5333D"/>
                </a:solidFill>
                <a:latin typeface="Calibri"/>
              </a:rPr>
              <a:t>•  Generate Mass presentation &amp; related materials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5333D"/>
                </a:solidFill>
                <a:latin typeface="Calibri"/>
              </a:rPr>
              <a:t>•  Review the output before use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926080"/>
            <a:ext cx="4846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5333D"/>
                </a:solidFill>
                <a:latin typeface="Calibri"/>
              </a:rPr>
              <a:t>•  Repeated copying and reformatting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5333D"/>
                </a:solidFill>
                <a:latin typeface="Calibri"/>
              </a:rPr>
              <a:t>•  Rebuilding the same slide structure each week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5333D"/>
                </a:solidFill>
                <a:latin typeface="Calibri"/>
              </a:rPr>
              <a:t>•  Manual lyric-slide assembly for selected hymns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66928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5333D"/>
                </a:solidFill>
                <a:latin typeface="Calibri"/>
              </a:rPr>
              <a:t>The goal is not to replace pastoral judgment — it is to reduce repetitive production work.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6446520"/>
            <a:ext cx="10881360" cy="9525"/>
          </a:xfrm>
          <a:prstGeom prst="rect">
            <a:avLst/>
          </a:prstGeom>
          <a:solidFill>
            <a:srgbClr val="D8DE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6B75"/>
                </a:solidFill>
                <a:latin typeface="Calibri"/>
              </a:rPr>
              <a:t>LiturgyFlow  ·  Confidential partner introduction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649224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6B75"/>
                </a:solidFill>
                <a:latin typeface="Calibri"/>
              </a:rPr>
              <a:t>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A10F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A10F0D"/>
                </a:solidFill>
                <a:latin typeface="Calibri"/>
              </a:rPr>
              <a:t>OUTPUTS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5333D"/>
                </a:solidFill>
                <a:latin typeface="Calibri"/>
              </a:rPr>
              <a:t>What LiturgyFlow can produce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10881360" cy="960120"/>
          </a:xfrm>
          <a:prstGeom prst="roundRect">
            <a:avLst>
              <a:gd name="adj" fmla="val 8000"/>
            </a:avLst>
          </a:prstGeom>
          <a:solidFill>
            <a:srgbClr val="F6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554480"/>
            <a:ext cx="109728" cy="960120"/>
          </a:xfrm>
          <a:prstGeom prst="rect">
            <a:avLst/>
          </a:prstGeom>
          <a:solidFill>
            <a:srgbClr val="A10F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691640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5333D"/>
                </a:solidFill>
                <a:latin typeface="Calibri"/>
              </a:rPr>
              <a:t>Mass PowerPoint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C6B75"/>
                </a:solidFill>
                <a:latin typeface="Calibri"/>
              </a:rPr>
              <a:t>A complete presentation for projection, including liturgical texts and hymn lyric slides as selected by the parish team.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606039"/>
            <a:ext cx="10881360" cy="960120"/>
          </a:xfrm>
          <a:prstGeom prst="roundRect">
            <a:avLst>
              <a:gd name="adj" fmla="val 8000"/>
            </a:avLst>
          </a:prstGeom>
          <a:solidFill>
            <a:srgbClr val="F6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606039"/>
            <a:ext cx="109728" cy="960120"/>
          </a:xfrm>
          <a:prstGeom prst="rect">
            <a:avLst/>
          </a:prstGeom>
          <a:solidFill>
            <a:srgbClr val="A10F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743199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5333D"/>
                </a:solidFill>
                <a:latin typeface="Calibri"/>
              </a:rPr>
              <a:t>A4 Mass leaflet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063239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C6B75"/>
                </a:solidFill>
                <a:latin typeface="Calibri"/>
              </a:rPr>
              <a:t>A printable half-fold leaflet for offline or paper use when copies are needed.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657600"/>
            <a:ext cx="10881360" cy="960120"/>
          </a:xfrm>
          <a:prstGeom prst="roundRect">
            <a:avLst>
              <a:gd name="adj" fmla="val 8000"/>
            </a:avLst>
          </a:prstGeom>
          <a:solidFill>
            <a:srgbClr val="F6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657600"/>
            <a:ext cx="109728" cy="960120"/>
          </a:xfrm>
          <a:prstGeom prst="rect">
            <a:avLst/>
          </a:prstGeom>
          <a:solidFill>
            <a:srgbClr val="A10F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794760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5333D"/>
                </a:solidFill>
                <a:latin typeface="Calibri"/>
              </a:rPr>
              <a:t>Mass divider / poster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11480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C6B75"/>
                </a:solidFill>
                <a:latin typeface="Calibri"/>
              </a:rPr>
              <a:t>Visual materials suited to marking parts of the Mass or supporting related parish presentation needs.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709159"/>
            <a:ext cx="10881360" cy="960120"/>
          </a:xfrm>
          <a:prstGeom prst="roundRect">
            <a:avLst>
              <a:gd name="adj" fmla="val 8000"/>
            </a:avLst>
          </a:prstGeom>
          <a:solidFill>
            <a:srgbClr val="F6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4709159"/>
            <a:ext cx="109728" cy="96012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846319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5333D"/>
                </a:solidFill>
                <a:latin typeface="Calibri"/>
              </a:rPr>
              <a:t>Related media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166359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C6B75"/>
                </a:solidFill>
                <a:latin typeface="Calibri"/>
              </a:rPr>
              <a:t>Additional presentation and media materials that support the same Mass preparation workflow.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0644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B75"/>
                </a:solidFill>
                <a:latin typeface="Calibri"/>
              </a:rPr>
              <a:t>Parishes remain responsible for appropriate permissions for copyrighted content they display or distribute.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6446520"/>
            <a:ext cx="10881360" cy="9525"/>
          </a:xfrm>
          <a:prstGeom prst="rect">
            <a:avLst/>
          </a:prstGeom>
          <a:solidFill>
            <a:srgbClr val="D8DE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6B75"/>
                </a:solidFill>
                <a:latin typeface="Calibri"/>
              </a:rPr>
              <a:t>LiturgyFlow  ·  Confidential partner introduction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0" y="649224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6B75"/>
                </a:solidFill>
                <a:latin typeface="Calibri"/>
              </a:rPr>
              <a:t>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A10F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A10F0D"/>
                </a:solidFill>
                <a:latin typeface="Calibri"/>
              </a:rPr>
              <a:t>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5333D"/>
                </a:solidFill>
                <a:latin typeface="Calibri"/>
              </a:rPr>
              <a:t>Example Sunday Mass workflow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011680"/>
            <a:ext cx="1783080" cy="2926080"/>
          </a:xfrm>
          <a:prstGeom prst="roundRect">
            <a:avLst>
              <a:gd name="adj" fmla="val 8000"/>
            </a:avLst>
          </a:prstGeom>
          <a:solidFill>
            <a:srgbClr val="F6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240280"/>
            <a:ext cx="15087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A10F0D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288036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5333D"/>
                </a:solidFill>
                <a:latin typeface="Calibri"/>
              </a:rPr>
              <a:t>Select Mass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356616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B75"/>
                </a:solidFill>
                <a:latin typeface="Calibri"/>
              </a:rPr>
              <a:t>Choose the Sunday or celebration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3108960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A10F0D"/>
                </a:solidFill>
                <a:latin typeface="Calibr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23160" y="2011680"/>
            <a:ext cx="1783080" cy="2926080"/>
          </a:xfrm>
          <a:prstGeom prst="roundRect">
            <a:avLst>
              <a:gd name="adj" fmla="val 8000"/>
            </a:avLst>
          </a:prstGeom>
          <a:solidFill>
            <a:srgbClr val="F6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2240280"/>
            <a:ext cx="15087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A10F0D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32888" y="288036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5333D"/>
                </a:solidFill>
                <a:latin typeface="Calibri"/>
              </a:rPr>
              <a:t>Prepare &amp; 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32888" y="356616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B75"/>
                </a:solidFill>
                <a:latin typeface="Calibri"/>
              </a:rPr>
              <a:t>Confirm readings and liturgical texts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3108960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A10F0D"/>
                </a:solidFill>
                <a:latin typeface="Calibr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2011680"/>
            <a:ext cx="1783080" cy="2926080"/>
          </a:xfrm>
          <a:prstGeom prst="roundRect">
            <a:avLst>
              <a:gd name="adj" fmla="val 8000"/>
            </a:avLst>
          </a:prstGeom>
          <a:solidFill>
            <a:srgbClr val="F6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2240280"/>
            <a:ext cx="15087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A10F0D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53128" y="288036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5333D"/>
                </a:solidFill>
                <a:latin typeface="Calibri"/>
              </a:rPr>
              <a:t>Select hymns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53128" y="356616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B75"/>
                </a:solidFill>
                <a:latin typeface="Calibri"/>
              </a:rPr>
              <a:t>Assign hymns for the celebration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3108960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A10F0D"/>
                </a:solidFill>
                <a:latin typeface="Calibri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2011680"/>
            <a:ext cx="1783080" cy="2926080"/>
          </a:xfrm>
          <a:prstGeom prst="roundRect">
            <a:avLst>
              <a:gd name="adj" fmla="val 8000"/>
            </a:avLst>
          </a:prstGeom>
          <a:solidFill>
            <a:srgbClr val="F6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2240280"/>
            <a:ext cx="15087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A10F0D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73368" y="288036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5333D"/>
                </a:solidFill>
                <a:latin typeface="Calibri"/>
              </a:rPr>
              <a:t>Generate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3368" y="356616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B75"/>
                </a:solidFill>
                <a:latin typeface="Calibri"/>
              </a:rPr>
              <a:t>Produce PowerPoint and optional leaflet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80" y="3108960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A10F0D"/>
                </a:solidFill>
                <a:latin typeface="Calibri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83880" y="2011680"/>
            <a:ext cx="1783080" cy="2926080"/>
          </a:xfrm>
          <a:prstGeom prst="roundRect">
            <a:avLst>
              <a:gd name="adj" fmla="val 8000"/>
            </a:avLst>
          </a:prstGeom>
          <a:solidFill>
            <a:srgbClr val="F6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2240280"/>
            <a:ext cx="15087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A10F0D"/>
                </a:solidFill>
                <a:latin typeface="Calibr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93608" y="288036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5333D"/>
                </a:solidFill>
                <a:latin typeface="Calibri"/>
              </a:rPr>
              <a:t>Review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93608" y="356616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B75"/>
                </a:solidFill>
                <a:latin typeface="Calibri"/>
              </a:rPr>
              <a:t>Check slides and print materials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75520" y="3108960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A10F0D"/>
                </a:solidFill>
                <a:latin typeface="Calibri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104120" y="2011680"/>
            <a:ext cx="1783080" cy="2926080"/>
          </a:xfrm>
          <a:prstGeom prst="roundRect">
            <a:avLst>
              <a:gd name="adj" fmla="val 8000"/>
            </a:avLst>
          </a:prstGeom>
          <a:solidFill>
            <a:srgbClr val="F6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41280" y="2240280"/>
            <a:ext cx="15087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A10F0D"/>
                </a:solidFill>
                <a:latin typeface="Calibri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13848" y="288036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5333D"/>
                </a:solidFill>
                <a:latin typeface="Calibri"/>
              </a:rPr>
              <a:t>Present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13848" y="356616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B75"/>
                </a:solidFill>
                <a:latin typeface="Calibri"/>
              </a:rPr>
              <a:t>Use the finished materials at Mass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525780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5333D"/>
                </a:solidFill>
                <a:latin typeface="Calibri"/>
              </a:rPr>
              <a:t>One continuous preparation path — from Mass selection to presentation.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6446520"/>
            <a:ext cx="10881360" cy="9525"/>
          </a:xfrm>
          <a:prstGeom prst="rect">
            <a:avLst/>
          </a:prstGeom>
          <a:solidFill>
            <a:srgbClr val="D8DE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6B75"/>
                </a:solidFill>
                <a:latin typeface="Calibri"/>
              </a:rPr>
              <a:t>LiturgyFlow  ·  Confidential partner introduction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41280" y="649224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6B75"/>
                </a:solidFill>
                <a:latin typeface="Calibri"/>
              </a:rPr>
              <a:t>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A10F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A10F0D"/>
                </a:solidFill>
                <a:latin typeface="Calibri"/>
              </a:rPr>
              <a:t>HYMNS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5333D"/>
                </a:solidFill>
                <a:latin typeface="Calibri"/>
              </a:rPr>
              <a:t>Hymn workflow within Mass preparation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10881360" cy="868680"/>
          </a:xfrm>
          <a:prstGeom prst="roundRect">
            <a:avLst>
              <a:gd name="adj" fmla="val 8000"/>
            </a:avLst>
          </a:prstGeom>
          <a:solidFill>
            <a:srgbClr val="F6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A10F0D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801368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5333D"/>
                </a:solidFill>
                <a:latin typeface="Calibri"/>
              </a:rPr>
              <a:t>Hymn content is stored in LiturgyFlow because it is required to generate a complete Mass presentation.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606040"/>
            <a:ext cx="10881360" cy="868680"/>
          </a:xfrm>
          <a:prstGeom prst="roundRect">
            <a:avLst>
              <a:gd name="adj" fmla="val 8000"/>
            </a:avLst>
          </a:prstGeom>
          <a:solidFill>
            <a:srgbClr val="F6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834640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A10F0D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807208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5333D"/>
                </a:solidFill>
                <a:latin typeface="Calibri"/>
              </a:rPr>
              <a:t>When a hymn is selected for a Mass, the corresponding lyrics can be automatically formatted into the appropriate PowerPoint slides.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611880"/>
            <a:ext cx="10881360" cy="868680"/>
          </a:xfrm>
          <a:prstGeom prst="roundRect">
            <a:avLst>
              <a:gd name="adj" fmla="val 8000"/>
            </a:avLst>
          </a:prstGeom>
          <a:solidFill>
            <a:srgbClr val="F6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840480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A10F0D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3813048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5333D"/>
                </a:solidFill>
                <a:latin typeface="Calibri"/>
              </a:rPr>
              <a:t>This allows music and media teams to focus on choosing suitable music for the liturgy, rather than rebuilding lyric slides by hand each week.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617720"/>
            <a:ext cx="10881360" cy="868680"/>
          </a:xfrm>
          <a:prstGeom prst="roundRect">
            <a:avLst>
              <a:gd name="adj" fmla="val 8000"/>
            </a:avLst>
          </a:prstGeom>
          <a:solidFill>
            <a:srgbClr val="F6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846320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A10F0D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4818888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5333D"/>
                </a:solidFill>
                <a:latin typeface="Calibri"/>
              </a:rPr>
              <a:t>Hymn selection remains a pastoral and music-ministry decision. LiturgyFlow supports formatting and inclusion within the Mass presentation workflow.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71500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C6B75"/>
                </a:solidFill>
                <a:latin typeface="Calibri"/>
              </a:rPr>
              <a:t>Hymn content exists in the product to serve Mass preparation — not as a separate lyrics destination.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6446520"/>
            <a:ext cx="10881360" cy="9525"/>
          </a:xfrm>
          <a:prstGeom prst="rect">
            <a:avLst/>
          </a:prstGeom>
          <a:solidFill>
            <a:srgbClr val="D8DE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6B75"/>
                </a:solidFill>
                <a:latin typeface="Calibri"/>
              </a:rPr>
              <a:t>LiturgyFlow  ·  Confidential partner introduction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49224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6B75"/>
                </a:solidFill>
                <a:latin typeface="Calibri"/>
              </a:rPr>
              <a:t>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A10F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A10F0D"/>
                </a:solidFill>
                <a:latin typeface="Calibri"/>
              </a:rPr>
              <a:t>RIGHTS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5333D"/>
                </a:solidFill>
                <a:latin typeface="Calibri"/>
              </a:rPr>
              <a:t>Hymn copyright &amp; publisher relationship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10881360" cy="685800"/>
          </a:xfrm>
          <a:prstGeom prst="roundRect">
            <a:avLst>
              <a:gd name="adj" fmla="val 8000"/>
            </a:avLst>
          </a:prstGeom>
          <a:solidFill>
            <a:srgbClr val="F6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554480"/>
            <a:ext cx="109728" cy="685800"/>
          </a:xfrm>
          <a:prstGeom prst="rect">
            <a:avLst/>
          </a:prstGeom>
          <a:solidFill>
            <a:srgbClr val="A10F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719072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5333D"/>
                </a:solidFill>
                <a:latin typeface="Calibri"/>
              </a:rPr>
              <a:t>LiturgyFlow is not intended to operate as a standalone hymn-lyrics publishing service.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331720"/>
            <a:ext cx="10881360" cy="685800"/>
          </a:xfrm>
          <a:prstGeom prst="roundRect">
            <a:avLst>
              <a:gd name="adj" fmla="val 8000"/>
            </a:avLst>
          </a:prstGeom>
          <a:solidFill>
            <a:srgbClr val="F6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331720"/>
            <a:ext cx="109728" cy="685800"/>
          </a:xfrm>
          <a:prstGeom prst="rect">
            <a:avLst/>
          </a:prstGeom>
          <a:solidFill>
            <a:srgbClr val="A10F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496312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5333D"/>
                </a:solidFill>
                <a:latin typeface="Calibri"/>
              </a:rPr>
              <a:t>Hymn content is used only to complete Mass presentation generation — not as a separate lyrics product.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108960"/>
            <a:ext cx="10881360" cy="685800"/>
          </a:xfrm>
          <a:prstGeom prst="roundRect">
            <a:avLst>
              <a:gd name="adj" fmla="val 8000"/>
            </a:avLst>
          </a:prstGeom>
          <a:solidFill>
            <a:srgbClr val="F6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3108960"/>
            <a:ext cx="109728" cy="685800"/>
          </a:xfrm>
          <a:prstGeom prst="rect">
            <a:avLst/>
          </a:prstGeom>
          <a:solidFill>
            <a:srgbClr val="A10F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273552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5333D"/>
                </a:solidFill>
                <a:latin typeface="Calibri"/>
              </a:rPr>
              <a:t>LiturgyFlow does not claim ownership of copyrighted songs or lyrics belonging to third parties.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886200"/>
            <a:ext cx="10881360" cy="685800"/>
          </a:xfrm>
          <a:prstGeom prst="roundRect">
            <a:avLst>
              <a:gd name="adj" fmla="val 8000"/>
            </a:avLst>
          </a:prstGeom>
          <a:solidFill>
            <a:srgbClr val="F6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886200"/>
            <a:ext cx="109728" cy="685800"/>
          </a:xfrm>
          <a:prstGeom prst="rect">
            <a:avLst/>
          </a:prstGeom>
          <a:solidFill>
            <a:srgbClr val="A10F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050792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5333D"/>
                </a:solidFill>
                <a:latin typeface="Calibri"/>
              </a:rPr>
              <a:t>We seek appropriate permission from rights holders for applicable repertoire used in this workflow.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663440"/>
            <a:ext cx="10881360" cy="685800"/>
          </a:xfrm>
          <a:prstGeom prst="roundRect">
            <a:avLst>
              <a:gd name="adj" fmla="val 8000"/>
            </a:avLst>
          </a:prstGeom>
          <a:solidFill>
            <a:srgbClr val="F6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4663440"/>
            <a:ext cx="109728" cy="685800"/>
          </a:xfrm>
          <a:prstGeom prst="rect">
            <a:avLst/>
          </a:prstGeom>
          <a:solidFill>
            <a:srgbClr val="A10F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828032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5333D"/>
                </a:solidFill>
                <a:latin typeface="Calibri"/>
              </a:rPr>
              <a:t>Parishes remain responsible for securing the rights required for their own use, display, and distribution.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62356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5333D"/>
                </a:solidFill>
                <a:latin typeface="Calibri"/>
              </a:rPr>
              <a:t>We approach hymn repertoire with respect for publishers, composers, and the Church’s obligation to honor intellectual property.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6446520"/>
            <a:ext cx="10881360" cy="9525"/>
          </a:xfrm>
          <a:prstGeom prst="rect">
            <a:avLst/>
          </a:prstGeom>
          <a:solidFill>
            <a:srgbClr val="D8DE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6B75"/>
                </a:solidFill>
                <a:latin typeface="Calibri"/>
              </a:rPr>
              <a:t>LiturgyFlow  ·  Confidential partner introduction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649224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6B75"/>
                </a:solidFill>
                <a:latin typeface="Calibri"/>
              </a:rPr>
              <a:t>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A10F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A10F0D"/>
                </a:solidFill>
                <a:latin typeface="Calibri"/>
              </a:rPr>
              <a:t>PUBLIC PRICING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5333D"/>
                </a:solidFill>
                <a:latin typeface="Calibri"/>
              </a:rPr>
              <a:t>Free tier and paid plans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C6B75"/>
                </a:solidFill>
                <a:latin typeface="Calibri"/>
              </a:rPr>
              <a:t>Parishes can start on a free tier. Paid plans unlock fuller preparation for regular weekly use.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057400"/>
            <a:ext cx="5394960" cy="3657600"/>
          </a:xfrm>
          <a:prstGeom prst="roundRect">
            <a:avLst>
              <a:gd name="adj" fmla="val 8000"/>
            </a:avLst>
          </a:prstGeom>
          <a:solidFill>
            <a:srgbClr val="F6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057400"/>
            <a:ext cx="5394960" cy="502920"/>
          </a:xfrm>
          <a:prstGeom prst="rect">
            <a:avLst/>
          </a:prstGeom>
          <a:solidFill>
            <a:srgbClr val="5C6B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14884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Free tier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743200"/>
            <a:ext cx="4937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66534"/>
                </a:solidFill>
                <a:latin typeface="Calibri"/>
              </a:rPr>
              <a:t>INCLUDED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980944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5333D"/>
                </a:solidFill>
                <a:latin typeface="Calibri"/>
              </a:rPr>
              <a:t>Mass presentation generation within a limited allowance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429000"/>
            <a:ext cx="4937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A10F0D"/>
                </a:solidFill>
                <a:latin typeface="Calibri"/>
              </a:rPr>
              <a:t>LIMITED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666744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5333D"/>
                </a:solidFill>
                <a:latin typeface="Calibri"/>
              </a:rPr>
              <a:t>Limited number of generations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114800"/>
            <a:ext cx="4937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A10F0D"/>
                </a:solidFill>
                <a:latin typeface="Calibri"/>
              </a:rPr>
              <a:t>NOT INCLUDED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352544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5333D"/>
                </a:solidFill>
                <a:latin typeface="Calibri"/>
              </a:rPr>
              <a:t>Custom parish PowerPoint template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800600"/>
            <a:ext cx="4937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A10F0D"/>
                </a:solidFill>
                <a:latin typeface="Calibri"/>
              </a:rPr>
              <a:t>NOT INCLUDED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038344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5333D"/>
                </a:solidFill>
                <a:latin typeface="Calibri"/>
              </a:rPr>
              <a:t>Beautifully crafted Mass divider posters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2057400"/>
            <a:ext cx="5257800" cy="3657600"/>
          </a:xfrm>
          <a:prstGeom prst="roundRect">
            <a:avLst>
              <a:gd name="adj" fmla="val 8000"/>
            </a:avLst>
          </a:prstGeom>
          <a:solidFill>
            <a:srgbClr val="F6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2057400"/>
            <a:ext cx="5257800" cy="502920"/>
          </a:xfrm>
          <a:prstGeom prst="rect">
            <a:avLst/>
          </a:prstGeom>
          <a:solidFill>
            <a:srgbClr val="A10F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1488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Paid plans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743200"/>
            <a:ext cx="4846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66534"/>
                </a:solidFill>
                <a:latin typeface="Calibri"/>
              </a:rPr>
              <a:t>INCLUDED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980944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5333D"/>
                </a:solidFill>
                <a:latin typeface="Calibri"/>
              </a:rPr>
              <a:t>Fuller generation capacity for regular weekly Mass preparation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429000"/>
            <a:ext cx="4846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66534"/>
                </a:solidFill>
                <a:latin typeface="Calibri"/>
              </a:rPr>
              <a:t>INCLUDED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3666744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5333D"/>
                </a:solidFill>
                <a:latin typeface="Calibri"/>
              </a:rPr>
              <a:t>Custom parish PowerPoint template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4114800"/>
            <a:ext cx="4846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66534"/>
                </a:solidFill>
                <a:latin typeface="Calibri"/>
              </a:rPr>
              <a:t>INCLUDED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4352544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5333D"/>
                </a:solidFill>
                <a:latin typeface="Calibri"/>
              </a:rPr>
              <a:t>Beautifully crafted Mass divider posters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4800600"/>
            <a:ext cx="4846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66534"/>
                </a:solidFill>
                <a:latin typeface="Calibri"/>
              </a:rPr>
              <a:t>INCLUDED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5038344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5333D"/>
                </a:solidFill>
                <a:latin typeface="Calibri"/>
              </a:rPr>
              <a:t>Materials suited to ongoing parish media ministry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6446520"/>
            <a:ext cx="10881360" cy="9525"/>
          </a:xfrm>
          <a:prstGeom prst="rect">
            <a:avLst/>
          </a:prstGeom>
          <a:solidFill>
            <a:srgbClr val="D8DE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6B75"/>
                </a:solidFill>
                <a:latin typeface="Calibri"/>
              </a:rPr>
              <a:t>LiturgyFlow  ·  Confidential partner introduction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41280" y="649224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6B75"/>
                </a:solidFill>
                <a:latin typeface="Calibri"/>
              </a:rPr>
              <a:t>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A10F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A10F0D"/>
                </a:solidFill>
                <a:latin typeface="Calibri"/>
              </a:rPr>
              <a:t>PUBLIC PRICING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5333D"/>
                </a:solidFill>
                <a:latin typeface="Calibri"/>
              </a:rPr>
              <a:t>Paid subscription pricing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C6B75"/>
                </a:solidFill>
                <a:latin typeface="Calibri"/>
              </a:rPr>
              <a:t>Simple public subscription plans for parish use (shown in local currencies):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2011680"/>
          <a:ext cx="1088136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48840"/>
                <a:gridCol w="2148840"/>
                <a:gridCol w="2194560"/>
                <a:gridCol w="2194560"/>
              </a:tblGrid>
              <a:tr h="621792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Plan</a:t>
                      </a:r>
                    </a:p>
                  </a:txBody>
                  <a:tcPr anchor="ctr">
                    <a:solidFill>
                      <a:srgbClr val="A10F0D"/>
                    </a:solidFill>
                    <a:lnL w="9525" cap="flat" cmpd="sng" algn="ctr">
                      <a:solidFill>
                        <a:srgbClr val="D8DEE2"/>
                      </a:solidFill>
                      <a:prstDash val="soli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KRW</a:t>
                      </a:r>
                    </a:p>
                  </a:txBody>
                  <a:tcPr anchor="ctr">
                    <a:solidFill>
                      <a:srgbClr val="A10F0D"/>
                    </a:solidFill>
                    <a:lnL w="9525" cap="flat" cmpd="sng" algn="ctr">
                      <a:solidFill>
                        <a:srgbClr val="D8DEE2"/>
                      </a:solidFill>
                      <a:prstDash val="soli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PHP</a:t>
                      </a:r>
                    </a:p>
                  </a:txBody>
                  <a:tcPr anchor="ctr">
                    <a:solidFill>
                      <a:srgbClr val="A10F0D"/>
                    </a:solidFill>
                    <a:lnL w="9525" cap="flat" cmpd="sng" algn="ctr">
                      <a:solidFill>
                        <a:srgbClr val="D8DEE2"/>
                      </a:solidFill>
                      <a:prstDash val="soli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MYR</a:t>
                      </a:r>
                    </a:p>
                  </a:txBody>
                  <a:tcPr anchor="ctr">
                    <a:solidFill>
                      <a:srgbClr val="A10F0D"/>
                    </a:solidFill>
                    <a:lnL w="9525" cap="flat" cmpd="sng" algn="ctr">
                      <a:solidFill>
                        <a:srgbClr val="D8DEE2"/>
                      </a:solidFill>
                      <a:prstDash val="soli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USD</a:t>
                      </a:r>
                    </a:p>
                  </a:txBody>
                  <a:tcPr anchor="ctr">
                    <a:solidFill>
                      <a:srgbClr val="A10F0D"/>
                    </a:solidFill>
                    <a:lnL w="9525" cap="flat" cmpd="sng" algn="ctr">
                      <a:solidFill>
                        <a:srgbClr val="D8DEE2"/>
                      </a:solidFill>
                      <a:prstDash val="soli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</a:lnB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5333D"/>
                          </a:solidFill>
                          <a:latin typeface="Calibri"/>
                        </a:rPr>
                        <a:t>Monthly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 algn="ctr">
                      <a:solidFill>
                        <a:srgbClr val="D8DEE2"/>
                      </a:solidFill>
                      <a:prstDash val="soli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5333D"/>
                          </a:solidFill>
                          <a:latin typeface="Calibri"/>
                        </a:rPr>
                        <a:t>₩9,900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 algn="ctr">
                      <a:solidFill>
                        <a:srgbClr val="D8DEE2"/>
                      </a:solidFill>
                      <a:prstDash val="soli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5333D"/>
                          </a:solidFill>
                          <a:latin typeface="Calibri"/>
                        </a:rPr>
                        <a:t>₱199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 algn="ctr">
                      <a:solidFill>
                        <a:srgbClr val="D8DEE2"/>
                      </a:solidFill>
                      <a:prstDash val="soli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5333D"/>
                          </a:solidFill>
                          <a:latin typeface="Calibri"/>
                        </a:rPr>
                        <a:t>RM19.90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 algn="ctr">
                      <a:solidFill>
                        <a:srgbClr val="D8DEE2"/>
                      </a:solidFill>
                      <a:prstDash val="soli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5333D"/>
                          </a:solidFill>
                          <a:latin typeface="Calibri"/>
                        </a:rPr>
                        <a:t>$6.99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 algn="ctr">
                      <a:solidFill>
                        <a:srgbClr val="D8DEE2"/>
                      </a:solidFill>
                      <a:prstDash val="soli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</a:lnB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5333D"/>
                          </a:solidFill>
                          <a:latin typeface="Calibri"/>
                        </a:rPr>
                        <a:t>3-month</a:t>
                      </a:r>
                    </a:p>
                  </a:txBody>
                  <a:tcPr anchor="ctr">
                    <a:solidFill>
                      <a:srgbClr val="F6F3F0"/>
                    </a:solidFill>
                    <a:lnL w="9525" cap="flat" cmpd="sng" algn="ctr">
                      <a:solidFill>
                        <a:srgbClr val="D8DEE2"/>
                      </a:solidFill>
                      <a:prstDash val="soli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5333D"/>
                          </a:solidFill>
                          <a:latin typeface="Calibri"/>
                        </a:rPr>
                        <a:t>₩27,000</a:t>
                      </a:r>
                    </a:p>
                  </a:txBody>
                  <a:tcPr anchor="ctr">
                    <a:solidFill>
                      <a:srgbClr val="F6F3F0"/>
                    </a:solidFill>
                    <a:lnL w="9525" cap="flat" cmpd="sng" algn="ctr">
                      <a:solidFill>
                        <a:srgbClr val="D8DEE2"/>
                      </a:solidFill>
                      <a:prstDash val="soli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5333D"/>
                          </a:solidFill>
                          <a:latin typeface="Calibri"/>
                        </a:rPr>
                        <a:t>₱549</a:t>
                      </a:r>
                    </a:p>
                  </a:txBody>
                  <a:tcPr anchor="ctr">
                    <a:solidFill>
                      <a:srgbClr val="F6F3F0"/>
                    </a:solidFill>
                    <a:lnL w="9525" cap="flat" cmpd="sng" algn="ctr">
                      <a:solidFill>
                        <a:srgbClr val="D8DEE2"/>
                      </a:solidFill>
                      <a:prstDash val="soli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5333D"/>
                          </a:solidFill>
                          <a:latin typeface="Calibri"/>
                        </a:rPr>
                        <a:t>RM54.90</a:t>
                      </a:r>
                    </a:p>
                  </a:txBody>
                  <a:tcPr anchor="ctr">
                    <a:solidFill>
                      <a:srgbClr val="F6F3F0"/>
                    </a:solidFill>
                    <a:lnL w="9525" cap="flat" cmpd="sng" algn="ctr">
                      <a:solidFill>
                        <a:srgbClr val="D8DEE2"/>
                      </a:solidFill>
                      <a:prstDash val="soli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5333D"/>
                          </a:solidFill>
                          <a:latin typeface="Calibri"/>
                        </a:rPr>
                        <a:t>$18.99</a:t>
                      </a:r>
                    </a:p>
                  </a:txBody>
                  <a:tcPr anchor="ctr">
                    <a:solidFill>
                      <a:srgbClr val="F6F3F0"/>
                    </a:solidFill>
                    <a:lnL w="9525" cap="flat" cmpd="sng" algn="ctr">
                      <a:solidFill>
                        <a:srgbClr val="D8DEE2"/>
                      </a:solidFill>
                      <a:prstDash val="soli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</a:lnB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5333D"/>
                          </a:solidFill>
                          <a:latin typeface="Calibri"/>
                        </a:rPr>
                        <a:t>6-month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 algn="ctr">
                      <a:solidFill>
                        <a:srgbClr val="D8DEE2"/>
                      </a:solidFill>
                      <a:prstDash val="soli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5333D"/>
                          </a:solidFill>
                          <a:latin typeface="Calibri"/>
                        </a:rPr>
                        <a:t>₩49,000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 algn="ctr">
                      <a:solidFill>
                        <a:srgbClr val="D8DEE2"/>
                      </a:solidFill>
                      <a:prstDash val="soli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5333D"/>
                          </a:solidFill>
                          <a:latin typeface="Calibri"/>
                        </a:rPr>
                        <a:t>₱999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 algn="ctr">
                      <a:solidFill>
                        <a:srgbClr val="D8DEE2"/>
                      </a:solidFill>
                      <a:prstDash val="soli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5333D"/>
                          </a:solidFill>
                          <a:latin typeface="Calibri"/>
                        </a:rPr>
                        <a:t>RM99.90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 algn="ctr">
                      <a:solidFill>
                        <a:srgbClr val="D8DEE2"/>
                      </a:solidFill>
                      <a:prstDash val="soli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5333D"/>
                          </a:solidFill>
                          <a:latin typeface="Calibri"/>
                        </a:rPr>
                        <a:t>$34.99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 algn="ctr">
                      <a:solidFill>
                        <a:srgbClr val="D8DEE2"/>
                      </a:solidFill>
                      <a:prstDash val="soli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</a:lnB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5333D"/>
                          </a:solidFill>
                          <a:latin typeface="Calibri"/>
                        </a:rPr>
                        <a:t>Annual</a:t>
                      </a:r>
                    </a:p>
                  </a:txBody>
                  <a:tcPr anchor="ctr">
                    <a:solidFill>
                      <a:srgbClr val="F6F3F0"/>
                    </a:solidFill>
                    <a:lnL w="9525" cap="flat" cmpd="sng" algn="ctr">
                      <a:solidFill>
                        <a:srgbClr val="D8DEE2"/>
                      </a:solidFill>
                      <a:prstDash val="soli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5333D"/>
                          </a:solidFill>
                          <a:latin typeface="Calibri"/>
                        </a:rPr>
                        <a:t>₩79,000</a:t>
                      </a:r>
                    </a:p>
                  </a:txBody>
                  <a:tcPr anchor="ctr">
                    <a:solidFill>
                      <a:srgbClr val="F6F3F0"/>
                    </a:solidFill>
                    <a:lnL w="9525" cap="flat" cmpd="sng" algn="ctr">
                      <a:solidFill>
                        <a:srgbClr val="D8DEE2"/>
                      </a:solidFill>
                      <a:prstDash val="soli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5333D"/>
                          </a:solidFill>
                          <a:latin typeface="Calibri"/>
                        </a:rPr>
                        <a:t>₱1,599</a:t>
                      </a:r>
                    </a:p>
                  </a:txBody>
                  <a:tcPr anchor="ctr">
                    <a:solidFill>
                      <a:srgbClr val="F6F3F0"/>
                    </a:solidFill>
                    <a:lnL w="9525" cap="flat" cmpd="sng" algn="ctr">
                      <a:solidFill>
                        <a:srgbClr val="D8DEE2"/>
                      </a:solidFill>
                      <a:prstDash val="soli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5333D"/>
                          </a:solidFill>
                          <a:latin typeface="Calibri"/>
                        </a:rPr>
                        <a:t>RM159.90</a:t>
                      </a:r>
                    </a:p>
                  </a:txBody>
                  <a:tcPr anchor="ctr">
                    <a:solidFill>
                      <a:srgbClr val="F6F3F0"/>
                    </a:solidFill>
                    <a:lnL w="9525" cap="flat" cmpd="sng" algn="ctr">
                      <a:solidFill>
                        <a:srgbClr val="D8DEE2"/>
                      </a:solidFill>
                      <a:prstDash val="soli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5333D"/>
                          </a:solidFill>
                          <a:latin typeface="Calibri"/>
                        </a:rPr>
                        <a:t>$59.99</a:t>
                      </a:r>
                    </a:p>
                  </a:txBody>
                  <a:tcPr anchor="ctr">
                    <a:solidFill>
                      <a:srgbClr val="F6F3F0"/>
                    </a:solidFill>
                    <a:lnL w="9525" cap="flat" cmpd="sng" algn="ctr">
                      <a:solidFill>
                        <a:srgbClr val="D8DEE2"/>
                      </a:solidFill>
                      <a:prstDash val="soli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53949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5333D"/>
                </a:solidFill>
                <a:latin typeface="Calibri"/>
              </a:rPr>
              <a:t>Pricing shown is the public parish subscription offering. A free tier is also available with limited generation.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C6B75"/>
                </a:solidFill>
                <a:latin typeface="Calibri"/>
              </a:rPr>
              <a:t>Publisher permissions for hymn repertoire are separate from parish subscription pricing.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446520"/>
            <a:ext cx="10881360" cy="9525"/>
          </a:xfrm>
          <a:prstGeom prst="rect">
            <a:avLst/>
          </a:prstGeom>
          <a:solidFill>
            <a:srgbClr val="D8DE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6B75"/>
                </a:solidFill>
                <a:latin typeface="Calibri"/>
              </a:rPr>
              <a:t>LiturgyFlow  ·  Confidential partner introduction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49224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6B75"/>
                </a:solidFill>
                <a:latin typeface="Calibri"/>
              </a:rPr>
              <a:t>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A10F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A10F0D"/>
                </a:solidFill>
                <a:latin typeface="Calibri"/>
              </a:rPr>
              <a:t>REQUEST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5333D"/>
                </a:solidFill>
                <a:latin typeface="Calibri"/>
              </a:rPr>
              <a:t>What we are asking of publishers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C6B75"/>
                </a:solidFill>
                <a:latin typeface="Calibri"/>
              </a:rPr>
              <a:t>We are seeking permission to include applicable hymn repertoire so that parish Mass presentation generation can be complete — not to operate a separate hymn-lyrics service.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423160"/>
            <a:ext cx="3520440" cy="1965960"/>
          </a:xfrm>
          <a:prstGeom prst="roundRect">
            <a:avLst>
              <a:gd name="adj" fmla="val 8000"/>
            </a:avLst>
          </a:prstGeom>
          <a:solidFill>
            <a:srgbClr val="F6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423160"/>
            <a:ext cx="109728" cy="1965960"/>
          </a:xfrm>
          <a:prstGeom prst="rect">
            <a:avLst/>
          </a:prstGeom>
          <a:solidFill>
            <a:srgbClr val="A10F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60604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5333D"/>
                </a:solidFill>
                <a:latin typeface="Calibri"/>
              </a:rPr>
              <a:t>Not a lyrics product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06324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C6B75"/>
                </a:solidFill>
                <a:latin typeface="Calibri"/>
              </a:rPr>
              <a:t>Hymns are not sold, browsed, or offered as a standalone publishing feature.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2423160"/>
            <a:ext cx="3520440" cy="1965960"/>
          </a:xfrm>
          <a:prstGeom prst="roundRect">
            <a:avLst>
              <a:gd name="adj" fmla="val 8000"/>
            </a:avLst>
          </a:prstGeom>
          <a:solidFill>
            <a:srgbClr val="F6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2423160"/>
            <a:ext cx="109728" cy="1965960"/>
          </a:xfrm>
          <a:prstGeom prst="rect">
            <a:avLst/>
          </a:prstGeom>
          <a:solidFill>
            <a:srgbClr val="A10F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260604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5333D"/>
                </a:solidFill>
                <a:latin typeface="Calibri"/>
              </a:rPr>
              <a:t>Only for Mass decks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06324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C6B75"/>
                </a:solidFill>
                <a:latin typeface="Calibri"/>
              </a:rPr>
              <a:t>Content is used so selected hymns can become properly formatted slides in the Mass presentation.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19" y="2423160"/>
            <a:ext cx="3520440" cy="1965960"/>
          </a:xfrm>
          <a:prstGeom prst="roundRect">
            <a:avLst>
              <a:gd name="adj" fmla="val 8000"/>
            </a:avLst>
          </a:prstGeom>
          <a:solidFill>
            <a:srgbClr val="F6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19" y="2423160"/>
            <a:ext cx="109728" cy="1965960"/>
          </a:xfrm>
          <a:prstGeom prst="rect">
            <a:avLst/>
          </a:prstGeom>
          <a:solidFill>
            <a:srgbClr val="A10F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59" y="260604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5333D"/>
                </a:solidFill>
                <a:latin typeface="Calibri"/>
              </a:rPr>
              <a:t>Permission to complete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59" y="306324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C6B75"/>
                </a:solidFill>
                <a:latin typeface="Calibri"/>
              </a:rPr>
              <a:t>We ask for permission so the Mass-generation workflow can include your repertoire responsibly.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617720"/>
            <a:ext cx="107899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A10F0D"/>
                </a:solidFill>
                <a:latin typeface="Calibri"/>
              </a:rPr>
              <a:t>What permission would enable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5333D"/>
                </a:solidFill>
                <a:latin typeface="Calibri"/>
              </a:rPr>
              <a:t>•  Parish teams can select approved hymns and generate complete Mass PowerPoint decks, including lyric slides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5333D"/>
                </a:solidFill>
                <a:latin typeface="Calibri"/>
              </a:rPr>
              <a:t>•  Rights holders retain ownership; LiturgyFlow claims no ownership of third-party songs or lyrics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5333D"/>
                </a:solidFill>
                <a:latin typeface="Calibri"/>
              </a:rPr>
              <a:t>•  Attribution or other acknowledgment can be included where you prefer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76072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5333D"/>
                </a:solidFill>
                <a:latin typeface="Calibri"/>
              </a:rPr>
              <a:t>We welcome a conversation about permission that helps parishes prepare Mass materials while respecting your rights.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6446520"/>
            <a:ext cx="10881360" cy="9525"/>
          </a:xfrm>
          <a:prstGeom prst="rect">
            <a:avLst/>
          </a:prstGeom>
          <a:solidFill>
            <a:srgbClr val="D8DE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6B75"/>
                </a:solidFill>
                <a:latin typeface="Calibri"/>
              </a:rPr>
              <a:t>LiturgyFlow  ·  Confidential partner introduction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0" y="649224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6B75"/>
                </a:solidFill>
                <a:latin typeface="Calibri"/>
              </a:rPr>
              <a:t>11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